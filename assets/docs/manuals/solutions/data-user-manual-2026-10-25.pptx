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theme/source_theme1.xml" ContentType="application/vnd.openxmlformats-officedocument.theme+xml"/>
  <Override PartName="/ppt/slideMasters/source_slideMaster1.xml" ContentType="application/vnd.openxmlformats-officedocument.presentationml.slideMaster+xml"/>
  <Override PartName="/ppt/slideMasters/theme/source_theme2.xml" ContentType="application/vnd.openxmlformats-officedocument.theme+xml"/>
  <Override PartName="/ppt/slideLayouts/source_slideLayout1.xml" ContentType="application/vnd.openxmlformats-officedocument.presentationml.slideLayout+xml"/>
  <Override PartName="/ppt/slideLayouts/source_slideLayout2.xml" ContentType="application/vnd.openxmlformats-officedocument.presentationml.slideLayout+xml"/>
  <Override PartName="/ppt/slideLayouts/source_slideLayout3.xml" ContentType="application/vnd.openxmlformats-officedocument.presentationml.slideLayout+xml"/>
  <Override PartName="/ppt/slideLayouts/source_slideLayout4.xml" ContentType="application/vnd.openxmlformats-officedocument.presentationml.slideLayout+xml"/>
  <Override PartName="/ppt/slideLayouts/source_slideLayout5.xml" ContentType="application/vnd.openxmlformats-officedocument.presentationml.slideLayout+xml"/>
  <Override PartName="/ppt/slideLayouts/source_slideLayout6.xml" ContentType="application/vnd.openxmlformats-officedocument.presentationml.slideLayout+xml"/>
  <Override PartName="/ppt/notesMasters/source_notesMaster1.xml" ContentType="application/vnd.openxmlformats-officedocument.presentationml.notesMaster+xml"/>
  <Override PartName="/ppt/notesMasters/theme/source_theme3.xml" ContentType="application/vnd.openxmlformats-officedocument.theme+xml"/>
  <Override PartName="/ppt/source_presProps.xml" ContentType="application/vnd.openxmlformats-officedocument.presentationml.presProps+xml"/>
  <Override PartName="/ppt/source_tableStyles.xml" ContentType="application/vnd.openxmlformats-officedocument.presentationml.tableStyles+xml"/>
  <Override PartName="/ppt/slideLayouts/extra_slideLayout6.xml" ContentType="application/vnd.openxmlformats-officedocument.presentationml.slideLayout+xml"/>
  <Override PartName="/ppt/slideMasters/extra_slideMaster1.xml" ContentType="application/vnd.openxmlformats-officedocument.presentationml.slideMaster+xml"/>
  <Override PartName="/ppt/slideMasters/theme/extra_theme2.xml" ContentType="application/vnd.openxmlformats-officedocument.theme+xml"/>
  <Override PartName="/ppt/slideLayouts/extra_slideLayout1.xml" ContentType="application/vnd.openxmlformats-officedocument.presentationml.slideLayout+xml"/>
  <Override PartName="/ppt/slideLayouts/extra_slideLayout2.xml" ContentType="application/vnd.openxmlformats-officedocument.presentationml.slideLayout+xml"/>
  <Override PartName="/ppt/slideLayouts/extra_slideLayout3.xml" ContentType="application/vnd.openxmlformats-officedocument.presentationml.slideLayout+xml"/>
  <Override PartName="/ppt/slideLayouts/extra_slideLayout4.xml" ContentType="application/vnd.openxmlformats-officedocument.presentationml.slideLayout+xml"/>
  <Override PartName="/ppt/slideLayouts/extra_slideLayout5.xml" ContentType="application/vnd.openxmlformats-officedocument.presentationml.slideLayout+xml"/>
  <Override PartName="/ppt/notesSlides/extra_notesSlide13.xml" ContentType="application/vnd.openxmlformats-officedocument.presentationml.notesSlide+xml"/>
  <Override PartName="/ppt/notesMasters/extra_notesMaster1.xml" ContentType="application/vnd.openxmlformats-officedocument.presentationml.notesMaster+xml"/>
  <Override PartName="/ppt/notesMasters/theme/extra_theme3.xml" ContentType="application/vnd.openxmlformats-officedocument.theme+xml"/>
  <Override PartName="/ppt/notesSlides/extra_notesSlide14.xml" ContentType="application/vnd.openxmlformats-officedocument.presentationml.notesSlide+xml"/>
  <Override PartName="/ppt/notesSlides/source_notesSlide32.xml" ContentType="application/vnd.openxmlformats-officedocument.presentationml.notesSlide+xml"/>
  <Override PartName="/ppt/notesSlides/source_notesSlide33.xml" ContentType="application/vnd.openxmlformats-officedocument.presentationml.notesSlide+xml"/>
  <Override PartName="/ppt/notesSlides/source_notesSlide34.xml" ContentType="application/vnd.openxmlformats-officedocument.presentationml.notesSlide+xml"/>
  <Override PartName="/ppt/notesSlides/source_notesSlide35.xml" ContentType="application/vnd.openxmlformats-officedocument.presentationml.notesSlide+xml"/>
  <Override PartName="/ppt/notesSlides/source_notesSlide36.xml" ContentType="application/vnd.openxmlformats-officedocument.presentationml.notesSlide+xml"/>
  <Override PartName="/ppt/notesSlides/extra_notesSlide15.xml" ContentType="application/vnd.openxmlformats-officedocument.presentationml.notesSlide+xml"/>
  <Override PartName="/docProps/source_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docProps/source_core.xml" Id="R5b3c5ac7032f4f82"/><Relationship Type="http://schemas.openxmlformats.org/officeDocument/2006/relationships/extended-properties" Target="docProps/source_app.xml" Id="Rb1b1fc5132834f1f"/><Relationship Type="http://schemas.openxmlformats.org/officeDocument/2006/relationships/officeDocument" Target="ppt/presentation.xml" Id="Re43eb32cc6894ac1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12f63f21cf4c05"/>
    <p:sldMasterId xmlns:r="http://schemas.openxmlformats.org/officeDocument/2006/relationships" id="2147483649" r:id="rId9"/>
  </p:sldMasterIdLst>
  <p:notesMasterIdLst>
    <p:notesMasterId xmlns:r="http://schemas.openxmlformats.org/officeDocument/2006/relationships" r:id="R5de2ceb46f584637"/>
    <p:notesMasterId xmlns:r="http://schemas.openxmlformats.org/officeDocument/2006/relationships" r:id="rId10"/>
  </p:notesMasterIdLst>
  <p:sldIdLst>
    <p:sldId xmlns:ns0="http://schemas.openxmlformats.org/officeDocument/2006/relationships" id="256" ns0:id="rId1"/>
    <p:sldId xmlns:ns1="http://schemas.openxmlformats.org/officeDocument/2006/relationships" id="257" ns1:id="rId2"/>
    <p:sldId xmlns:ns2="http://schemas.openxmlformats.org/officeDocument/2006/relationships" id="258" ns2:id="rId3"/>
    <p:sldId xmlns:ns3="http://schemas.openxmlformats.org/officeDocument/2006/relationships" id="259" ns3:id="rId4"/>
    <p:sldId xmlns:ns4="http://schemas.openxmlformats.org/officeDocument/2006/relationships" id="260" ns4:id="rId5"/>
    <p:sldId xmlns:ns5="http://schemas.openxmlformats.org/officeDocument/2006/relationships" id="261" ns5:id="rId6"/>
    <p:sldId xmlns:ns6="http://schemas.openxmlformats.org/officeDocument/2006/relationships" id="262" ns6:id="rId7"/>
    <p:sldId xmlns:ns7="http://schemas.openxmlformats.org/officeDocument/2006/relationships" id="263" ns7:id="rId8"/>
  </p:sldIdLst>
  <p:sldSz cx="15240000" cy="8572500"/>
  <p:notesSz cx="6858000" cy="9144000"/>
</p:presentation>
</file>

<file path=ppt/source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_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theme/source_theme1.xml" Id="R45b96b3d753b4a86"/><Relationship Type="http://schemas.openxmlformats.org/officeDocument/2006/relationships/slideMaster" Target="slideMasters/source_slideMaster1.xml" Id="Rf112f63f21cf4c05"/><Relationship Type="http://schemas.openxmlformats.org/officeDocument/2006/relationships/notesMaster" Target="notesMasters/source_notesMaster1.xml" Id="R5de2ceb46f584637"/><Relationship Type="http://schemas.openxmlformats.org/officeDocument/2006/relationships/presProps" Target="source_presProps.xml" Id="Rdaa320f98332448e"/><Relationship Type="http://schemas.openxmlformats.org/officeDocument/2006/relationships/tableStyles" Target="source_tableStyles.xml" Id="R02321799aef248d6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Master" Target="slideMasters/extra_slideMaster1.xml"/><Relationship Id="rId10" Type="http://schemas.openxmlformats.org/officeDocument/2006/relationships/notesMaster" Target="notesMasters/extra_notesMaster1.xml"/></Relationships>
</file>

<file path=ppt/notesMasters/_rels/extra_notesMaster1.xml.rels><?xml version='1.0' encoding='UTF-8' standalone='yes'?>
<Relationships xmlns="http://schemas.openxmlformats.org/package/2006/relationships"><Relationship Type="http://schemas.openxmlformats.org/officeDocument/2006/relationships/theme" Target="theme/extra_theme3.xml" Id="R201cf8d9ed664539"/></Relationships>
</file>

<file path=ppt/notesMasters/_rels/source_notesMaster1.xml.rels><?xml version='1.0' encoding='UTF-8' standalone='yes'?>
<Relationships xmlns="http://schemas.openxmlformats.org/package/2006/relationships"><Relationship Type="http://schemas.openxmlformats.org/officeDocument/2006/relationships/theme" Target="theme/source_theme3.xml" Id="R7f8d146e9f2b48fd"/></Relationships>
</file>

<file path=ppt/notesMasters/extra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source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extra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ource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extra_notesSlide13.xml.rels><?xml version='1.0' encoding='UTF-8' standalone='yes'?>
<Relationships xmlns="http://schemas.openxmlformats.org/package/2006/relationships"><Relationship Type="http://schemas.openxmlformats.org/officeDocument/2006/relationships/slide" Target="../slides/slide1.xml" Id="Re147e8149d2d44f9"/><Relationship Type="http://schemas.openxmlformats.org/officeDocument/2006/relationships/notesMaster" Target="../notesMasters/extra_notesMaster1.xml" Id="R661bd75f453d49b6"/></Relationships>
</file>

<file path=ppt/notesSlides/_rels/extra_notesSlide14.xml.rels><?xml version='1.0' encoding='UTF-8' standalone='yes'?>
<Relationships xmlns="http://schemas.openxmlformats.org/package/2006/relationships"><Relationship Type="http://schemas.openxmlformats.org/officeDocument/2006/relationships/slide" Target="../slides/slide2.xml" Id="R0d3010cea2484884"/><Relationship Type="http://schemas.openxmlformats.org/officeDocument/2006/relationships/notesMaster" Target="../notesMasters/extra_notesMaster1.xml" Id="R56ef7e0af2724376"/></Relationships>
</file>

<file path=ppt/notesSlides/_rels/extra_notesSlide15.xml.rels><?xml version='1.0' encoding='UTF-8' standalone='yes'?>
<Relationships xmlns="http://schemas.openxmlformats.org/package/2006/relationships"><Relationship Type="http://schemas.openxmlformats.org/officeDocument/2006/relationships/slide" Target="../slides/slide8.xml" Id="R1160ff4a7b6e4e87"/><Relationship Type="http://schemas.openxmlformats.org/officeDocument/2006/relationships/notesMaster" Target="../notesMasters/extra_notesMaster1.xml" Id="R81608f72f3d945a7"/></Relationships>
</file>

<file path=ppt/notesSlides/_rels/source_notesSlide32.xml.rels><?xml version='1.0' encoding='UTF-8' standalone='yes'?>
<Relationships xmlns="http://schemas.openxmlformats.org/package/2006/relationships"><Relationship Type="http://schemas.openxmlformats.org/officeDocument/2006/relationships/slide" Target="../slides/slide3.xml" Id="Rdf06cede92de4afa"/><Relationship Type="http://schemas.openxmlformats.org/officeDocument/2006/relationships/notesMaster" Target="../notesMasters/source_notesMaster1.xml" Id="R12bd21f73bfa4b52"/></Relationships>
</file>

<file path=ppt/notesSlides/_rels/source_notesSlide33.xml.rels><?xml version='1.0' encoding='UTF-8' standalone='yes'?>
<Relationships xmlns="http://schemas.openxmlformats.org/package/2006/relationships"><Relationship Type="http://schemas.openxmlformats.org/officeDocument/2006/relationships/slide" Target="../slides/slide4.xml" Id="R4d369d492c844e70"/><Relationship Type="http://schemas.openxmlformats.org/officeDocument/2006/relationships/notesMaster" Target="../notesMasters/source_notesMaster1.xml" Id="R6155a24aaa6f4672"/></Relationships>
</file>

<file path=ppt/notesSlides/_rels/source_notesSlide34.xml.rels><?xml version='1.0' encoding='UTF-8' standalone='yes'?>
<Relationships xmlns="http://schemas.openxmlformats.org/package/2006/relationships"><Relationship Type="http://schemas.openxmlformats.org/officeDocument/2006/relationships/slide" Target="../slides/slide5.xml" Id="Rd8ca94dae3824327"/><Relationship Type="http://schemas.openxmlformats.org/officeDocument/2006/relationships/notesMaster" Target="../notesMasters/source_notesMaster1.xml" Id="R691ee4b0378e47c3"/></Relationships>
</file>

<file path=ppt/notesSlides/_rels/source_notesSlide35.xml.rels><?xml version='1.0' encoding='UTF-8' standalone='yes'?>
<Relationships xmlns="http://schemas.openxmlformats.org/package/2006/relationships"><Relationship Type="http://schemas.openxmlformats.org/officeDocument/2006/relationships/slide" Target="../slides/slide6.xml" Id="R1c7921d51ff94d83"/><Relationship Type="http://schemas.openxmlformats.org/officeDocument/2006/relationships/notesMaster" Target="../notesMasters/source_notesMaster1.xml" Id="R8cf6e0c321fb412f"/></Relationships>
</file>

<file path=ppt/notesSlides/_rels/source_notesSlide36.xml.rels><?xml version='1.0' encoding='UTF-8' standalone='yes'?>
<Relationships xmlns="http://schemas.openxmlformats.org/package/2006/relationships"><Relationship Type="http://schemas.openxmlformats.org/officeDocument/2006/relationships/slide" Target="../slides/slide7.xml" Id="Rf86b1df90b1a4975"/><Relationship Type="http://schemas.openxmlformats.org/officeDocument/2006/relationships/notesMaster" Target="../notesMasters/source_notesMaster1.xml" Id="R10831f2ede544426"/></Relationships>
</file>

<file path=ppt/notesSlides/extra_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"data/05-data.json",</a:t>
            </a:r>
          </a:p>
          <a:p xmlns:a="http://schemas.openxmlformats.org/drawingml/2006/main">
            <a:r>
              <a:t>  "scope": "로컬 데이터 파일을 차트와 분석 그리드로 살펴보고 입력 요약을 템플릿 보고서로 작성합니다. 제조 연동 화면은 원본 품질·시각과 의존성 상태를 읽기 전용으로 관측합니다. 현재 Kafka/OEE 경로는 미연결 또는 비활성 상태이며 실시간 생산 지표가 준비된 것으로 표시하지 않습니다.",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"로컬 DataNexus http://127.0.0.1:5186/ 가 실행 중이어야 합니다.",</a:t>
            </a:r>
          </a:p>
          <a:p xmlns:a="http://schemas.openxmlformats.org/drawingml/2006/main">
            <a:r>
              <a:t>    "현재 실습은 Streaming:EnableDemoStream=false, IndustrialIntegration:Enabled=false로 실행합니다. 로컬 Hub 연결과 제조 이벤트 수신은 서로 다른 상태입니다.",</a:t>
            </a:r>
          </a:p>
          <a:p xmlns:a="http://schemas.openxmlformats.org/drawingml/2006/main">
            <a:r>
              <a:t>    "파일 실습은 아래 교육용 가상 CSV만 사용합니다. 업로드 기본 제한은 10MB이며 CSV/JSON 형식을 지원합니다.",</a:t>
            </a:r>
          </a:p>
          <a:p xmlns:a="http://schemas.openxmlformats.org/drawingml/2006/main">
            <a:r>
              <a:t>    "분석 그리드의 DN- 접두 초기 행은 로컬 데모입니다. 업로드로 추가한 IM- 행 및 실제 제조 연동 데이터와 구분합니다.",</a:t>
            </a:r>
          </a:p>
          <a:p xmlns:a="http://schemas.openxmlformats.org/drawingml/2006/main">
            <a:r>
              <a:t>    "보고서 생성은 입력 요약을 보존하는 로컬 템플릿 처리입니다. 외부 생성형 AI 호출이나 생산 데이터 자동 검증을 수행하지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"sourceCapturePreserved": true,</a:t>
            </a:r>
          </a:p>
          <a:p xmlns:a="http://schemas.openxmlformats.org/drawingml/2006/main">
            <a:r>
              <a:t>  "edition": "2026-10-25"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"data/05-data.json",</a:t>
            </a:r>
          </a:p>
          <a:p xmlns:a="http://schemas.openxmlformats.org/drawingml/2006/main">
            <a:r>
              <a:t>  "scope": "로컬 데이터 파일을 차트와 분석 그리드로 살펴보고 입력 요약을 템플릿 보고서로 작성합니다. 제조 연동 화면은 원본 품질·시각과 의존성 상태를 읽기 전용으로 관측합니다. 현재 Kafka/OEE 경로는 미연결 또는 비활성 상태이며 실시간 생산 지표가 준비된 것으로 표시하지 않습니다.",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"로컬 DataNexus http://127.0.0.1:5186/ 가 실행 중이어야 합니다.",</a:t>
            </a:r>
          </a:p>
          <a:p xmlns:a="http://schemas.openxmlformats.org/drawingml/2006/main">
            <a:r>
              <a:t>    "현재 실습은 Streaming:EnableDemoStream=false, IndustrialIntegration:Enabled=false로 실행합니다. 로컬 Hub 연결과 제조 이벤트 수신은 서로 다른 상태입니다.",</a:t>
            </a:r>
          </a:p>
          <a:p xmlns:a="http://schemas.openxmlformats.org/drawingml/2006/main">
            <a:r>
              <a:t>    "파일 실습은 아래 교육용 가상 CSV만 사용합니다. 업로드 기본 제한은 10MB이며 CSV/JSON 형식을 지원합니다.",</a:t>
            </a:r>
          </a:p>
          <a:p xmlns:a="http://schemas.openxmlformats.org/drawingml/2006/main">
            <a:r>
              <a:t>    "분석 그리드의 DN- 접두 초기 행은 로컬 데모입니다. 업로드로 추가한 IM- 행 및 실제 제조 연동 데이터와 구분합니다.",</a:t>
            </a:r>
          </a:p>
          <a:p xmlns:a="http://schemas.openxmlformats.org/drawingml/2006/main">
            <a:r>
              <a:t>    "보고서 생성은 입력 요약을 보존하는 로컬 템플릿 처리입니다. 외부 생성형 AI 호출이나 생산 데이터 자동 검증을 수행하지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"url": "http://127.0.0.1:5186/"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"data/05-data.json",</a:t>
            </a:r>
          </a:p>
          <a:p xmlns:a="http://schemas.openxmlformats.org/drawingml/2006/main">
            <a:r>
              <a:t>  "scope": "로컬 데이터 파일을 차트와 분석 그리드로 살펴보고 입력 요약을 템플릿 보고서로 작성합니다. 제조 연동 화면은 원본 품질·시각과 의존성 상태를 읽기 전용으로 관측합니다. 현재 Kafka/OEE 경로는 미연결 또는 비활성 상태이며 실시간 생산 지표가 준비된 것으로 표시하지 않습니다.",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"DataNexus-Analytics/src/DataNexus.Web/Components/Pages/Dashboard.razor",</a:t>
            </a:r>
          </a:p>
          <a:p xmlns:a="http://schemas.openxmlformats.org/drawingml/2006/main">
            <a:r>
              <a:t>    "DataNexus-Analytics/src/DataNexus.Web/Components/Pages/FileIngestion.razor",</a:t>
            </a:r>
          </a:p>
          <a:p xmlns:a="http://schemas.openxmlformats.org/drawingml/2006/main">
            <a:r>
              <a:t>    "DataNexus-Analytics/src/DataNexus.Web/Components/Pages/AnalyticsGrid.razor",</a:t>
            </a:r>
          </a:p>
          <a:p xmlns:a="http://schemas.openxmlformats.org/drawingml/2006/main">
            <a:r>
              <a:t>    "DataNexus-Analytics/src/DataNexus.Web/Components/Pages/Report.razor",</a:t>
            </a:r>
          </a:p>
          <a:p xmlns:a="http://schemas.openxmlformats.org/drawingml/2006/main">
            <a:r>
              <a:t>    "DataNexus-Analytics/src/DataNexus.Web/Components/Pages/IndustrialIntegration.razor",</a:t>
            </a:r>
          </a:p>
          <a:p xmlns:a="http://schemas.openxmlformats.org/drawingml/2006/main">
            <a:r>
              <a:t>    "DataNexus-Analytics/src/DataNexus.Infrastructure/Analytics/AnalyticsDataService.cs",</a:t>
            </a:r>
          </a:p>
          <a:p xmlns:a="http://schemas.openxmlformats.org/drawingml/2006/main">
            <a:r>
              <a:t>    "DataNexus-Analytics/src/DataNexus.Infrastructure/Reports/ReportService.cs"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"iconLicense": "assets/design/LICENSE-Lucide.txt",</a:t>
            </a:r>
          </a:p>
          <a:p xmlns:a="http://schemas.openxmlformats.org/drawingml/2006/main">
            <a:r>
              <a:t>  "onlineGuide": "https://dubukimch.github.io/manual-data.html",</a:t>
            </a:r>
          </a:p>
          <a:p xmlns:a="http://schemas.openxmlformats.org/drawingml/2006/main">
            <a:r>
              <a:t>  "onlineStatus": "Publication is verified separately"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data/05-data.json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"data-overview",</a:t>
            </a:r>
          </a:p>
          <a:p xmlns:a="http://schemas.openxmlformats.org/drawingml/2006/main">
            <a:r>
              <a:t>  "title": "분석 개요에서 스트림 연결 상태 확인",</a:t>
            </a:r>
          </a:p>
          <a:p xmlns:a="http://schemas.openxmlformats.org/drawingml/2006/main">
            <a:r>
              <a:t>  "goal": "화면 연결 성공과 실제 데이터 수신 여부를 분리해 읽습니다.",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"http://127.0.0.1:5186/ 에 접속하거나 왼쪽 '분석 개요'를 누릅니다.",</a:t>
            </a:r>
          </a:p>
          <a:p xmlns:a="http://schemas.openxmlformats.org/drawingml/2006/main">
            <a:r>
              <a:t>    "'스트림 대기' 배지와 Stream Messages, Connection Status, Latest Source 카드를 확인합니다.",</a:t>
            </a:r>
          </a:p>
          <a:p xmlns:a="http://schemas.openxmlformats.org/drawingml/2006/main">
            <a:r>
              <a:t>    "'스트림 연결'을 누릅니다. 연결되면 '스트림 연결됨'과 '실제 데이터 수신을 기다립니다.' 안내를 확인합니다.",</a:t>
            </a:r>
          </a:p>
          <a:p xmlns:a="http://schemas.openxmlformats.org/drawingml/2006/main">
            <a:r>
              <a:t>    "현재 데모 스트림과 제조 수집이 비활성인 실습에서는 수신 0건과 Latest Source '—'가 유지될 수 있습니다. 이를 정상 생산 수집으로 기록하지 않습니다.",</a:t>
            </a:r>
          </a:p>
          <a:p xmlns:a="http://schemas.openxmlformats.org/drawingml/2006/main">
            <a:r>
              <a:t>    "원복: 'Disconnect'를 눌러 연결을 닫습니다. 서버나 다른 앱의 수집을 중지하는 동작은 아닙니다."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"성공하면 로컬 스트림 Hub 연결 상태만 Active로 바뀝니다. 수신 데이터가 있어야 이벤트와 최근 원본이 채워집니다. 화면은 최근 500개 이벤트만 보관합니다.",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"연결 실패 안내가 보이면 :5186 서버가 실행 중인지 확인하고 다시 시도합니다.",</a:t>
            </a:r>
          </a:p>
          <a:p xmlns:a="http://schemas.openxmlformats.org/drawingml/2006/main">
            <a:r>
              <a:t>    "연결됨인데 수신 0건이면 제조 데이터 연동에서 Kafka/OEE 상태를 확인합니다. 연결 배지만으로 수집 완료로 판단하지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"assets/screenshots/data-overview.jpg",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"2026-10-23T17:03:53.337Z",</a:t>
            </a:r>
          </a:p>
          <a:p xmlns:a="http://schemas.openxmlformats.org/drawingml/2006/main">
            <a:r>
              <a:t>    "url": "http://127.0.0.1:5186/live-monitor",</a:t>
            </a:r>
          </a:p>
          <a:p xmlns:a="http://schemas.openxmlformats.org/drawingml/2006/main">
            <a:r>
              <a:t>    "observed": "SignalR 연결과 수신 이벤트 0을 구분, uptime 원본 관측 전 N/A 표시",</a:t>
            </a:r>
          </a:p>
          <a:p xmlns:a="http://schemas.openxmlformats.org/drawingml/2006/main">
            <a:r>
              <a:t>    "sha256": "516fc3c0006e4dfd1ad8261e2e1cd4ce3265935e15bbb501076f025482d7d4cb"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DataNexus-Analytics/src/DataNexus.Web/Components/Pages/Dashboard.razor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DataNexus-Analytics/src/DataNexus.Web/Components/Pages/FileIngestion.razor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DataNexus-Analytics/src/DataNexus.Web/Components/Pages/AnalyticsGrid.razor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DataNexus-Analytics/src/DataNexus.Web/Components/Pages/Report.razor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DataNexus-Analytics/src/DataNexus.Web/Components/Pages/IndustrialIntegration.razor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DataNexus-Analytics/src/DataNexus.Infrastructure/Analytics/AnalyticsDataService.cs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DataNexus-Analytics/src/DataNexus.Infrastructure/Reports/ReportService.cs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data/05-data.json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"data-ingestion",</a:t>
            </a:r>
          </a:p>
          <a:p xmlns:a="http://schemas.openxmlformats.org/drawingml/2006/main">
            <a:r>
              <a:t>  "title": "교육용 CSV 업로드·차트 작성·그리드로 추가",</a:t>
            </a:r>
          </a:p>
          <a:p xmlns:a="http://schemas.openxmlformats.org/drawingml/2006/main">
            <a:r>
              <a:t>  "goal": "파일 열기부터 숫자 지표 차트와 분석 레코드 추가까지 진행합니다.",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파일 수집 또는 /file-ingestion을 엽니다. 함께 제공한 samples/manual-process.csv를 UTF-8 파일로 준비합니다.",</a:t>
            </a:r>
          </a:p>
          <a:p xmlns:a="http://schemas.openxmlformats.org/drawingml/2006/main">
            <a:r>
              <a:t>    "'Drag &amp; drop your file here / or click to browse' 영역을 눌러 파일을 선택합니다. 업로드 후 Configure Chart의 3 rows와 컬럼 목록을 확인합니다.",</a:t>
            </a:r>
          </a:p>
          <a:p xmlns:a="http://schemas.openxmlformats.org/drawingml/2006/main">
            <a:r>
              <a:t>    "'X-Axis Column'=Timestamp, 'Y-Axis Column'=Temperature, 'Chart Type'=Line으로 선택하고 'Render Chart'를 누릅니다.",</a:t>
            </a:r>
          </a:p>
          <a:p xmlns:a="http://schemas.openxmlformats.org/drawingml/2006/main">
            <a:r>
              <a:t>    "교육용 캐시에 추가할 때만 'Add to Analytics Grid'를 누릅니다. 3행 × 숫자 지표 2개이므로 6개 분석 레코드 추가 안내와 'Added to Grid'를 확인합니다.",</a:t>
            </a:r>
          </a:p>
          <a:p xmlns:a="http://schemas.openxmlformats.org/drawingml/2006/main">
            <a:r>
              <a:t>    "'Open Analytics Grid'로 이동합니다. 화면만 원복하려면 파일 수집으로 돌아가 새 파일을 선택하거나 페이지를 다시 엽니다. 이미 추가한 레코드는 캐시에 남으며 UI에서 개별 삭제하는 기능은 없습니다."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"Timestamp에 따른 Temperature 3개 점이 차트로 표시됩니다. 그리드 추가 시 Source는 파일명, ID는 IM- 접두이며 Temperature·Speed 총 6개 레코드가 생성됩니다. 이 수치는 교육용 가상값입니다.",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"빈 파일·지원하지 않는 확장자·기본 10MB 초과 파일은 오류가 표시됩니다. 헤더가 있고 숫자 값이 들어 있는 CSV를 사용합니다.",</a:t>
            </a:r>
          </a:p>
          <a:p xmlns:a="http://schemas.openxmlformats.org/drawingml/2006/main">
            <a:r>
              <a:t>    "'No numeric metric columns were found'이면 시간·식별자 컬럼 외에 숫자 지표가 있는지 확인합니다. 같은 파일의 추가 버튼이 Added to Grid로 바뀌면 중복해서 누르지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"assets/screenshots/data-ingestion.jpg",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"2026-10-23T17:04:44.289Z",</a:t>
            </a:r>
          </a:p>
          <a:p xmlns:a="http://schemas.openxmlformats.org/drawingml/2006/main">
            <a:r>
              <a:t>    "url": "http://127.0.0.1:5186/file-ingestion",</a:t>
            </a:r>
          </a:p>
          <a:p xmlns:a="http://schemas.openxmlformats.org/drawingml/2006/main">
            <a:r>
              <a:t>    "observed": "교육용 3행 CSV와 Timestamp/Temperature 선택, Line 차트 렌더 및 분석 레코드 6건 추가를 확인.",</a:t>
            </a:r>
          </a:p>
          <a:p xmlns:a="http://schemas.openxmlformats.org/drawingml/2006/main">
            <a:r>
              <a:t>    "sha256": "dc053c065b9e9df35cfedc51d6aa96a5e9fcf3d65083e4ba0323fc9dbcfa87d4"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DataNexus-Analytics/src/DataNexus.Web/Components/Pages/Dashboard.razor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DataNexus-Analytics/src/DataNexus.Web/Components/Pages/FileIngestion.razor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DataNexus-Analytics/src/DataNexus.Web/Components/Pages/AnalyticsGrid.razor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DataNexus-Analytics/src/DataNexus.Web/Components/Pages/Report.razor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DataNexus-Analytics/src/DataNexus.Web/Components/Pages/IndustrialIntegration.razor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DataNexus-Analytics/src/DataNexus.Infrastructure/Analytics/AnalyticsDataService.cs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DataNexus-Analytics/src/DataNexus.Infrastructure/Reports/ReportService.cs</a:t>
            </a:r>
          </a:p>
          <ns0:p xmlns:ns0="http://schemas.openxmlformats.org/drawingml/2006/main">
            <ns0:r>
              <ns0:t>2026-10-25 current capture override: {"screenshot": "assets/screenshots/data-ingestion-20261025.jpg", "width": 1265, "height": 1672, "evidenceState": "full", "evidence": {"capturedAtUtc": "2026-10-25T07:00:37.407Z", "url": "http://127.0.0.1:5186/file-ingestion", "observed": "manual-process.csv 3행을 업로드하고 Timestamp/Temperature/Line으로 차트를 렌더링한 뒤 분석 그리드에 추가했습니다. 화면의 '6 analytics records were added from manual-process.csv' 성공 배너를 확인했습니다.", "sha256": "e00a757b860e4ff400128b7b8108b1546e050008fedcf00e0b16c00979098955", "bytes": 117999}, "captureNote": "2026-10-25 대비 보정 후 실제 재촬영. 교육용 CSV 실습이며 실제 생산 데이터가 아닙니다.", "cautionShort": "교육용 CSV 실습입니다. 입력 데이터가 그리드에 6개 레코드로 추가됐는지 확인합니다.", "resultShort": "3행 × 숫자 지표 2개 = 6개 분석 레코드가 추가됩니다. Temperature·Speed는 교육용 가상값입니다.", "focusRecommendation": {"context": {"x": 0.0, "y": 0.0, "w": 1.0, "h": 1.0}, "controls": {"x": 0.23, "y": 0.18, "w": 0.74, "h": 0.37}, "note": "원본은 세로 전체 화면입니다. 기존 2026-10-24 ROI를 재사용하지 말고 파일 선택·성공 배너·Configure Chart·Add to Grid를 새 비율로 확인해야 합니다."}}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data/05-data.json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"data-grid",</a:t>
            </a:r>
          </a:p>
          <a:p xmlns:a="http://schemas.openxmlformats.org/drawingml/2006/main">
            <a:r>
              <a:t>  "title": "분석 그리드 필터·강조 기준·내보내기",</a:t>
            </a:r>
          </a:p>
          <a:p xmlns:a="http://schemas.openxmlformats.org/drawingml/2006/main">
            <a:r>
              <a:t>  "goal": "업로드 지표만 선택해 비교하고 현재 필터 결과를 파일로 보관합니다.",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'분석 그리드' 또는 /analytics-grid을 엽니다. DN- 초기 행은 로컬 데모라는 안내를 먼저 읽습니다.",</a:t>
            </a:r>
          </a:p>
          <a:p xmlns:a="http://schemas.openxmlformats.org/drawingml/2006/main">
            <a:r>
              <a:t>    "'Search source…'에 'manual-process'를 입력하고 필요하면 'Search metric…'에 'Temperature'를 입력합니다. 앞 단계에서 파일을 추가했다면 Temperature 3건이 남습니다.",</a:t>
            </a:r>
          </a:p>
          <a:p xmlns:a="http://schemas.openxmlformats.org/drawingml/2006/main">
            <a:r>
              <a:t>    "기본 'Neon threshold ≥'는 80입니다. 교육용 데이터의 강조를 비교하려면 74로 바꿉니다. 이 기준은 화면 강조용이며 PLC 알람이나 OEE 계산을 변경하지 않습니다.",</a:t>
            </a:r>
          </a:p>
          <a:p xmlns:a="http://schemas.openxmlformats.org/drawingml/2006/main">
            <a:r>
              <a:t>    "필요하면 컬럼 제목을 눌러 정렬합니다. 'CSV' 또는 'JSON'을 눌러 analytics-export.csv / analytics-export.json을 다운로드합니다. 내보내기는 현재 페이지뿐 아니라 필터에 맞는 모든 행을 대상으로 합니다.",</a:t>
            </a:r>
          </a:p>
          <a:p xmlns:a="http://schemas.openxmlformats.org/drawingml/2006/main">
            <a:r>
              <a:t>    "원복: 'Clear'를 눌러 검색·정렬 조건을 지우고 강조 기준을 80으로 되돌립니다. 기본 페이지 크기는 25입니다."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"파일명·지표 조건에 맞는 행과 수치만 표시됩니다. 임계값 74에서는 예시 Temperature 74.1이 강조됩니다. 원본 레코드 값은 바뀌지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"검색 결과가 없으면 Clear 후 Source 열을 확인합니다. 업로드만 하고 Add to Analytics Grid를 누르지 않았다면 IM- 행은 생성되지 않습니다.",</a:t>
            </a:r>
          </a:p>
          <a:p xmlns:a="http://schemas.openxmlformats.org/drawingml/2006/main">
            <a:r>
              <a:t>    "다운로드가 보이지 않으면 브라우저 다운로드 목록을 확인합니다. CSV/JSON 저장은 분석 그리드의 로컬 파일 내보내기입니다."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"assets/screenshots/data-grid.jpg",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"2026-10-23T17:17:53.470Z",</a:t>
            </a:r>
          </a:p>
          <a:p xmlns:a="http://schemas.openxmlformats.org/drawingml/2006/main">
            <a:r>
              <a:t>    "url": "http://127.0.0.1:5186/analytics-grid",</a:t>
            </a:r>
          </a:p>
          <a:p xmlns:a="http://schemas.openxmlformats.org/drawingml/2006/main">
            <a:r>
              <a:t>    "observed": "필터Temperature3건, 강조기준74에서74.1강조. CSV/JSON각3건 다운로드 및 값정렬/Clear동작 검증.",</a:t>
            </a:r>
          </a:p>
          <a:p xmlns:a="http://schemas.openxmlformats.org/drawingml/2006/main">
            <a:r>
              <a:t>    "sha256": "589f0c6623c3ec2ab0fb4be82366eb590ce48e12d74a6e08fa8c84483318795f"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DataNexus-Analytics/src/DataNexus.Web/Components/Pages/Dashboard.razor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DataNexus-Analytics/src/DataNexus.Web/Components/Pages/FileIngestion.razor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DataNexus-Analytics/src/DataNexus.Web/Components/Pages/AnalyticsGrid.razor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DataNexus-Analytics/src/DataNexus.Web/Components/Pages/Report.razor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DataNexus-Analytics/src/DataNexus.Web/Components/Pages/IndustrialIntegration.razor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DataNexus-Analytics/src/DataNexus.Infrastructure/Analytics/AnalyticsDataService.cs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DataNexus-Analytics/src/DataNexus.Infrastructure/Reports/ReportService.cs</a:t>
            </a:r>
          </a:p>
          <ns0:p xmlns:ns0="http://schemas.openxmlformats.org/drawingml/2006/main">
            <ns0:r>
              <ns0:t>2026-10-25 current capture override: {"screenshot": "assets/screenshots/data-grid-20261025.jpg", "width": 1280, "height": 720, "evidenceState": "full", "evidence": {"capturedAtUtc": "2026-10-25T07:01:07.830Z", "url": "http://127.0.0.1:5186/analytics-grid", "observed": "Search source=manual-process, Search metric=Temperature 필터로 1–3 of 3을 확인했습니다. 값은 72.50, 74.10, 73.20이며 Source·Status·Timestamp·CSV/JSON 버튼이 보입니다.", "sha256": "77565fb3f3e2b2e674cce34e512cc7808c956089f67982cd2d703c915909fa54", "bytes": 80609}, "captureNote": "2026-10-25 실제 재촬영. 강조 기준 80에서 파일·지표 필터 3행을 확인했으며 강조된 행은 없습니다.", "cautionShort": "강조 기준 80의 실제 필터 결과입니다. 교육용 데이터이며 실제 제조 연결과 구분합니다.", "resultShort": "Temperature 3행과 Source·값·Status·Timestamp를 함께 확인합니다.", "focusRecommendation": {"x": 0.22, "y": 0.16, "w": 0.75, "h": 0.72}, "actionStages": [{"icon": "search", "label": "파일과 지표 검색", "detail": "manual-process·Temperature"}, {"icon": "filter", "label": "화면 강조 기준 읽기", "detail": "Neon threshold ≥: 80"}, {"icon": "table", "label": "값과 상태 비교", "detail": "Temperature 3행 · 72.5~74.1"}, {"icon": "download", "label": "필터 전체 내보내기", "detail": "CSV 또는 JSON"}, {"icon": "reset", "label": "조건 원복", "detail": "Clear → 강조 기준 80"}], "currentSteps": ["분석 그리드에서 Source에 manual-process, Metric에 Temperature를 입력합니다.", "Neon threshold ≥ 값 80을 확인합니다. 이번 캡처는 기준 80이며 강조된 행이 없습니다.", "Temperature 3행의 72.50, 74.10, 73.20과 Source·Status·Timestamp를 함께 비교합니다.", "CSV 또는 JSON으로 현재 필터 결과 전체를 내려받을 수 있습니다.", "Clear로 필터를 초기화하고 강조 기준을 기본값 80으로 유지합니다."], "legacyEvidenceNote": "원문의 기준 74와 74.1 강조는 이전 절차와 연습 예시입니다. 이번 기준 80 캡처의 실행 근거로 사용하지 않습니다."}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data/05-data.json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"data-report",</a:t>
            </a:r>
          </a:p>
          <a:p xmlns:a="http://schemas.openxmlformats.org/drawingml/2006/main">
            <a:r>
              <a:t>  "title": "로컬 템플릿 보고서 생성과 Markdown 저장",</a:t>
            </a:r>
          </a:p>
          <a:p xmlns:a="http://schemas.openxmlformats.org/drawingml/2006/main">
            <a:r>
              <a:t>  "goal": "관측 결과와 미연결 제한을 남기는 재현 가능한 보고서를 만듭니다.",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'템플릿 보고서' 또는 /report을 엽니다. Report Builder에서 제목을 '교육용 공정 데이터 확인', 작성자를 실습 담당자로 입력합니다.",</a:t>
            </a:r>
          </a:p>
          <a:p xmlns:a="http://schemas.openxmlformats.org/drawingml/2006/main">
            <a:r>
              <a:t>    "'보고서 유형'은 기본 '분석 보고서 (Analysis)', '언어'는 '한국어'로 둡니다. '목적 및 배경'에 '교육용 CSV 시각화 및 연동 상태 확인'을 입력합니다.",</a:t>
            </a:r>
          </a:p>
          <a:p xmlns:a="http://schemas.openxmlformats.org/drawingml/2006/main">
            <a:r>
              <a:t>    "'데이터 내용 / 분석 결과'에 '교육용 가상 CSV 3행. Temperature 72.5/74.1/73.2, Speed 120/125/122. Kafka/OEE 미연결로 실제 생산 OEE는 확인하지 못함.'을 입력합니다.",</a:t>
            </a:r>
          </a:p>
          <a:p xmlns:a="http://schemas.openxmlformats.org/drawingml/2006/main">
            <a:r>
              <a:t>    "'보고서 생성'을 누르고 'Markdown'과 'Preview' 탭을 전환하여 입력한 요약이 보존되는지 확인합니다.",</a:t>
            </a:r>
          </a:p>
          <a:p xmlns:a="http://schemas.openxmlformats.org/drawingml/2006/main">
            <a:r>
              <a:t>    "'Copy MD'로 복사하거나 'Download .md'로 저장합니다. 원복: 입력을 바꾸어 다시 생성하거나 페이지를 다시 열면 됩니다. 다운로드한 파일은 사용자가 별도로 보관합니다."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"입력한 제목·작성자·목적·요약이 로컬 보고서 템플릿에 채워집니다. 이 기능은 외부 AI 분석이나 입력 수치의 진위 검증을 수행하지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"제목이 비어 있으면 보고서 생성이 비활성입니다.",</a:t>
            </a:r>
          </a:p>
          <a:p xmlns:a="http://schemas.openxmlformats.org/drawingml/2006/main">
            <a:r>
              <a:t>    "Copy MD가 브라우저 권한 때문에 실패하면 Download .md를 사용합니다. 보고서에 없는 생산 지표를 자동으로 보완하거나 추정한 것으로 해석하지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"assets/screenshots/data-report.jpg",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"2026-10-23T17:08:13.380Z",</a:t>
            </a:r>
          </a:p>
          <a:p xmlns:a="http://schemas.openxmlformats.org/drawingml/2006/main">
            <a:r>
              <a:t>    "url": "http://127.0.0.1:5186/report",</a:t>
            </a:r>
          </a:p>
          <a:p xmlns:a="http://schemas.openxmlformats.org/drawingml/2006/main">
            <a:r>
              <a:t>    "observed": "입력한 교육용 요약을 보존하는 로컬 템플릿 보고서 생성 및 Preview 확인",</a:t>
            </a:r>
          </a:p>
          <a:p xmlns:a="http://schemas.openxmlformats.org/drawingml/2006/main">
            <a:r>
              <a:t>    "sha256": "482508e2538581be6b9d8081f72ba6ce8d7262a8e583848f6dadcbd65d83e396"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DataNexus-Analytics/src/DataNexus.Web/Components/Pages/Dashboard.razor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DataNexus-Analytics/src/DataNexus.Web/Components/Pages/FileIngestion.razor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DataNexus-Analytics/src/DataNexus.Web/Components/Pages/AnalyticsGrid.razor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DataNexus-Analytics/src/DataNexus.Web/Components/Pages/Report.razor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DataNexus-Analytics/src/DataNexus.Web/Components/Pages/IndustrialIntegration.razor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DataNexus-Analytics/src/DataNexus.Infrastructure/Analytics/AnalyticsDataService.cs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DataNexus-Analytics/src/DataNexus.Infrastructure/Reports/ReportService.cs</a:t>
            </a:r>
          </a:p>
          <ns0:p xmlns:ns0="http://schemas.openxmlformats.org/drawingml/2006/main">
            <ns0:r>
              <ns0:t>2026-10-25 current capture override: {"screenshot": "assets/screenshots/data-report-20261025.jpg", "width": 1265, "height": 712, "evidenceState": "full", "evidence": {"capturedAtUtc": "2026-10-25T07:04:58.239Z", "url": "http://127.0.0.1:5186/report", "observed": "제목·작성자·목적·교육용 데이터 요약을 입력해 로컬 템플릿 보고서를 생성하고 Preview를 확인했습니다. Copy MD 후 브라우저 세션 클립보드의 524자 보고서 제목과 온도값을 확인했고, Download .md의 실제 파일을 저장했습니다. 복사한 문자열과 다운로드 파일의 내용이 일치합니다.", "sha256": "f42ff0d5bfdf6b0df24c999ac11ceaac54a5e4964a503868b120b77a0e898e91", "bytes": 65053}, "captureNote": "2026-10-25 대비 보정 후 실제 재촬영. 생성·Preview·Copy MD·Download .md 실행을 확인했습니다.", "cautionShort": "로컬 템플릿 보고서입니다. 입력 요약을 보존하며 자동 AI 분석은 수행하지 않습니다.", "resultShort": "생성한 보고서의 Preview·Markdown 복사·.md 저장을 확인했습니다.", "executionChecks": {"generation": true, "preview": true, "copyMarkdown": true, "downloadMarkdown": true, "copyAndDownloadIdentical": true, "copiedCharacters": 524}, "download": {"path": "samples/report-manual-process.md", "bytes": 916, "sha256": "6116e37b003d7bc0d5db2fa66e11b20ae37b6035add6dd74f011c012a3b6d039"}, "focusRecommendation": {"x": 0.22, "y": 0.14, "w": 0.75, "h": 0.82}}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data/05-data.json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"data-integration",</a:t>
            </a:r>
          </a:p>
          <a:p xmlns:a="http://schemas.openxmlformats.org/drawingml/2006/main">
            <a:r>
              <a:t>  "title": "제조 연동 의존성 확인과 화면 갱신 제어",</a:t>
            </a:r>
          </a:p>
          <a:p xmlns:a="http://schemas.openxmlformats.org/drawingml/2006/main">
            <a:r>
              <a:t>  "goal": "원본 관측 상태를 확인하고 읽는 동안 자동 갱신을 잠시 멈춥니다.",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'제조 데이터 연동' 또는 /industrial-integration을 엽니다.",</a:t>
            </a:r>
          </a:p>
          <a:p xmlns:a="http://schemas.openxmlformats.org/drawingml/2006/main">
            <a:r>
              <a:t>    "오른쪽 상태 배지, 'Kafka · 미연결', 'OEE API · 미연결', 수신 이벤트 수를 확인합니다. 현재 실습에서는 '연동 수집 비활성' 또는 의존성 대기 상태가 예상됩니다.",</a:t>
            </a:r>
          </a:p>
          <a:p xmlns:a="http://schemas.openxmlformats.org/drawingml/2006/main">
            <a:r>
              <a:t>    "OEE·Availability·Performance·Quality·Coverage가 N/A이면 계산 근거가 없는 상태로 기록합니다. 0%로 바꾸어 해석하지 않습니다.",</a:t>
            </a:r>
          </a:p>
          <a:p xmlns:a="http://schemas.openxmlformats.org/drawingml/2006/main">
            <a:r>
              <a:t>    "'자동 갱신 일시정지'를 누르고 버튼이 '자동 갱신 재개'로 바뀌는지 확인합니다. 필요하면 '지금 새로고침'으로 현재 저장된 스냅샷을 다시 표시합니다.",</a:t>
            </a:r>
          </a:p>
          <a:p xmlns:a="http://schemas.openxmlformats.org/drawingml/2006/main">
            <a:r>
              <a:t>    "원복: '자동 갱신 재개'를 누릅니다. 이 버튼은 화면의 1초 갱신만 제어하며 Kafka/OEE 서버를 시작·중지하거나 강제 재수집하지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"의존성별 연결과 원본 시각·품질·계산 근거를 구분해 볼 수 있습니다. 비활성/미연결 환경에서는 데이터와 OEE가 없다는 상태가 그대로 유지됩니다.",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"'화면 확인' 시각과 Source time은 서로 다릅니다. 새로고침한 화면 시각을 원본 데이터 생성 시각으로 사용하지 않습니다.",</a:t>
            </a:r>
          </a:p>
          <a:p xmlns:a="http://schemas.openxmlformats.org/drawingml/2006/main">
            <a:r>
              <a:t>    "진단 오류나 N/A가 지속되면 Kafka 수신 경로와 OEE API를 담당자가 복구해야 합니다. '지금 새로고침'은 미연결 의존성을 연결하는 버튼이 아닙니다."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"assets/screenshots/data-integration.jpg",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"2026-10-23T16:57:50.626Z",</a:t>
            </a:r>
          </a:p>
          <a:p xmlns:a="http://schemas.openxmlformats.org/drawingml/2006/main">
            <a:r>
              <a:t>    "url": "http://127.0.0.1:5186/industrial-integration",</a:t>
            </a:r>
          </a:p>
          <a:p xmlns:a="http://schemas.openxmlformats.org/drawingml/2006/main">
            <a:r>
              <a:t>    "observed": "수집 비활성, Kafka/OEE 미연결, 자동 갱신 일시정지와 수동 새로고침 확인",</a:t>
            </a:r>
          </a:p>
          <a:p xmlns:a="http://schemas.openxmlformats.org/drawingml/2006/main">
            <a:r>
              <a:t>    "sha256": "3a0fc125bbdd84f68785ab15c73e9680ea3f5aa333b581cc77c88b8f39ffa0f0"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DataNexus-Analytics/src/DataNexus.Web/Components/Pages/Dashboard.razor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DataNexus-Analytics/src/DataNexus.Web/Components/Pages/FileIngestion.razor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DataNexus-Analytics/src/DataNexus.Web/Components/Pages/AnalyticsGrid.razor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DataNexus-Analytics/src/DataNexus.Web/Components/Pages/Report.razor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DataNexus-Analytics/src/DataNexus.Web/Components/Pages/IndustrialIntegration.razor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DataNexus-Analytics/src/DataNexus.Infrastructure/Analytics/AnalyticsDataService.cs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DataNexus-Analytics/src/DataNexus.Infrastructure/Reports/ReportService.cs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extra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8597da05fcbe40d5"/></Relationships>
</file>

<file path=ppt/slideLayouts/_rels/extra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622615551f7d4ad3"/></Relationships>
</file>

<file path=ppt/slideLayouts/_rels/extra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36f5bdc1e8354599"/></Relationships>
</file>

<file path=ppt/slideLayouts/_rels/extra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9eb685b6598e488d"/></Relationships>
</file>

<file path=ppt/slideLayouts/_rels/extra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7b0b1f3d91ad4faf"/></Relationships>
</file>

<file path=ppt/slideLayouts/_rels/extra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f0236b72adda4e4d"/></Relationships>
</file>

<file path=ppt/slideLayouts/_rels/source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dd81561033664dc2"/></Relationships>
</file>

<file path=ppt/slideLayouts/_rels/source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8b28ce4dfbcb42be"/></Relationships>
</file>

<file path=ppt/slideLayouts/_rels/source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1e39505d70294388"/></Relationships>
</file>

<file path=ppt/slideLayouts/_rels/source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914b5cb7d9b84efe"/></Relationships>
</file>

<file path=ppt/slideLayouts/_rels/source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029b820b72fa4fe8"/></Relationships>
</file>

<file path=ppt/slideLayouts/_rels/source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548e995d96bb48da"/></Relationships>
</file>

<file path=ppt/slideLayouts/extra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C54B2C-EB82-499B-8F64-A7DAE4527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E322B7-1C60-4520-8AD1-928E137B61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09A28C-B864-42CD-93D5-6A8E4549E3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9A049A-06BD-454D-A05D-0B350ED74D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10D38F-A088-456B-9E89-45D1BC3A4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00C237-0F70-4BA4-A4D1-3CDBB429D1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744292-5663-4A84-93DC-E08B638EAF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F99EF9-7589-4986-B1C0-F1F6AB2A4B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320F75-4F4C-4C1D-BFB8-D20A5D776E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377069-356E-49D5-BB4B-E93CF6DCC2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ource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2C18D0-0BE1-4D3B-9495-6D2A8C6FF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D51148-77CC-4350-8C36-23DCDFB4B1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DA3227-AD06-4DAE-BD1E-F5857D90D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7458B2-C825-462D-9520-1C5109FF06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D1FA52-AADA-4A86-8347-4E921105B6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903506-F4C1-4043-B81B-3A28BCC4F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6C72FD-7001-4E24-8CD2-D409767C36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BFF9CB-F1DA-4659-9ECB-EDBC8D1A9F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EF09AA-EF2A-4479-ACC4-2B1E435D4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36849E-F7FD-460C-9A28-AB2811873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extra_slideMaster1.xml.rels><?xml version='1.0' encoding='UTF-8' standalone='yes'?>
<Relationships xmlns="http://schemas.openxmlformats.org/package/2006/relationships"><Relationship Type="http://schemas.openxmlformats.org/officeDocument/2006/relationships/theme" Target="theme/extra_theme2.xml" Id="R9603d00798a746d0"/><Relationship Type="http://schemas.openxmlformats.org/officeDocument/2006/relationships/slideLayout" Target="../slideLayouts/extra_slideLayout1.xml" Id="R47a2295409694b9b"/><Relationship Type="http://schemas.openxmlformats.org/officeDocument/2006/relationships/slideLayout" Target="../slideLayouts/extra_slideLayout2.xml" Id="R87b2ee8d1b984a2a"/><Relationship Type="http://schemas.openxmlformats.org/officeDocument/2006/relationships/slideLayout" Target="../slideLayouts/extra_slideLayout3.xml" Id="Rcf0530b1b8ac4de5"/><Relationship Type="http://schemas.openxmlformats.org/officeDocument/2006/relationships/slideLayout" Target="../slideLayouts/extra_slideLayout4.xml" Id="R8bbb8f591e9d4ba9"/><Relationship Type="http://schemas.openxmlformats.org/officeDocument/2006/relationships/slideLayout" Target="../slideLayouts/extra_slideLayout5.xml" Id="R04d33da6d57f497b"/><Relationship Type="http://schemas.openxmlformats.org/officeDocument/2006/relationships/slideLayout" Target="../slideLayouts/extra_slideLayout6.xml" Id="R6abfb3307f004385"/></Relationships>
</file>

<file path=ppt/slideMasters/_rels/source_slideMaster1.xml.rels><?xml version='1.0' encoding='UTF-8' standalone='yes'?>
<Relationships xmlns="http://schemas.openxmlformats.org/package/2006/relationships"><Relationship Type="http://schemas.openxmlformats.org/officeDocument/2006/relationships/theme" Target="theme/source_theme2.xml" Id="R367bcf752a9749ae"/><Relationship Type="http://schemas.openxmlformats.org/officeDocument/2006/relationships/slideLayout" Target="../slideLayouts/source_slideLayout1.xml" Id="R11b88d14dc1d4219"/><Relationship Type="http://schemas.openxmlformats.org/officeDocument/2006/relationships/slideLayout" Target="../slideLayouts/source_slideLayout2.xml" Id="R87ec6871956e40df"/><Relationship Type="http://schemas.openxmlformats.org/officeDocument/2006/relationships/slideLayout" Target="../slideLayouts/source_slideLayout3.xml" Id="R5f96253e5dea4309"/><Relationship Type="http://schemas.openxmlformats.org/officeDocument/2006/relationships/slideLayout" Target="../slideLayouts/source_slideLayout4.xml" Id="Rab77f0812a874d9d"/><Relationship Type="http://schemas.openxmlformats.org/officeDocument/2006/relationships/slideLayout" Target="../slideLayouts/source_slideLayout5.xml" Id="R75ffc517a4f0405b"/><Relationship Type="http://schemas.openxmlformats.org/officeDocument/2006/relationships/slideLayout" Target="../slideLayouts/source_slideLayout6.xml" Id="Rcbb869a82fa04458"/></Relationships>
</file>

<file path=ppt/slideMasters/extra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a2295409694b9b"/>
    <p:sldLayoutId xmlns:r="http://schemas.openxmlformats.org/officeDocument/2006/relationships" id="2147483650" r:id="R87b2ee8d1b984a2a"/>
    <p:sldLayoutId xmlns:r="http://schemas.openxmlformats.org/officeDocument/2006/relationships" id="2147483651" r:id="Rcf0530b1b8ac4de5"/>
    <p:sldLayoutId xmlns:r="http://schemas.openxmlformats.org/officeDocument/2006/relationships" id="2147483652" r:id="R8bbb8f591e9d4ba9"/>
    <p:sldLayoutId xmlns:r="http://schemas.openxmlformats.org/officeDocument/2006/relationships" id="2147483653" r:id="R04d33da6d57f497b"/>
    <p:sldLayoutId xmlns:r="http://schemas.openxmlformats.org/officeDocument/2006/relationships" id="2147483654" r:id="R6abfb3307f0043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ource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b88d14dc1d4219"/>
    <p:sldLayoutId xmlns:r="http://schemas.openxmlformats.org/officeDocument/2006/relationships" id="2147483650" r:id="R87ec6871956e40df"/>
    <p:sldLayoutId xmlns:r="http://schemas.openxmlformats.org/officeDocument/2006/relationships" id="2147483651" r:id="R5f96253e5dea4309"/>
    <p:sldLayoutId xmlns:r="http://schemas.openxmlformats.org/officeDocument/2006/relationships" id="2147483652" r:id="Rab77f0812a874d9d"/>
    <p:sldLayoutId xmlns:r="http://schemas.openxmlformats.org/officeDocument/2006/relationships" id="2147483653" r:id="R75ffc517a4f0405b"/>
    <p:sldLayoutId xmlns:r="http://schemas.openxmlformats.org/officeDocument/2006/relationships" id="2147483654" r:id="Rcbb869a82fa0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extra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ource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484893638b9e4e31"/><Relationship Type="http://schemas.openxmlformats.org/officeDocument/2006/relationships/image" Target="../media/extra_image17.png" Id="R83584b99b62243c1"/><Relationship Type="http://schemas.openxmlformats.org/officeDocument/2006/relationships/image" Target="../media/extra_image5.jpeg" Id="Ra65361e94e8b468c"/><Relationship Type="http://schemas.openxmlformats.org/officeDocument/2006/relationships/hyperlink" Target="http://127.0.0.1:5186/" TargetMode="External" Id="R119995fca7ae4ffd"/><Relationship Type="http://schemas.openxmlformats.org/officeDocument/2006/relationships/notesSlide" Target="../notesSlides/extra_notesSlide13.xml" Id="R81de20b3354e4718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c5382852f81b4287"/><Relationship Type="http://schemas.openxmlformats.org/officeDocument/2006/relationships/notesSlide" Target="../notesSlides/extra_notesSlide14.xml" Id="Rfa8d6a28fc944f27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f259fe7d83774626"/><Relationship Type="http://schemas.openxmlformats.org/officeDocument/2006/relationships/image" Target="../media/source_image188.png" Id="Rcf4e8cdf7535485c"/><Relationship Type="http://schemas.openxmlformats.org/officeDocument/2006/relationships/image" Target="../media/source_image189.png" Id="Rad81136489a24c41"/><Relationship Type="http://schemas.openxmlformats.org/officeDocument/2006/relationships/image" Target="../media/source_image190.png" Id="R6ba29370b85c4130"/><Relationship Type="http://schemas.openxmlformats.org/officeDocument/2006/relationships/image" Target="../media/source_image191.png" Id="R76c01063fb2746dc"/><Relationship Type="http://schemas.openxmlformats.org/officeDocument/2006/relationships/image" Target="../media/source_image25.jpeg" Id="Rd1c4c400e6be4c63"/><Relationship Type="http://schemas.openxmlformats.org/officeDocument/2006/relationships/image" Target="../media/source_image192.png" Id="R13a7afc7da284c97"/><Relationship Type="http://schemas.openxmlformats.org/officeDocument/2006/relationships/image" Target="../media/source_image193.png" Id="Rbe1e5083a7674127"/><Relationship Type="http://schemas.openxmlformats.org/officeDocument/2006/relationships/notesSlide" Target="../notesSlides/source_notesSlide32.xml" Id="Rd3566d0fcf434451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ff687cfe8b6b4b63"/><Relationship Type="http://schemas.openxmlformats.org/officeDocument/2006/relationships/image" Target="../media/source_image194.png" Id="R9a034bd38b9c4f53"/><Relationship Type="http://schemas.openxmlformats.org/officeDocument/2006/relationships/image" Target="../media/source_image195.png" Id="R1cef4aab4d9b4ac1"/><Relationship Type="http://schemas.openxmlformats.org/officeDocument/2006/relationships/image" Target="../media/source_image196.png" Id="R32580d4a973a4403"/><Relationship Type="http://schemas.openxmlformats.org/officeDocument/2006/relationships/image" Target="../media/source_image197.png" Id="R776e565c18304f92"/><Relationship Type="http://schemas.openxmlformats.org/officeDocument/2006/relationships/image" Target="../media/source_image198.png" Id="Rd17dcbeb73d04ace"/><Relationship Type="http://schemas.openxmlformats.org/officeDocument/2006/relationships/image" Target="../media/source_image26.jpeg" Id="R0d45ea860ab44b42"/><Relationship Type="http://schemas.openxmlformats.org/officeDocument/2006/relationships/image" Target="../media/source_image199.png" Id="Rdf28fca12d72405d"/><Relationship Type="http://schemas.openxmlformats.org/officeDocument/2006/relationships/image" Target="../media/source_image200.png" Id="Ra0be64e136734170"/><Relationship Type="http://schemas.openxmlformats.org/officeDocument/2006/relationships/notesSlide" Target="../notesSlides/source_notesSlide33.xml" Id="R7d9ffa3f63634b5a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314c76b139ba4178"/><Relationship Type="http://schemas.openxmlformats.org/officeDocument/2006/relationships/image" Target="../media/source_image201.png" Id="R08e7533c3de0416e"/><Relationship Type="http://schemas.openxmlformats.org/officeDocument/2006/relationships/image" Target="../media/source_image202.png" Id="R9aa480dc723d43ea"/><Relationship Type="http://schemas.openxmlformats.org/officeDocument/2006/relationships/image" Target="../media/source_image203.png" Id="R1007d435188a4765"/><Relationship Type="http://schemas.openxmlformats.org/officeDocument/2006/relationships/image" Target="../media/source_image204.png" Id="R6520a14b62e44364"/><Relationship Type="http://schemas.openxmlformats.org/officeDocument/2006/relationships/image" Target="../media/source_image205.png" Id="Rab0ffa954ed44bb7"/><Relationship Type="http://schemas.openxmlformats.org/officeDocument/2006/relationships/image" Target="../media/source_image27.jpeg" Id="R5cd32f728dc74b7d"/><Relationship Type="http://schemas.openxmlformats.org/officeDocument/2006/relationships/image" Target="../media/source_image206.png" Id="R99c818f7f1e74a55"/><Relationship Type="http://schemas.openxmlformats.org/officeDocument/2006/relationships/image" Target="../media/source_image207.png" Id="Raee20f4fbf2649d3"/><Relationship Type="http://schemas.openxmlformats.org/officeDocument/2006/relationships/notesSlide" Target="../notesSlides/source_notesSlide34.xml" Id="Rde338239351c421d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63f1b90502484101"/><Relationship Type="http://schemas.openxmlformats.org/officeDocument/2006/relationships/image" Target="../media/source_image208.png" Id="R1cad62d4e8eb4d11"/><Relationship Type="http://schemas.openxmlformats.org/officeDocument/2006/relationships/image" Target="../media/source_image209.png" Id="R66b0e95d4f0b4bd3"/><Relationship Type="http://schemas.openxmlformats.org/officeDocument/2006/relationships/image" Target="../media/source_image210.png" Id="Ra328631df2a541a3"/><Relationship Type="http://schemas.openxmlformats.org/officeDocument/2006/relationships/image" Target="../media/source_image211.png" Id="Rb7b4acd38c2845ef"/><Relationship Type="http://schemas.openxmlformats.org/officeDocument/2006/relationships/image" Target="../media/source_image212.png" Id="Re0733d4daf8c4528"/><Relationship Type="http://schemas.openxmlformats.org/officeDocument/2006/relationships/image" Target="../media/source_image28.jpeg" Id="Rdc80bbaf85374088"/><Relationship Type="http://schemas.openxmlformats.org/officeDocument/2006/relationships/image" Target="../media/source_image213.png" Id="Rdfcc413119c54541"/><Relationship Type="http://schemas.openxmlformats.org/officeDocument/2006/relationships/image" Target="../media/source_image214.png" Id="Re9a02344f1774624"/><Relationship Type="http://schemas.openxmlformats.org/officeDocument/2006/relationships/notesSlide" Target="../notesSlides/source_notesSlide35.xml" Id="Rbcf1977b8e4941bf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b9fd0d6543084414"/><Relationship Type="http://schemas.openxmlformats.org/officeDocument/2006/relationships/image" Target="../media/source_image215.png" Id="R19f8f2d3d7e44f58"/><Relationship Type="http://schemas.openxmlformats.org/officeDocument/2006/relationships/image" Target="../media/source_image216.png" Id="R41c0c1ff235449b2"/><Relationship Type="http://schemas.openxmlformats.org/officeDocument/2006/relationships/image" Target="../media/source_image217.png" Id="R44d2da1e20e94621"/><Relationship Type="http://schemas.openxmlformats.org/officeDocument/2006/relationships/image" Target="../media/source_image218.png" Id="R5857dd0e96c9422f"/><Relationship Type="http://schemas.openxmlformats.org/officeDocument/2006/relationships/image" Target="../media/source_image219.png" Id="Re86ae9e22fd34dab"/><Relationship Type="http://schemas.openxmlformats.org/officeDocument/2006/relationships/image" Target="../media/source_image29.jpeg" Id="R712a26586f0e491b"/><Relationship Type="http://schemas.openxmlformats.org/officeDocument/2006/relationships/image" Target="../media/source_image220.png" Id="R1d06bc5cf27a4628"/><Relationship Type="http://schemas.openxmlformats.org/officeDocument/2006/relationships/image" Target="../media/source_image221.png" Id="Rae179ffa45b948d3"/><Relationship Type="http://schemas.openxmlformats.org/officeDocument/2006/relationships/notesSlide" Target="../notesSlides/source_notesSlide36.xml" Id="Re5e74f1235da4cf6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3ada04238445443f"/><Relationship Type="http://schemas.openxmlformats.org/officeDocument/2006/relationships/image" Target="../media/extra_image18.png" Id="Rd3b0ff40144f4c5a"/><Relationship Type="http://schemas.openxmlformats.org/officeDocument/2006/relationships/image" Target="../media/extra_image19.png" Id="R3ed21f3c1d964682"/><Relationship Type="http://schemas.openxmlformats.org/officeDocument/2006/relationships/image" Target="../media/extra_image20.png" Id="R13827d28e6634f9e"/><Relationship Type="http://schemas.openxmlformats.org/officeDocument/2006/relationships/hyperlink" Target="https://dubukimch.github.io/manual-data.html" TargetMode="External" Id="R1b2d63a65e094a3e"/><Relationship Type="http://schemas.openxmlformats.org/officeDocument/2006/relationships/notesSlide" Target="../notesSlides/extra_notesSlide15.xml" Id="Rcb97629e10ea4524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5E9C19EB-82E7-435B-B9FB-4548C9C6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DataNexus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1E518666-8581-48DD-83E2-E9ADD1FB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BCE55-8504-4D62-9663-EDB25714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0C356BBA-F8F8-4618-87EF-F88C2880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DataNexus 사용 매뉴얼  2026.10.25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0604C-34FA-4B04-9B67-12C107C5F3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84b99b62243c1"/>
          <a:stretch xmlns:a="http://schemas.openxmlformats.org/drawingml/2006/main"/>
        </p:blipFill>
        <p:spPr>
          <a:xfrm xmlns:a="http://schemas.openxmlformats.org/drawingml/2006/main">
            <a:off x="685800" y="1362075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6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A8A1E866-7173-42D8-B746-4C850A84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57325"/>
            <a:ext cx="1257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DataNexus</a:t>
            </a:r>
          </a:p>
        </p:txBody>
      </p:sp>
      <p:sp>
        <p:nvSpPr>
          <p:cNvPr id="7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24EDF762-3DEE-4C25-9611-CD2CE242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38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사용 매뉴얼</a:t>
            </a:r>
          </a:p>
        </p:txBody>
      </p:sp>
      <p:sp>
        <p:nvSpPr>
          <p:cNvPr id="8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174D122E-7C4C-46B3-8E3F-89E52CF3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619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교육용 CSV를 차트와 재현 가능한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보고서로</a:t>
            </a:r>
          </a:p>
        </p:txBody>
      </p:sp>
      <p:sp>
        <p:nvSpPr>
          <p:cNvPr id="9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DDBA09B7-4B96-48AA-9957-055397B2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388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5개 동작 · 실제 캡처 5장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83BDD-35AB-4EAE-81A5-7EC7B72996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361e94e8b468c"/>
          <a:stretch xmlns:a="http://schemas.openxmlformats.org/drawingml/2006/main"/>
        </p:blipFill>
        <p:spPr>
          <a:xfrm xmlns:a="http://schemas.openxmlformats.org/drawingml/2006/main">
            <a:off x="8453820" y="2762250"/>
            <a:ext cx="5190359" cy="4000500"/>
          </a:xfrm>
          <a:prstGeom xmlns:a="http://schemas.openxmlformats.org/drawingml/2006/main" prst="rect">
            <a:avLst/>
          </a:prstGeom>
        </p:spPr>
      </p:pic>
      <p:sp>
        <p:nvSpPr>
          <p:cNvPr id="11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AFDB3CAE-8289-4C72-A3A6-C2F83810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15125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화면, 순서와 확인할 결과를 함께 읽습니다.</a:t>
            </a:r>
          </a:p>
        </p:txBody>
      </p:sp>
      <p:sp>
        <p:nvSpPr>
          <p:cNvPr id="12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0239EF3D-640C-43A2-B80C-E6E94F82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72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658A8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119995fca7ae4ffd"/>
              </a:rPr>
              <a:t>http://127.0.0.1:5186/</a:t>
            </a:r>
          </a:p>
        </p:txBody>
      </p:sp>
    </p:spTree>
    <p:extLst>
      <p:ext uri="{BB962C8B-B14F-4D97-AF65-F5344CB8AC3E}">
        <p14:creationId xmlns:p14="http://schemas.microsoft.com/office/powerpoint/2010/main" val="13309101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604B1DBE-5229-4D0F-B87F-4077B8BD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DataNexus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E37109E5-80D2-4195-AA4E-FB640881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B7923-019A-49DD-B0B0-30C60651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40992FE6-8517-487B-88E1-4DC289F8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DataNexus 사용 매뉴얼  2026.10.25</a:t>
            </a:r>
          </a:p>
        </p:txBody>
      </p:sp>
      <p:sp>
        <p:nvSpPr>
          <p:cNvPr id="5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8C1E7ADD-679D-447C-ADDB-78394FB3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402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시작 조건과 실습 범위</a:t>
            </a:r>
          </a:p>
        </p:txBody>
      </p:sp>
      <p:sp>
        <p:nvSpPr>
          <p:cNvPr id="6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00184D11-B55B-4E12-97FC-5EDE9E4D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1381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실행 환경을 확인한 뒤 첫 동작으로 이동합니다.</a:t>
            </a:r>
          </a:p>
        </p:txBody>
      </p:sp>
      <p:sp>
        <p:nvSpPr>
          <p:cNvPr id="7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F8E435D3-68F9-4BE3-AF1C-FAA45FA4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4E8F34DB-7387-4838-B903-4B698AB4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1304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로컬 DataNexus http://127.0.0.1:5186/ 가 실행 중이어야 합니다.</a:t>
            </a:r>
          </a:p>
        </p:txBody>
      </p:sp>
      <p:sp>
        <p:nvSpPr>
          <p:cNvPr id="9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B0D6C32E-3D7C-4305-9C04-80A622A2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FFBFEDB3-D388-43CF-B365-7B339774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실습은 Streaming:EnableDemoStream=false, IndustrialIntegration:Enabled=false로 실행합니다. 로컬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Hub 연결과 제조 이벤트 수신은 서로 다른 상태입니다.</a:t>
            </a:r>
          </a:p>
        </p:txBody>
      </p:sp>
      <p:sp>
        <p:nvSpPr>
          <p:cNvPr id="11" name="extra-text-9">
            <a:extLst xmlns:a="http://schemas.openxmlformats.org/drawingml/2006/main">
              <a:ext uri="{FF2B5EF4-FFF2-40B4-BE49-F238E27FC236}">
                <a16:creationId xmlns:a16="http://schemas.microsoft.com/office/drawing/2014/main" id="{1EDB8866-1D79-4B06-AC41-AEB68327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extra-text-10">
            <a:extLst xmlns:a="http://schemas.openxmlformats.org/drawingml/2006/main">
              <a:ext uri="{FF2B5EF4-FFF2-40B4-BE49-F238E27FC236}">
                <a16:creationId xmlns:a16="http://schemas.microsoft.com/office/drawing/2014/main" id="{456C5D30-C88B-43BB-80E7-EB11C92F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파일 실습은 아래 교육용 가상 CSV만 사용합니다. 업로드 기본 제한은 10MB이며 CSV/JSON 형식을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지원합니다.</a:t>
            </a:r>
          </a:p>
        </p:txBody>
      </p:sp>
      <p:sp>
        <p:nvSpPr>
          <p:cNvPr id="13" name="extra-text-11">
            <a:extLst xmlns:a="http://schemas.openxmlformats.org/drawingml/2006/main">
              <a:ext uri="{FF2B5EF4-FFF2-40B4-BE49-F238E27FC236}">
                <a16:creationId xmlns:a16="http://schemas.microsoft.com/office/drawing/2014/main" id="{50031685-2DA9-4AE0-BDB4-A41B55FE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extra-text-12">
            <a:extLst xmlns:a="http://schemas.openxmlformats.org/drawingml/2006/main">
              <a:ext uri="{FF2B5EF4-FFF2-40B4-BE49-F238E27FC236}">
                <a16:creationId xmlns:a16="http://schemas.microsoft.com/office/drawing/2014/main" id="{CBF77401-DDF4-4DC8-B503-9F215394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분석 그리드의 DN- 접두 초기 행은 로컬 데모입니다. 업로드로 추가한 IM- 행 및 실제 제조 연동 데이터와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구분합니다.</a:t>
            </a:r>
          </a:p>
        </p:txBody>
      </p:sp>
      <p:sp>
        <p:nvSpPr>
          <p:cNvPr id="15" name="extra-text-13">
            <a:extLst xmlns:a="http://schemas.openxmlformats.org/drawingml/2006/main">
              <a:ext uri="{FF2B5EF4-FFF2-40B4-BE49-F238E27FC236}">
                <a16:creationId xmlns:a16="http://schemas.microsoft.com/office/drawing/2014/main" id="{6EAB3C1B-745E-4BD9-B497-6792DA3D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6" name="extra-text-14">
            <a:extLst xmlns:a="http://schemas.openxmlformats.org/drawingml/2006/main">
              <a:ext uri="{FF2B5EF4-FFF2-40B4-BE49-F238E27FC236}">
                <a16:creationId xmlns:a16="http://schemas.microsoft.com/office/drawing/2014/main" id="{C77A209F-F1AE-47FF-9B6A-09BFC199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보고서 생성은 입력 요약을 보존하는 로컬 템플릿 처리입니다. 외부 생성형 AI 호출이나 생산 데이터 자동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검증을 수행하지 않습니다.</a:t>
            </a:r>
          </a:p>
        </p:txBody>
      </p:sp>
      <p:sp>
        <p:nvSpPr>
          <p:cNvPr id="17" name="extra-text-15">
            <a:extLst xmlns:a="http://schemas.openxmlformats.org/drawingml/2006/main">
              <a:ext uri="{FF2B5EF4-FFF2-40B4-BE49-F238E27FC236}">
                <a16:creationId xmlns:a16="http://schemas.microsoft.com/office/drawing/2014/main" id="{7FD56548-F064-48FC-8472-5201BFDC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실습에서 확인하는 범위</a:t>
            </a:r>
          </a:p>
        </p:txBody>
      </p:sp>
      <p:sp>
        <p:nvSpPr>
          <p:cNvPr id="18" name="extra-text-16">
            <a:extLst xmlns:a="http://schemas.openxmlformats.org/drawingml/2006/main">
              <a:ext uri="{FF2B5EF4-FFF2-40B4-BE49-F238E27FC236}">
                <a16:creationId xmlns:a16="http://schemas.microsoft.com/office/drawing/2014/main" id="{8F2D4C8F-64C2-459C-B8CF-84BE4781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57975"/>
            <a:ext cx="13811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로컬 데이터 파일을 차트와 분석 그리드로 살펴보고 입력 요약을 템플릿 보고서로 작성합니다. 제조 연동 화면은 원본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품질·시각과 의존성 상태를 읽기 전용으로 관측합니다. 현재 Kafka/OEE 경로는 미연결 또는 비활성 상태이며 실시간 생산 지표가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준비된 것으로 표시하지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287135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537C8E05-A144-4B53-9D5B-F7BEF5EA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DataNexus  /  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2EBA0AE-996F-486D-A2C1-7DA5B633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1C5A6-DBA6-403F-B6ED-27B7C274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778BD3C-985A-4FA2-BD97-30FCAEA2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DataNexus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1F60333-6702-417D-9675-9E8821AE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스트림 연결과 수신 구분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A6859E9-1CF9-4C8C-B4D9-0363A074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Hub 연결 성공과 실제 제조 데이터 수신을 따로 읽습니다.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8B660-B1EE-41B4-93E1-7140A1B05C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e8cdf7535485c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B0AAAA3-BCD7-4D5A-8762-C008E476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B08162F-6916-4933-9EA1-7970395A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분석 개요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1727042D-E752-42A4-A464-5A110FD3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수신 건수 · Latest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Source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01A8F-256D-41E2-B2CC-C99B2755DD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1136489a24c41"/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6713C2C0-7836-4254-A03E-13AFCB03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23CE1072-DAF2-4A75-87D6-6ED13F0A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스트림 연결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B75392FB-4587-4B85-A23A-4FCE0DAB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스트림 연결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C425C-0266-4BF1-8868-3386CF66DF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29370b85c4130"/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669D8DCC-9A33-4FED-9316-9335B7CE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DC09EC73-5C0F-45B7-B66E-E3962F84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수신 여부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EF384E4A-8E3A-4A90-ACA1-9FB62BBD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이벤트 · 최근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원본 확인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DA513-4993-4DCE-93FA-0729AD48E9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01063fb2746dc"/>
          <a:stretch xmlns:a="http://schemas.openxmlformats.org/drawingml/2006/main"/>
        </p:blipFill>
        <p:spPr>
          <a:xfrm xmlns:a="http://schemas.openxmlformats.org/drawingml/2006/main">
            <a:off x="638175" y="58578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61ED7F43-7D01-46BF-8DA0-ADDD1568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2769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95378190-6659-4B61-BEA4-A6324503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293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화면 연결 종료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8C7837BB-ACDC-4432-A18E-1A95044D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388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Disconnect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9F602A-0927-4E84-91E7-CC8A82BEDA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4c400e6be4c63"/>
          <a:srcRect xmlns:a="http://schemas.openxmlformats.org/drawingml/2006/main" l="18000" t="10000" r="2000" b="46000"/>
          <a:stretch xmlns:a="http://schemas.openxmlformats.org/drawingml/2006/main"/>
        </p:blipFill>
        <p:spPr>
          <a:xfrm xmlns:a="http://schemas.openxmlformats.org/drawingml/2006/main">
            <a:off x="4310217" y="2305050"/>
            <a:ext cx="10200966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E17C7B38-B5E4-4C41-B5EF-18D410C9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93CD72-A69B-44C0-9E43-093EBF15DB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7afc7da284c97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95301BDF-8690-4228-B3CF-3AD071D5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이 실습은 데모 스트림·제조 수집이 비활성입니다. 연결 배지로 수집 성공을 판단하지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71A7C2-4CCD-4AEE-9C3A-A240EB709E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e5083a7674127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5B1C8FE1-D346-4519-B92C-9399B097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연결 Active와 수신 0건이 함께 보일 수 있습니다.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수신 이벤트가 있어야 최근 원본이 채워집니다.</a:t>
            </a:r>
          </a:p>
        </p:txBody>
      </p:sp>
    </p:spTree>
    <p:extLst>
      <p:ext uri="{BB962C8B-B14F-4D97-AF65-F5344CB8AC3E}">
        <p14:creationId xmlns:p14="http://schemas.microsoft.com/office/powerpoint/2010/main" val="1224112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1">
            <a:extLst xmlns:a="http://schemas.openxmlformats.org/drawingml/2006/main">
              <a:ext uri="{FF2B5EF4-FFF2-40B4-BE49-F238E27FC236}">
                <a16:creationId xmlns:a16="http://schemas.microsoft.com/office/drawing/2014/main" id="{E0D6767E-A285-4995-ACA0-04717C07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DataNexus  /  02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FF5A3AE-91D2-4F42-9D65-0236E197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11BEE-26BE-4493-A233-09BD8F01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BFAEDB9-A4A2-4BB8-829C-421E2686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DataNexus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420B01C-557C-42C3-BD1D-5E04BB4D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CSV를 차트와 분석 행으로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25928E9-91D4-42EB-85C3-031347D9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교육용 파일을 열어 숫자 지표를 시각화합니다.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88EAC-8B33-4433-8E17-C47878F269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34bd38b9c4f53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D503D7E-D362-4AE4-AAFB-336F0BA4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A98DC44-EEB5-4102-A706-EB8C4324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교육용 CSV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15992799-8333-4667-BFF7-492E4746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manual-process.csv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2B974-F52F-4512-93B8-B0534DDC0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f4aab4d9b4ac1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AE8C8492-EBF4-48BC-AB7C-9BA918B5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ABF8AFFF-CAF2-4EB8-AC61-7090B625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차트 축 지정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2B68B232-2386-4AC9-AFB8-6769AB2D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시간: Timestamp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값: Temperature / Line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FD7DD-6E81-4D1B-84C4-DA714394D9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80d4a973a4403"/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0C474552-7C69-4F56-A3AC-30D6DBA9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E8ECE8F2-8B1C-4493-B5B6-00544F24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차트 렌더링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5C5F75A5-8E0E-4FDE-8896-E927D030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Render Chart로 3개 점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630C4-8990-45FF-86A0-8DD4619477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e565c18304f92"/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8EA9F664-6CAA-4336-B183-56099548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D0128A59-8096-44C6-A569-D8DE2168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분석 그리드 추가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E30C7847-A9A3-4A2A-99F5-63B21FE3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Add to Analytics Grid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5CA00-DC6D-4C33-AF7D-3B4A10275A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dcbeb73d04ace"/>
          <a:stretch xmlns:a="http://schemas.openxmlformats.org/drawingml/2006/main"/>
        </p:blipFill>
        <p:spPr>
          <a:xfrm xmlns:a="http://schemas.openxmlformats.org/drawingml/2006/main">
            <a:off x="638175" y="6486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275E084E-6DC2-4CB1-BDA6-62B476F6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905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1FB6506E-F00F-495B-A81A-6A479D85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57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추가한 행 확인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0D49E98F-2708-4399-B5BA-515DAA3B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8675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추가한 IM- 행 확인</a:t>
            </a:r>
          </a:p>
        </p:txBody>
      </p:sp>
      <p:pic>
        <p:nvPicPr>
          <p:cNvPr id="38" name="capture-context-data-ingestion">
            <a:extLst xmlns:a="http://schemas.openxmlformats.org/drawingml/2006/main">
              <a:ext uri="{FF2B5EF4-FFF2-40B4-BE49-F238E27FC236}">
                <a16:creationId xmlns:a16="http://schemas.microsoft.com/office/drawing/2014/main" id="{3C8B6CF8-F189-4650-982E-659447DC90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5ea860ab44b4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91000" y="2730776"/>
            <a:ext cx="2238375" cy="2958548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8B6CF8-F189-4650-982E-659447DC90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5ea860ab44b42"/>
          <a:srcRect xmlns:a="http://schemas.openxmlformats.org/drawingml/2006/main" l="23000" t="18000" r="3000" b="45000"/>
          <a:stretch xmlns:a="http://schemas.openxmlformats.org/drawingml/2006/main"/>
        </p:blipFill>
        <p:spPr>
          <a:xfrm xmlns:a="http://schemas.openxmlformats.org/drawingml/2006/main">
            <a:off x="7472488" y="2305050"/>
            <a:ext cx="6543424" cy="43243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49A7E425-3413-4398-9DD5-2BB8D1F6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sp>
        <p:nvSpPr>
          <p:cNvPr id="29" name="screenshot-annotation-1">
            <a:extLst xmlns:a="http://schemas.openxmlformats.org/drawingml/2006/main">
              <a:ext uri="{FF2B5EF4-FFF2-40B4-BE49-F238E27FC236}">
                <a16:creationId xmlns:a16="http://schemas.microsoft.com/office/drawing/2014/main" id="{3FF0FD52-19F2-4227-BC40-54C2C150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550" y="323800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8A8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0" name="screenshot-annotation-2">
            <a:extLst xmlns:a="http://schemas.openxmlformats.org/drawingml/2006/main">
              <a:ext uri="{FF2B5EF4-FFF2-40B4-BE49-F238E27FC236}">
                <a16:creationId xmlns:a16="http://schemas.microsoft.com/office/drawing/2014/main" id="{8A40F630-8B2C-4985-A09B-DADC90AF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436" y="562504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8A8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1" name="screenshot-annotation-3">
            <a:extLst xmlns:a="http://schemas.openxmlformats.org/drawingml/2006/main">
              <a:ext uri="{FF2B5EF4-FFF2-40B4-BE49-F238E27FC236}">
                <a16:creationId xmlns:a16="http://schemas.microsoft.com/office/drawing/2014/main" id="{CF10A048-F09D-4773-AA3A-1F1E65D2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5326" y="607477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8A8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2" name="screenshot-annotation-4">
            <a:extLst xmlns:a="http://schemas.openxmlformats.org/drawingml/2006/main">
              <a:ext uri="{FF2B5EF4-FFF2-40B4-BE49-F238E27FC236}">
                <a16:creationId xmlns:a16="http://schemas.microsoft.com/office/drawing/2014/main" id="{E2A11365-5BD4-4BB4-B2EC-5DE7C8DC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426" y="607477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8A8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09A15C-3AF2-4E73-A3F9-A155503C6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8fca12d72405d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4" name="text-22">
            <a:extLst xmlns:a="http://schemas.openxmlformats.org/drawingml/2006/main">
              <a:ext uri="{FF2B5EF4-FFF2-40B4-BE49-F238E27FC236}">
                <a16:creationId xmlns:a16="http://schemas.microsoft.com/office/drawing/2014/main" id="{1EDF757B-1773-45C1-A6D9-D12C64C5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교육용 CSV 실습입니다. 입력 데이터가 그리드에 6개 레코드로 추가됐는지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5AB486-319C-4F4F-8375-6A569CD3DD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e64e136734170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6" name="text-23">
            <a:extLst xmlns:a="http://schemas.openxmlformats.org/drawingml/2006/main">
              <a:ext uri="{FF2B5EF4-FFF2-40B4-BE49-F238E27FC236}">
                <a16:creationId xmlns:a16="http://schemas.microsoft.com/office/drawing/2014/main" id="{F8F7123F-456B-4830-B0F9-114F19E6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3행 × 숫자 지표 2개 = 6개 분석 레코드가 추가됩니다. Temperature·Speed는 교육용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371404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1">
            <a:extLst xmlns:a="http://schemas.openxmlformats.org/drawingml/2006/main">
              <a:ext uri="{FF2B5EF4-FFF2-40B4-BE49-F238E27FC236}">
                <a16:creationId xmlns:a16="http://schemas.microsoft.com/office/drawing/2014/main" id="{9812ECAA-8D67-4DFF-A393-595AFF50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DataNexus  /  03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645EA2E-31D8-4FBF-BDBF-E0A85426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08459-239F-4B32-AD37-C7A62201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B5608C9-1AE5-46DC-A8C1-C06E81D9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DataNexus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DB508FF-A8B5-4BF5-AF13-2DC9ECFA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분석 행 필터와 강조 비교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7980E16-B1A9-4A8B-890E-1F2FE336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파일·지표로 좁혀 결과를 비교하고 내보냅니다.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86839-322E-4ABF-B478-7F63A0E1A2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7533c3de0416e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AC77E1F-6280-4ADD-8F4F-0E0F64B9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A1A01E7-B505-4195-BA2D-61080649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파일과 지표 검색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3FD72266-8D20-451F-908C-B55EF579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manual-process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Temperature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3AA72-A73B-4BE1-9011-9C8F497064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480dc723d43ea"/>
          <a:stretch xmlns:a="http://schemas.openxmlformats.org/drawingml/2006/main"/>
        </p:blipFill>
        <p:spPr>
          <a:xfrm xmlns:a="http://schemas.openxmlformats.org/drawingml/2006/main">
            <a:off x="638175" y="356949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A44DFE0B-732C-44A1-87A3-599D74F6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8859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2BADF637-C9F6-4040-A227-951676CD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4091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화면 강조 기준 읽기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E3CA4100-DB03-4AC5-86C4-DB302D6D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950494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Neon threshold ≥: 80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40A87-62B8-498D-A5EF-9C52220E97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7d435188a4765"/>
          <a:stretch xmlns:a="http://schemas.openxmlformats.org/drawingml/2006/main"/>
        </p:blipFill>
        <p:spPr>
          <a:xfrm xmlns:a="http://schemas.openxmlformats.org/drawingml/2006/main">
            <a:off x="638175" y="4462463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97266105-1E66-4844-8E1E-04C4C0CC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81563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5D0FA961-7BE1-4CFB-B26A-3D1DEE91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433888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값과 상태 비교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BAC600F4-49D5-4680-8D22-1A0FB9DB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43463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Temperature 3행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72.5~74.1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87F9F-1CAB-4B0A-802F-86493C6AED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0a14b62e44364"/>
          <a:stretch xmlns:a="http://schemas.openxmlformats.org/drawingml/2006/main"/>
        </p:blipFill>
        <p:spPr>
          <a:xfrm xmlns:a="http://schemas.openxmlformats.org/drawingml/2006/main">
            <a:off x="638175" y="567928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45148F80-EB98-49C6-9279-A1760586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09838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C61BA7BA-3FC7-48B7-9ED1-CB393057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65070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필터 전체 내보내기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7B05E7F9-6DAB-4600-994C-BE62B21D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060281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CSV 또는 JSON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11E24-2FE1-4E5C-B726-8B02595BB9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ffa954ed44bb7"/>
          <a:stretch xmlns:a="http://schemas.openxmlformats.org/drawingml/2006/main"/>
        </p:blipFill>
        <p:spPr>
          <a:xfrm xmlns:a="http://schemas.openxmlformats.org/drawingml/2006/main">
            <a:off x="638175" y="65722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C1C259A6-CBC4-4830-900C-9C9C60FC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9913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13309C22-ABC2-4DC5-9398-D415379C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436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조건 원복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20F8E6E7-920F-4FA5-8A35-D9BE1E54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953250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Clear → 강조 기준 80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41C046-1AC9-4B37-81D0-50E1B8956F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32f728dc74b7d"/>
          <a:srcRect xmlns:a="http://schemas.openxmlformats.org/drawingml/2006/main" l="22000" t="16000" r="3000" b="12000"/>
          <a:stretch xmlns:a="http://schemas.openxmlformats.org/drawingml/2006/main"/>
        </p:blipFill>
        <p:spPr>
          <a:xfrm xmlns:a="http://schemas.openxmlformats.org/drawingml/2006/main">
            <a:off x="5406672" y="2305050"/>
            <a:ext cx="8008056" cy="43243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8C1A1B88-548C-411C-B997-FD93CA71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848312-3E86-4A27-8733-AD2DB0E74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818f7f1e74a55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0" name="text-22">
            <a:extLst xmlns:a="http://schemas.openxmlformats.org/drawingml/2006/main">
              <a:ext uri="{FF2B5EF4-FFF2-40B4-BE49-F238E27FC236}">
                <a16:creationId xmlns:a16="http://schemas.microsoft.com/office/drawing/2014/main" id="{C07A876B-1759-49DF-9E49-5C89B0AD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강조 기준 80의 실제 필터 결과입니다. 교육용 데이터이며 실제 제조 연결과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구분합니다.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9EE463-B4AF-48F3-9C42-C87CA0EB8B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20f4fbf2649d3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2" name="text-23">
            <a:extLst xmlns:a="http://schemas.openxmlformats.org/drawingml/2006/main">
              <a:ext uri="{FF2B5EF4-FFF2-40B4-BE49-F238E27FC236}">
                <a16:creationId xmlns:a16="http://schemas.microsoft.com/office/drawing/2014/main" id="{CC070240-1B69-4B90-B507-6E68C486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Temperature 3행과 Source·값·Status·Timestamp를 함께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6733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1">
            <a:extLst xmlns:a="http://schemas.openxmlformats.org/drawingml/2006/main">
              <a:ext uri="{FF2B5EF4-FFF2-40B4-BE49-F238E27FC236}">
                <a16:creationId xmlns:a16="http://schemas.microsoft.com/office/drawing/2014/main" id="{E64A68B4-1211-4955-833D-14A2F7F2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DataNexus  /  04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D3E59B4-AB3C-425D-99A5-9D04EF4D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7C4EF-51AD-4C09-AB43-F04DD3F5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A36CB3D-9416-4BB1-B5C9-7A729677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DataNexus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41E8F70-165D-4292-BD5C-13A648F5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관측 결과를 로컬 보고서로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3EF995-FC79-4DCC-B50A-A19ABA0E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입력한 결과와 미연결 한계를 템플릿에 기록합니다.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52982-478D-4A31-B8C0-A03786B682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d62d4e8eb4d11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80276DC1-458E-45A4-8FE0-2D441E8A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54FE75D-A3EE-4AB1-B9E5-EA10E167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제목과 작성자 입력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3142E6CD-2B68-4D1A-BBBA-F9718599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필수 항목 입력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FCCA5-283C-4633-B00D-CC2DA82927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0e95d4f0b4bd3"/>
          <a:stretch xmlns:a="http://schemas.openxmlformats.org/drawingml/2006/main"/>
        </p:blipFill>
        <p:spPr>
          <a:xfrm xmlns:a="http://schemas.openxmlformats.org/drawingml/2006/main">
            <a:off x="638175" y="324564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D331E674-A8B5-470B-AA69-F6C7BD15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474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F0BF08C5-6BAE-4288-BA72-BED91E3F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1706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관측 내용과 제한 기록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90CDFBAA-BDD5-4799-B92F-8ED80DC6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26644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가상 CSV / 미연결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24D23-0C2A-4B2D-8CB4-61EE06F73E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8631df2a541a3"/>
          <a:stretch xmlns:a="http://schemas.openxmlformats.org/drawingml/2006/main"/>
        </p:blipFill>
        <p:spPr>
          <a:xfrm xmlns:a="http://schemas.openxmlformats.org/drawingml/2006/main">
            <a:off x="638175" y="4462463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10EEAB58-3C75-4895-A8B7-F6501B21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81563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88F85DE7-0FDF-4114-B776-264AB8A1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433888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보고서 생성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FA2E6BB1-25C3-48A9-AA64-69B4D413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43463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보고서 생성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69155-B3CC-4798-845C-42E264F7E6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4acd38c2845ef"/>
          <a:stretch xmlns:a="http://schemas.openxmlformats.org/drawingml/2006/main"/>
        </p:blipFill>
        <p:spPr>
          <a:xfrm xmlns:a="http://schemas.openxmlformats.org/drawingml/2006/main">
            <a:off x="638175" y="535543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C48F1B3C-0FDC-475A-A61F-D0EF18FE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7453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74C6069E-7FF7-404F-B2BF-F9C9D203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32685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미리보기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51213098-EC56-4AFC-BA7B-B5D93352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736431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Markdown / Preview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A4072-5168-4E71-84D9-3A39C857E6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33d4daf8c4528"/>
          <a:stretch xmlns:a="http://schemas.openxmlformats.org/drawingml/2006/main"/>
        </p:blipFill>
        <p:spPr>
          <a:xfrm xmlns:a="http://schemas.openxmlformats.org/drawingml/2006/main">
            <a:off x="638175" y="62484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A0E31688-1E61-40D0-B1A6-3A280C03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67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B04AD150-42D4-468A-B062-70CDEF83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198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복사·저장 절차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128E6A87-1A40-47D8-B20E-4F37ED74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629400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Copy MD / Download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.md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E0622F-E933-498B-AE6E-1BC15B07DB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0bbaf85374088"/>
          <a:srcRect xmlns:a="http://schemas.openxmlformats.org/drawingml/2006/main" l="22000" t="14000" r="3000" b="4000"/>
          <a:stretch xmlns:a="http://schemas.openxmlformats.org/drawingml/2006/main"/>
        </p:blipFill>
        <p:spPr>
          <a:xfrm xmlns:a="http://schemas.openxmlformats.org/drawingml/2006/main">
            <a:off x="5897129" y="2305050"/>
            <a:ext cx="7027143" cy="43243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31209D56-851F-48B5-A99A-42025ED7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420824-BEE9-4F7C-B45C-69BD8B301C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c413119c54541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0" name="text-22">
            <a:extLst xmlns:a="http://schemas.openxmlformats.org/drawingml/2006/main">
              <a:ext uri="{FF2B5EF4-FFF2-40B4-BE49-F238E27FC236}">
                <a16:creationId xmlns:a16="http://schemas.microsoft.com/office/drawing/2014/main" id="{D42282D2-9479-4F03-80E7-43305936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로컬 템플릿 보고서입니다. 입력 요약을 보존하며 자동 AI 분석은 수행하지 않습니다.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F4F162-418C-4C53-80FF-CC38F0F276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02344f1774624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2" name="text-23">
            <a:extLst xmlns:a="http://schemas.openxmlformats.org/drawingml/2006/main">
              <a:ext uri="{FF2B5EF4-FFF2-40B4-BE49-F238E27FC236}">
                <a16:creationId xmlns:a16="http://schemas.microsoft.com/office/drawing/2014/main" id="{FD2F3C61-5252-4754-88CB-E23118E5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생성한 보고서의 Preview·Markdown 복사·.md 저장을 확인했습니다.</a:t>
            </a:r>
          </a:p>
        </p:txBody>
      </p:sp>
    </p:spTree>
    <p:extLst>
      <p:ext uri="{BB962C8B-B14F-4D97-AF65-F5344CB8AC3E}">
        <p14:creationId xmlns:p14="http://schemas.microsoft.com/office/powerpoint/2010/main" val="2141035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1">
            <a:extLst xmlns:a="http://schemas.openxmlformats.org/drawingml/2006/main">
              <a:ext uri="{FF2B5EF4-FFF2-40B4-BE49-F238E27FC236}">
                <a16:creationId xmlns:a16="http://schemas.microsoft.com/office/drawing/2014/main" id="{C70B0FA0-D30D-4EEE-96BB-1C34D6D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DataNexus  /  05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8CEF506-6A05-42CC-B7B1-FBCD76E3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36063-F166-406C-B9E6-80F120E2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2A34E7B-E06C-497B-A336-4ADCD24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DataNexus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6F29C6D-8164-474D-8747-982CB75B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제조 연동 근거와 갱신 제어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9907280-A30D-457A-9491-16168935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Kafka·OEE 의존성과 원본 근거를 따로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B9921-6D52-4AF1-A801-AFF23605E0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8f2d3d7e44f58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441E185-1653-4192-8A6F-35C303DB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C8FA3790-1592-49CE-B99A-B89E9844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제조 데이터 연동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DA6C050E-AF3C-46A8-9EC1-073A0B91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Kafka · OEE API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이벤트 수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86BC9-FA1E-4384-9BBE-9116E5682B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0c1ff235449b2"/>
          <a:stretch xmlns:a="http://schemas.openxmlformats.org/drawingml/2006/main"/>
        </p:blipFill>
        <p:spPr>
          <a:xfrm xmlns:a="http://schemas.openxmlformats.org/drawingml/2006/main">
            <a:off x="638175" y="356949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C5D1AFBE-48C0-44CA-BCD4-B4FC36F6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8859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8D667B66-E96E-4C44-9B9F-FF5362CE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4091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계산 근거 읽기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A835DD2A-F5FA-455B-B8A2-2075DF9D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950494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OEE · A/P/Q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Coverage: N/A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434CD-6734-4168-9613-5A516F1CAA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2da1e20e94621"/>
          <a:stretch xmlns:a="http://schemas.openxmlformats.org/drawingml/2006/main"/>
        </p:blipFill>
        <p:spPr>
          <a:xfrm xmlns:a="http://schemas.openxmlformats.org/drawingml/2006/main">
            <a:off x="638175" y="4786313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ECBF1B6A-86C9-4BCD-8000-660321DF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05413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1F549FFF-FE6C-49B3-8F61-3BAFEA3E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757738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화면 자동 갱신 멈춤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E077893B-5F4A-4C66-B021-21AA7CDC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167313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자동 갱신 일시정지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B7C80-304E-44CB-9957-A45B6A6B6A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7dd0e96c9422f"/>
          <a:stretch xmlns:a="http://schemas.openxmlformats.org/drawingml/2006/main"/>
        </p:blipFill>
        <p:spPr>
          <a:xfrm xmlns:a="http://schemas.openxmlformats.org/drawingml/2006/main">
            <a:off x="638175" y="567928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3093DE9-45A7-48D6-B01A-FF2E11CF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09838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533E5656-BD2A-4ECB-94DC-E0657DE8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65070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스냅샷 재조회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F3CCC9AE-0E39-438C-9592-8C8AF2F1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060281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지금 새로고침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9C6287-E9CC-4997-A60E-C98C571A6F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ae9e22fd34dab"/>
          <a:stretch xmlns:a="http://schemas.openxmlformats.org/drawingml/2006/main"/>
        </p:blipFill>
        <p:spPr>
          <a:xfrm xmlns:a="http://schemas.openxmlformats.org/drawingml/2006/main">
            <a:off x="638175" y="65722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EC05C6BD-9734-4ACF-8FC7-01CAE0F1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9913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28210580-3443-4933-A319-195D90C7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436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화면 갱신 재개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D2BEB7C1-9410-4633-8D8F-737A10EE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953250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자동 갱신 재개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654B06-0F24-4A1A-B2FA-1BA9CE3273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a26586f0e491b"/>
          <a:srcRect xmlns:a="http://schemas.openxmlformats.org/drawingml/2006/main" l="18000" t="10000" r="2000" b="29000"/>
          <a:stretch xmlns:a="http://schemas.openxmlformats.org/drawingml/2006/main"/>
        </p:blipFill>
        <p:spPr>
          <a:xfrm xmlns:a="http://schemas.openxmlformats.org/drawingml/2006/main">
            <a:off x="5731663" y="2305050"/>
            <a:ext cx="7358074" cy="43243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C48FAC76-5162-453E-8C9F-781B094A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70699-29BF-4E87-9329-0B13DA433D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6bc5cf27a4628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0" name="text-22">
            <a:extLst xmlns:a="http://schemas.openxmlformats.org/drawingml/2006/main">
              <a:ext uri="{FF2B5EF4-FFF2-40B4-BE49-F238E27FC236}">
                <a16:creationId xmlns:a16="http://schemas.microsoft.com/office/drawing/2014/main" id="{99414EBB-9790-4045-880D-77829014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화면 갱신은 Kafka/OEE 시작·재수집 명령이 아닙니다. 화면 확인 시각과 Source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time을 구분합니다.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4665E2-974B-4928-8190-51EB609777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79ffa45b948d3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2" name="text-23">
            <a:extLst xmlns:a="http://schemas.openxmlformats.org/drawingml/2006/main">
              <a:ext uri="{FF2B5EF4-FFF2-40B4-BE49-F238E27FC236}">
                <a16:creationId xmlns:a16="http://schemas.microsoft.com/office/drawing/2014/main" id="{24143BD9-0D33-4754-A980-683C751D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현재는 의존 서비스 미연결·계산 근거 없음입니다.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N/A는 수치 0%와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3628927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F2B7A587-C316-4E01-A504-89B32649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DataNexus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F73DB3E5-3AA4-4EBD-A617-BC5F44F3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5B9A9-7A79-463F-8699-9F856A16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0EAAAC00-4F86-42A8-BC1A-8F8BA819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DataNexus 사용 매뉴얼  2026.10.25</a:t>
            </a:r>
          </a:p>
        </p:txBody>
      </p:sp>
      <p:sp>
        <p:nvSpPr>
          <p:cNvPr id="5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7984169F-B44B-4E5C-93E7-36B6AC83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402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상세 절차와 다음 확인</a:t>
            </a:r>
          </a:p>
        </p:txBody>
      </p:sp>
      <p:sp>
        <p:nvSpPr>
          <p:cNvPr id="6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4FA850F2-ABF1-4750-B492-1C4D3C74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슬라이드의 조작 순서를 상세 원문과 함께 사용할 수 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F873F-5F91-453F-BB99-72EEDD79FF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0ff40144f4c5a"/>
          <a:stretch xmlns:a="http://schemas.openxmlformats.org/drawingml/2006/main"/>
        </p:blipFill>
        <p:spPr>
          <a:xfrm xmlns:a="http://schemas.openxmlformats.org/drawingml/2006/main">
            <a:off x="685800" y="2800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8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71E99C23-C868-4398-A78E-78879B50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6225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솔루션별 Markdown</a:t>
            </a:r>
          </a:p>
        </p:txBody>
      </p:sp>
      <p:sp>
        <p:nvSpPr>
          <p:cNvPr id="9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5830F47D-6AEA-423D-936B-C55AEEFA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81375"/>
            <a:ext cx="1276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chapters/05-data.md  /  전체 단계·기대 결과·문제 해결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0BA9A-B65C-4132-88EB-8E9691532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21f3c1d964682"/>
          <a:stretch xmlns:a="http://schemas.openxmlformats.org/drawingml/2006/main"/>
        </p:blipFill>
        <p:spPr>
          <a:xfrm xmlns:a="http://schemas.openxmlformats.org/drawingml/2006/main">
            <a:off x="685800" y="45720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1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1012038D-B889-4889-AFD5-65583850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원본 값과 근거 확인</a:t>
            </a:r>
          </a:p>
        </p:txBody>
      </p:sp>
      <p:sp>
        <p:nvSpPr>
          <p:cNvPr id="12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05B1EFE6-5634-4799-8715-AB36FB8C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53025"/>
            <a:ext cx="1276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품질·원본 시각·데모 모드와 미연결 상태를 함께 확인합니다.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D030B-C208-4BF8-9198-6277F1F521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27d28e6634f9e"/>
          <a:stretch xmlns:a="http://schemas.openxmlformats.org/drawingml/2006/main"/>
        </p:blipFill>
        <p:spPr>
          <a:xfrm xmlns:a="http://schemas.openxmlformats.org/drawingml/2006/main">
            <a:off x="685800" y="63341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4" name="extra-text-9">
            <a:extLst xmlns:a="http://schemas.openxmlformats.org/drawingml/2006/main">
              <a:ext uri="{FF2B5EF4-FFF2-40B4-BE49-F238E27FC236}">
                <a16:creationId xmlns:a16="http://schemas.microsoft.com/office/drawing/2014/main" id="{212508A9-FBF1-4DBF-96B4-3A5C5319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96025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포트폴리오 사용 안내</a:t>
            </a:r>
          </a:p>
        </p:txBody>
      </p:sp>
      <p:sp>
        <p:nvSpPr>
          <p:cNvPr id="15" name="extra-text-10">
            <a:extLst xmlns:a="http://schemas.openxmlformats.org/drawingml/2006/main">
              <a:ext uri="{FF2B5EF4-FFF2-40B4-BE49-F238E27FC236}">
                <a16:creationId xmlns:a16="http://schemas.microsoft.com/office/drawing/2014/main" id="{2F896AE4-81DA-40F2-9431-ED548736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915150"/>
            <a:ext cx="1276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950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7658A8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1b2d63a65e094a3e"/>
              </a:rPr>
              <a:t>https://dubukimch.github.io/manual-data.html</a:t>
            </a:r>
          </a:p>
        </p:txBody>
      </p:sp>
    </p:spTree>
    <p:extLst>
      <p:ext uri="{BB962C8B-B14F-4D97-AF65-F5344CB8AC3E}">
        <p14:creationId xmlns:p14="http://schemas.microsoft.com/office/powerpoint/2010/main" val="1099494276"/>
      </p:ext>
    </p:extLst>
  </p:cSld>
</p:sld>
</file>

<file path=ppt/theme/source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source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8</ap:Slides>
  <ap:Notes>0</ap:Notes>
  <ap:HiddenSlides>0</ap:HiddenSlides>
  <ap:SharedDoc>false</ap:SharedDoc>
  <ap:DocSecurity>0</ap:DocSecurity>
</ap:Properties>
</file>

<file path=docProps/source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2026-10-24T02:40:07.4580000Z</dcterms:created>
  <dcterms:modified xsi:type="dcterms:W3CDTF">2026-10-24T02:40:07.4580000Z</dcterms:modified>
</coreProperties>
</file>