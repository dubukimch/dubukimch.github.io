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entation.xml" ContentType="application/vnd.openxmlformats-officedocument.presentationml.presentation.main+xml"/>
  <Override PartName="/ppt/theme/source_theme1.xml" ContentType="application/vnd.openxmlformats-officedocument.theme+xml"/>
  <Override PartName="/ppt/slideMasters/source_slideMaster1.xml" ContentType="application/vnd.openxmlformats-officedocument.presentationml.slideMaster+xml"/>
  <Override PartName="/ppt/slideMasters/theme/source_theme2.xml" ContentType="application/vnd.openxmlformats-officedocument.theme+xml"/>
  <Override PartName="/ppt/slideLayouts/source_slideLayout1.xml" ContentType="application/vnd.openxmlformats-officedocument.presentationml.slideLayout+xml"/>
  <Override PartName="/ppt/slideLayouts/source_slideLayout2.xml" ContentType="application/vnd.openxmlformats-officedocument.presentationml.slideLayout+xml"/>
  <Override PartName="/ppt/slideLayouts/source_slideLayout3.xml" ContentType="application/vnd.openxmlformats-officedocument.presentationml.slideLayout+xml"/>
  <Override PartName="/ppt/slideLayouts/source_slideLayout4.xml" ContentType="application/vnd.openxmlformats-officedocument.presentationml.slideLayout+xml"/>
  <Override PartName="/ppt/slideLayouts/source_slideLayout5.xml" ContentType="application/vnd.openxmlformats-officedocument.presentationml.slideLayout+xml"/>
  <Override PartName="/ppt/slideLayouts/source_slideLayout6.xml" ContentType="application/vnd.openxmlformats-officedocument.presentationml.slideLayout+xml"/>
  <Override PartName="/ppt/notesMasters/source_notesMaster1.xml" ContentType="application/vnd.openxmlformats-officedocument.presentationml.notesMaster+xml"/>
  <Override PartName="/ppt/notesMasters/theme/source_theme3.xml" ContentType="application/vnd.openxmlformats-officedocument.theme+xml"/>
  <Override PartName="/ppt/source_presProps.xml" ContentType="application/vnd.openxmlformats-officedocument.presentationml.presProps+xml"/>
  <Override PartName="/ppt/source_tableStyles.xml" ContentType="application/vnd.openxmlformats-officedocument.presentationml.tableStyles+xml"/>
  <Override PartName="/ppt/slideLayouts/extra_slideLayout6.xml" ContentType="application/vnd.openxmlformats-officedocument.presentationml.slideLayout+xml"/>
  <Override PartName="/ppt/slideMasters/extra_slideMaster1.xml" ContentType="application/vnd.openxmlformats-officedocument.presentationml.slideMaster+xml"/>
  <Override PartName="/ppt/slideMasters/theme/extra_theme2.xml" ContentType="application/vnd.openxmlformats-officedocument.theme+xml"/>
  <Override PartName="/ppt/slideLayouts/extra_slideLayout1.xml" ContentType="application/vnd.openxmlformats-officedocument.presentationml.slideLayout+xml"/>
  <Override PartName="/ppt/slideLayouts/extra_slideLayout2.xml" ContentType="application/vnd.openxmlformats-officedocument.presentationml.slideLayout+xml"/>
  <Override PartName="/ppt/slideLayouts/extra_slideLayout3.xml" ContentType="application/vnd.openxmlformats-officedocument.presentationml.slideLayout+xml"/>
  <Override PartName="/ppt/slideLayouts/extra_slideLayout4.xml" ContentType="application/vnd.openxmlformats-officedocument.presentationml.slideLayout+xml"/>
  <Override PartName="/ppt/slideLayouts/extra_slideLayout5.xml" ContentType="application/vnd.openxmlformats-officedocument.presentationml.slideLayout+xml"/>
  <Override PartName="/ppt/notesSlides/extra_notesSlide4.xml" ContentType="application/vnd.openxmlformats-officedocument.presentationml.notesSlide+xml"/>
  <Override PartName="/ppt/notesMasters/extra_notesMaster1.xml" ContentType="application/vnd.openxmlformats-officedocument.presentationml.notesMaster+xml"/>
  <Override PartName="/ppt/notesMasters/theme/extra_theme3.xml" ContentType="application/vnd.openxmlformats-officedocument.theme+xml"/>
  <Override PartName="/ppt/notesSlides/extra_notesSlide5.xml" ContentType="application/vnd.openxmlformats-officedocument.presentationml.notesSlide+xml"/>
  <Override PartName="/ppt/notesSlides/source_notesSlide13.xml" ContentType="application/vnd.openxmlformats-officedocument.presentationml.notesSlide+xml"/>
  <Override PartName="/ppt/notesSlides/source_notesSlide14.xml" ContentType="application/vnd.openxmlformats-officedocument.presentationml.notesSlide+xml"/>
  <Override PartName="/ppt/notesSlides/source_notesSlide15.xml" ContentType="application/vnd.openxmlformats-officedocument.presentationml.notesSlide+xml"/>
  <Override PartName="/ppt/notesSlides/source_notesSlide16.xml" ContentType="application/vnd.openxmlformats-officedocument.presentationml.notesSlide+xml"/>
  <Override PartName="/ppt/notesSlides/extra_notesSlide6.xml" ContentType="application/vnd.openxmlformats-officedocument.presentationml.notesSlide+xml"/>
  <Override PartName="/docProps/source_app.xml" ContentType="application/vnd.openxmlformats-officedocument.extended-properties+xml"/>
</Types>
</file>

<file path=_rels/.rels><?xml version='1.0' encoding='UTF-8' standalone='yes'?>
<Relationships xmlns="http://schemas.openxmlformats.org/package/2006/relationships"><Relationship Type="http://schemas.openxmlformats.org/package/2006/relationships/metadata/core-properties" Target="docProps/source_core.xml" Id="R5b3c5ac7032f4f82"/><Relationship Type="http://schemas.openxmlformats.org/officeDocument/2006/relationships/extended-properties" Target="docProps/source_app.xml" Id="Rb1b1fc5132834f1f"/><Relationship Type="http://schemas.openxmlformats.org/officeDocument/2006/relationships/officeDocument" Target="ppt/presentation.xml" Id="Re43eb32cc6894ac1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112f63f21cf4c05"/>
    <p:sldMasterId xmlns:r="http://schemas.openxmlformats.org/officeDocument/2006/relationships" id="2147483649" r:id="rId8"/>
  </p:sldMasterIdLst>
  <p:notesMasterIdLst>
    <p:notesMasterId xmlns:r="http://schemas.openxmlformats.org/officeDocument/2006/relationships" r:id="R5de2ceb46f584637"/>
    <p:notesMasterId xmlns:r="http://schemas.openxmlformats.org/officeDocument/2006/relationships" r:id="rId9"/>
  </p:notesMasterIdLst>
  <p:sldIdLst>
    <p:sldId xmlns:ns0="http://schemas.openxmlformats.org/officeDocument/2006/relationships" id="256" ns0:id="rId1"/>
    <p:sldId xmlns:ns1="http://schemas.openxmlformats.org/officeDocument/2006/relationships" id="257" ns1:id="rId2"/>
    <p:sldId xmlns:ns2="http://schemas.openxmlformats.org/officeDocument/2006/relationships" id="258" ns2:id="rId3"/>
    <p:sldId xmlns:ns3="http://schemas.openxmlformats.org/officeDocument/2006/relationships" id="259" ns3:id="rId4"/>
    <p:sldId xmlns:ns4="http://schemas.openxmlformats.org/officeDocument/2006/relationships" id="260" ns4:id="rId5"/>
    <p:sldId xmlns:ns5="http://schemas.openxmlformats.org/officeDocument/2006/relationships" id="261" ns5:id="rId6"/>
    <p:sldId xmlns:ns6="http://schemas.openxmlformats.org/officeDocument/2006/relationships" id="262" ns6:id="rId7"/>
  </p:sldIdLst>
  <p:sldSz cx="15240000" cy="8572500"/>
  <p:notesSz cx="6858000" cy="9144000"/>
</p:presentation>
</file>

<file path=ppt/source_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source_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theme/source_theme1.xml" Id="R45b96b3d753b4a86"/><Relationship Type="http://schemas.openxmlformats.org/officeDocument/2006/relationships/slideMaster" Target="slideMasters/source_slideMaster1.xml" Id="Rf112f63f21cf4c05"/><Relationship Type="http://schemas.openxmlformats.org/officeDocument/2006/relationships/notesMaster" Target="notesMasters/source_notesMaster1.xml" Id="R5de2ceb46f584637"/><Relationship Type="http://schemas.openxmlformats.org/officeDocument/2006/relationships/presProps" Target="source_presProps.xml" Id="Rdaa320f98332448e"/><Relationship Type="http://schemas.openxmlformats.org/officeDocument/2006/relationships/tableStyles" Target="source_tableStyles.xml" Id="R02321799aef248d6"/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Master" Target="slideMasters/extra_slideMaster1.xml"/><Relationship Id="rId9" Type="http://schemas.openxmlformats.org/officeDocument/2006/relationships/notesMaster" Target="notesMasters/extra_notesMaster1.xml"/></Relationships>
</file>

<file path=ppt/notesMasters/_rels/extra_notesMaster1.xml.rels><?xml version='1.0' encoding='UTF-8' standalone='yes'?>
<Relationships xmlns="http://schemas.openxmlformats.org/package/2006/relationships"><Relationship Type="http://schemas.openxmlformats.org/officeDocument/2006/relationships/theme" Target="theme/extra_theme3.xml" Id="R201cf8d9ed664539"/></Relationships>
</file>

<file path=ppt/notesMasters/_rels/source_notesMaster1.xml.rels><?xml version='1.0' encoding='UTF-8' standalone='yes'?>
<Relationships xmlns="http://schemas.openxmlformats.org/package/2006/relationships"><Relationship Type="http://schemas.openxmlformats.org/officeDocument/2006/relationships/theme" Target="theme/source_theme3.xml" Id="R7f8d146e9f2b48fd"/></Relationships>
</file>

<file path=ppt/notesMasters/extra_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source_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extra_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Masters/theme/source_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extra_notesSlide4.xml.rels><?xml version='1.0' encoding='UTF-8' standalone='yes'?>
<Relationships xmlns="http://schemas.openxmlformats.org/package/2006/relationships"><Relationship Type="http://schemas.openxmlformats.org/officeDocument/2006/relationships/slide" Target="../slides/slide1.xml" Id="R26a43269e46d4ecd"/><Relationship Type="http://schemas.openxmlformats.org/officeDocument/2006/relationships/notesMaster" Target="../notesMasters/extra_notesMaster1.xml" Id="R26dba2ba58d64bc6"/></Relationships>
</file>

<file path=ppt/notesSlides/_rels/extra_notesSlide5.xml.rels><?xml version='1.0' encoding='UTF-8' standalone='yes'?>
<Relationships xmlns="http://schemas.openxmlformats.org/package/2006/relationships"><Relationship Type="http://schemas.openxmlformats.org/officeDocument/2006/relationships/slide" Target="../slides/slide2.xml" Id="R2d9e322e7570403a"/><Relationship Type="http://schemas.openxmlformats.org/officeDocument/2006/relationships/notesMaster" Target="../notesMasters/extra_notesMaster1.xml" Id="R200f793860c64dee"/></Relationships>
</file>

<file path=ppt/notesSlides/_rels/extra_notesSlide6.xml.rels><?xml version='1.0' encoding='UTF-8' standalone='yes'?>
<Relationships xmlns="http://schemas.openxmlformats.org/package/2006/relationships"><Relationship Type="http://schemas.openxmlformats.org/officeDocument/2006/relationships/slide" Target="../slides/slide7.xml" Id="R0b107bbb866842fa"/><Relationship Type="http://schemas.openxmlformats.org/officeDocument/2006/relationships/notesMaster" Target="../notesMasters/extra_notesMaster1.xml" Id="R07b6c0578ea54e4a"/></Relationships>
</file>

<file path=ppt/notesSlides/_rels/source_notesSlide13.xml.rels><?xml version='1.0' encoding='UTF-8' standalone='yes'?>
<Relationships xmlns="http://schemas.openxmlformats.org/package/2006/relationships"><Relationship Type="http://schemas.openxmlformats.org/officeDocument/2006/relationships/slide" Target="../slides/slide3.xml" Id="R4f82d4b3b1b24131"/><Relationship Type="http://schemas.openxmlformats.org/officeDocument/2006/relationships/notesMaster" Target="../notesMasters/source_notesMaster1.xml" Id="R1d317cfd77f54ef2"/></Relationships>
</file>

<file path=ppt/notesSlides/_rels/source_notesSlide14.xml.rels><?xml version='1.0' encoding='UTF-8' standalone='yes'?>
<Relationships xmlns="http://schemas.openxmlformats.org/package/2006/relationships"><Relationship Type="http://schemas.openxmlformats.org/officeDocument/2006/relationships/slide" Target="../slides/slide4.xml" Id="Rbf16d3cc32f8470f"/><Relationship Type="http://schemas.openxmlformats.org/officeDocument/2006/relationships/notesMaster" Target="../notesMasters/source_notesMaster1.xml" Id="R5dda1e3d36834a78"/></Relationships>
</file>

<file path=ppt/notesSlides/_rels/source_notesSlide15.xml.rels><?xml version='1.0' encoding='UTF-8' standalone='yes'?>
<Relationships xmlns="http://schemas.openxmlformats.org/package/2006/relationships"><Relationship Type="http://schemas.openxmlformats.org/officeDocument/2006/relationships/slide" Target="../slides/slide5.xml" Id="Rb95f0e438de24dcc"/><Relationship Type="http://schemas.openxmlformats.org/officeDocument/2006/relationships/notesMaster" Target="../notesMasters/source_notesMaster1.xml" Id="R392c901b5d864f60"/></Relationships>
</file>

<file path=ppt/notesSlides/_rels/source_notesSlide16.xml.rels><?xml version='1.0' encoding='UTF-8' standalone='yes'?>
<Relationships xmlns="http://schemas.openxmlformats.org/package/2006/relationships"><Relationship Type="http://schemas.openxmlformats.org/officeDocument/2006/relationships/slide" Target="../slides/slide6.xml" Id="R4bbbda3df2df4332"/><Relationship Type="http://schemas.openxmlformats.org/officeDocument/2006/relationships/notesMaster" Target="../notesMasters/source_notesMaster1.xml" Id="R1a94f49413d2402a"/></Relationships>
</file>

<file path=ppt/notesSlides/extra_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"source": "data/02-gateway.json",</a:t>
            </a:r>
          </a:p>
          <a:p xmlns:a="http://schemas.openxmlformats.org/drawingml/2006/main">
            <a:r>
              <a:t>  "scope": "ConfigUI에서 수집 구성을 확인하고 채널 입력 양식을 검토하며 목록 검색·새로고침과 Gateway/OPC UA 상태를 점검합니다. 현재 실습은 UI의 임시 메모리 저장소를 사용합니다. backend http://127.0.0.1:5191 과 실제 OPC UA 수집은 사용 불가 상태이므로 생산 수집 정상 상태로 간주하지 않습니다.",</a:t>
            </a:r>
          </a:p>
          <a:p xmlns:a="http://schemas.openxmlformats.org/drawingml/2006/main">
            <a:r>
              <a:t>  "prerequisites": [</a:t>
            </a:r>
          </a:p>
          <a:p xmlns:a="http://schemas.openxmlformats.org/drawingml/2006/main">
            <a:r>
              <a:t>    "로컬 ConfigUI http://127.0.0.1:5181/ 가 실행 중이어야 합니다.",</a:t>
            </a:r>
          </a:p>
          <a:p xmlns:a="http://schemas.openxmlformats.org/drawingml/2006/main">
            <a:r>
              <a:t>    "현재 화면의 '임시 메모리 저장소'는 MySQL 미연결 상태입니다. 여기서 저장한 설정은 재시작 시 사라질 수 있습니다.",</a:t>
            </a:r>
          </a:p>
          <a:p xmlns:a="http://schemas.openxmlformats.org/drawingml/2006/main">
            <a:r>
              <a:t>    "UI에 접근할 수 있다는 사실과 Gateway backend·OPC UA 연결 성공은 별개입니다. 현재 backend :5191은 사용 불가입니다.",</a:t>
            </a:r>
          </a:p>
          <a:p xmlns:a="http://schemas.openxmlformats.org/drawingml/2006/main">
            <a:r>
              <a:t>    "아래 채널 실습은 격리된 임시 메모리 UI에 교육용 채널 하나를 저장합니다. 실제 장치 주소, 운영 설정 또는 인증서를 변경하지 않습니다."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"sourceCapturePreserved": true,</a:t>
            </a:r>
          </a:p>
          <a:p xmlns:a="http://schemas.openxmlformats.org/drawingml/2006/main">
            <a:r>
              <a:t>  "edition": "2026-10-25"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extra_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"source": "data/02-gateway.json",</a:t>
            </a:r>
          </a:p>
          <a:p xmlns:a="http://schemas.openxmlformats.org/drawingml/2006/main">
            <a:r>
              <a:t>  "scope": "ConfigUI에서 수집 구성을 확인하고 채널 입력 양식을 검토하며 목록 검색·새로고침과 Gateway/OPC UA 상태를 점검합니다. 현재 실습은 UI의 임시 메모리 저장소를 사용합니다. backend http://127.0.0.1:5191 과 실제 OPC UA 수집은 사용 불가 상태이므로 생산 수집 정상 상태로 간주하지 않습니다.",</a:t>
            </a:r>
          </a:p>
          <a:p xmlns:a="http://schemas.openxmlformats.org/drawingml/2006/main">
            <a:r>
              <a:t>  "prerequisites": [</a:t>
            </a:r>
          </a:p>
          <a:p xmlns:a="http://schemas.openxmlformats.org/drawingml/2006/main">
            <a:r>
              <a:t>    "로컬 ConfigUI http://127.0.0.1:5181/ 가 실행 중이어야 합니다.",</a:t>
            </a:r>
          </a:p>
          <a:p xmlns:a="http://schemas.openxmlformats.org/drawingml/2006/main">
            <a:r>
              <a:t>    "현재 화면의 '임시 메모리 저장소'는 MySQL 미연결 상태입니다. 여기서 저장한 설정은 재시작 시 사라질 수 있습니다.",</a:t>
            </a:r>
          </a:p>
          <a:p xmlns:a="http://schemas.openxmlformats.org/drawingml/2006/main">
            <a:r>
              <a:t>    "UI에 접근할 수 있다는 사실과 Gateway backend·OPC UA 연결 성공은 별개입니다. 현재 backend :5191은 사용 불가입니다.",</a:t>
            </a:r>
          </a:p>
          <a:p xmlns:a="http://schemas.openxmlformats.org/drawingml/2006/main">
            <a:r>
              <a:t>    "아래 채널 실습은 격리된 임시 메모리 UI에 교육용 채널 하나를 저장합니다. 실제 장치 주소, 운영 설정 또는 인증서를 변경하지 않습니다."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"url": "http://127.0.0.1:5181/"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extra_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"source": "data/02-gateway.json",</a:t>
            </a:r>
          </a:p>
          <a:p xmlns:a="http://schemas.openxmlformats.org/drawingml/2006/main">
            <a:r>
              <a:t>  "scope": "ConfigUI에서 수집 구성을 확인하고 채널 입력 양식을 검토하며 목록 검색·새로고침과 Gateway/OPC UA 상태를 점검합니다. 현재 실습은 UI의 임시 메모리 저장소를 사용합니다. backend http://127.0.0.1:5191 과 실제 OPC UA 수집은 사용 불가 상태이므로 생산 수집 정상 상태로 간주하지 않습니다.",</a:t>
            </a:r>
          </a:p>
          <a:p xmlns:a="http://schemas.openxmlformats.org/drawingml/2006/main">
            <a:r>
              <a:t>  "sources": [</a:t>
            </a:r>
          </a:p>
          <a:p xmlns:a="http://schemas.openxmlformats.org/drawingml/2006/main">
            <a:r>
              <a:t>    "IIoT.Gateway.Solution/IIoT.Gateway.Solution/IIoT.ConfigUI/Pages/DataAccess.razor",</a:t>
            </a:r>
          </a:p>
          <a:p xmlns:a="http://schemas.openxmlformats.org/drawingml/2006/main">
            <a:r>
              <a:t>    "IIoT.Gateway.Solution/IIoT.Gateway.Solution/IIoT.ConfigUI/Pages/Monitoring.razor",</a:t>
            </a:r>
          </a:p>
          <a:p xmlns:a="http://schemas.openxmlformats.org/drawingml/2006/main">
            <a:r>
              <a:t>    "IIoT.Gateway.Solution/IIoT.Gateway.Solution/IIoT.ConfigUI/Shared/MainLayout.razor",</a:t>
            </a:r>
          </a:p>
          <a:p xmlns:a="http://schemas.openxmlformats.org/drawingml/2006/main">
            <a:r>
              <a:t>    "IIoT.Gateway.Solution/IIoT.Gateway.Solution/IIoT.ConfigUI/Services/GatewayStorageStatus.cs",</a:t>
            </a:r>
          </a:p>
          <a:p xmlns:a="http://schemas.openxmlformats.org/drawingml/2006/main">
            <a:r>
              <a:t>    "IIoT.Gateway.Solution/IIoT.Gateway.Solution/IIoT.Domain/Models/Channel.cs"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"iconLicense": "assets/design/LICENSE-Lucide.txt",</a:t>
            </a:r>
          </a:p>
          <a:p xmlns:a="http://schemas.openxmlformats.org/drawingml/2006/main">
            <a:r>
              <a:t>  "onlineGuide": "https://dubukimch.github.io/manual-gateway.html",</a:t>
            </a:r>
          </a:p>
          <a:p xmlns:a="http://schemas.openxmlformats.org/drawingml/2006/main">
            <a:r>
              <a:t>  "onlineStatus": "Publication is verified separately"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source_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원본: data/02-gateway.json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시작 주소: http://127.0.0.1:5181/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"gateway-overview",</a:t>
            </a:r>
          </a:p>
          <a:p xmlns:a="http://schemas.openxmlformats.org/drawingml/2006/main">
            <a:r>
              <a:t>  "title": "Data Access 구성 현황과 저장소 상태 확인",</a:t>
            </a:r>
          </a:p>
          <a:p xmlns:a="http://schemas.openxmlformats.org/drawingml/2006/main">
            <a:r>
              <a:t>  "goal": "채널·설비·태그 카운트가 무엇을 의미하는지 구분하고 임시 저장 여부를 확인합니다.",</a:t>
            </a:r>
          </a:p>
          <a:p xmlns:a="http://schemas.openxmlformats.org/drawingml/2006/main">
            <a:r>
              <a:t>  "steps": [</a:t>
            </a:r>
          </a:p>
          <a:p xmlns:a="http://schemas.openxmlformats.org/drawingml/2006/main">
            <a:r>
              <a:t>    "http://127.0.0.1:5181/ 에 접속한 뒤 왼쪽 'Data Access'를 누릅니다.",</a:t>
            </a:r>
          </a:p>
          <a:p xmlns:a="http://schemas.openxmlformats.org/drawingml/2006/main">
            <a:r>
              <a:t>    "화면 위 '임시 메모리 저장소' 안내를 읽습니다. 이 안내가 보이는 실습에서는 MySQL 영구 저장이 이루어지지 않습니다.",</a:t>
            </a:r>
          </a:p>
          <a:p xmlns:a="http://schemas.openxmlformats.org/drawingml/2006/main">
            <a:r>
              <a:t>    "CHANNELS, DEVICES, TAGS, VALIDATION 카드를 확인합니다. DEVICES와 TAGS는 현재 불러온 데이터 범위의 카운트입니다.",</a:t>
            </a:r>
          </a:p>
          <a:p xmlns:a="http://schemas.openxmlformats.org/drawingml/2006/main">
            <a:r>
              <a:t>    "아래 목록에서 Channel Name, Communication, Description, Status, Enable을 읽습니다. 등록 또는 Enable만으로 수집 성공을 판정하지 않습니다.",</a:t>
            </a:r>
          </a:p>
          <a:p xmlns:a="http://schemas.openxmlformats.org/drawingml/2006/main">
            <a:r>
              <a:t>    "원복: 이 조회는 설정을 변경하지 않습니다. 다른 메뉴에서 돌아올 때는 'Data Access'를 다시 누릅니다."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"expected": "현재 저장소에서 읽은 구성과 검증 항목 수가 표시됩니다. 빈 목록은 구성 없음 상태이며 실제 PLC가 연결되었다는 뜻이 아닙니다.",</a:t>
            </a:r>
          </a:p>
          <a:p xmlns:a="http://schemas.openxmlformats.org/drawingml/2006/main">
            <a:r>
              <a:t>  "troubleshooting": [</a:t>
            </a:r>
          </a:p>
          <a:p xmlns:a="http://schemas.openxmlformats.org/drawingml/2006/main">
            <a:r>
              <a:t>    "화면 연결 오류가 나오면 ConfigUI 서버와 :5181 주소를 확인합니다.",</a:t>
            </a:r>
          </a:p>
          <a:p xmlns:a="http://schemas.openxmlformats.org/drawingml/2006/main">
            <a:r>
              <a:t>    "임시 메모리 안내가 보이면 운영 구성 저장에 사용하지 않고 MySQL 연결을 담당자가 별도로 복구해야 합니다."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"verified": true,</a:t>
            </a:r>
          </a:p>
          <a:p xmlns:a="http://schemas.openxmlformats.org/drawingml/2006/main">
            <a:r>
              <a:t>  "screenshot": "assets/screenshots/gateway-overview.jpg",</a:t>
            </a:r>
          </a:p>
          <a:p xmlns:a="http://schemas.openxmlformats.org/drawingml/2006/main">
            <a:r>
              <a:t>  "evidence": {</a:t>
            </a:r>
          </a:p>
          <a:p xmlns:a="http://schemas.openxmlformats.org/drawingml/2006/main">
            <a:r>
              <a:t>    "capturedAtUtc": "2026-10-23T17:01:33.422Z",</a:t>
            </a:r>
          </a:p>
          <a:p xmlns:a="http://schemas.openxmlformats.org/drawingml/2006/main">
            <a:r>
              <a:t>    "url": "http://127.0.0.1:5181/",</a:t>
            </a:r>
          </a:p>
          <a:p xmlns:a="http://schemas.openxmlformats.org/drawingml/2006/main">
            <a:r>
              <a:t>    "observed": "Data Access 초기 구성 화면과 임시 메모리 저장 안내 확인",</a:t>
            </a:r>
          </a:p>
          <a:p xmlns:a="http://schemas.openxmlformats.org/drawingml/2006/main">
            <a:r>
              <a:t>    "sha256": "225bf3e1cee604e29f5488e10abfa2f2781150a04abe0ca94d01f09366ee2e57"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아이콘: Lucide. 원본 및 라이선스 assets/design/icon-provenance.json, LICENSE-Lucide.txt.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IIoT.Gateway.Solution/IIoT.Gateway.Solution/IIoT.ConfigUI/Pages/DataAccess.razor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IIoT.Gateway.Solution/IIoT.Gateway.Solution/IIoT.ConfigUI/Pages/Monitoring.razor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IIoT.Gateway.Solution/IIoT.Gateway.Solution/IIoT.ConfigUI/Shared/MainLayout.razor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IIoT.Gateway.Solution/IIoT.Gateway.Solution/IIoT.ConfigUI/Services/GatewayStorageStatus.cs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IIoT.Gateway.Solution/IIoT.Gateway.Solution/IIoT.Domain/Models/Channel.cs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source_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원본: data/02-gateway.json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시작 주소: http://127.0.0.1:5181/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"gateway-channel",</a:t>
            </a:r>
          </a:p>
          <a:p xmlns:a="http://schemas.openxmlformats.org/drawingml/2006/main">
            <a:r>
              <a:t>  "title": "교육용 Modbus 채널 저장과 목록 확인",</a:t>
            </a:r>
          </a:p>
          <a:p xmlns:a="http://schemas.openxmlformats.org/drawingml/2006/main">
            <a:r>
              <a:t>  "goal": "격리된 임시 메모리 저장소에 채널을 등록하고 등록과 실제 연결의 차이를 확인합니다.",</a:t>
            </a:r>
          </a:p>
          <a:p xmlns:a="http://schemas.openxmlformats.org/drawingml/2006/main">
            <a:r>
              <a:t>  "steps": [</a:t>
            </a:r>
          </a:p>
          <a:p xmlns:a="http://schemas.openxmlformats.org/drawingml/2006/main">
            <a:r>
              <a:t>    "'Data Access'의 Channel List에서 'Add Channel'을 누릅니다.",</a:t>
            </a:r>
          </a:p>
          <a:p xmlns:a="http://schemas.openxmlformats.org/drawingml/2006/main">
            <a:r>
              <a:t>    "'Channel Name'에 기존 이름과 겹치지 않는 'Manual_Modbus'를 입력합니다. 중복 이름은 OPC UA NodeID 충돌 안내가 표시됩니다.",</a:t>
            </a:r>
          </a:p>
          <a:p xmlns:a="http://schemas.openxmlformats.org/drawingml/2006/main">
            <a:r>
              <a:t>    "'Communication'은 기본값 'Modbus TCP'로 유지하고 'Description'에 '매뉴얼 실습용 임시 구성. 실제 PLC 연결 없음.'을 입력합니다.",</a:t>
            </a:r>
          </a:p>
          <a:p xmlns:a="http://schemas.openxmlformats.org/drawingml/2006/main">
            <a:r>
              <a:t>    "'Driver Parameters JSON'에 '{}'를 입력하고 'Save'를 누릅니다. 이 빈 객체는 등록 실습용이며 실제 드라이버 연결에 충분한 설정이 아닙니다.",</a:t>
            </a:r>
          </a:p>
          <a:p xmlns:a="http://schemas.openxmlformats.org/drawingml/2006/main">
            <a:r>
              <a:t>    "Channel List에 Manual_Modbus가 추가되고 CHANNELS 및 전체 항목 수가 1 증가했는지 확인합니다. 빈 저장소에서 시작한 캡처는 1 / 1 항목입니다. 원복: 실습 종료 시 이 교육용 채널의 삭제 아이콘을 눌러 확인창에서 삭제를 확정합니다. 저장 전 취소하려면 Cancel을 사용합니다."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"expected": "교육용 채널 한 개가 현재 임시 메모리 목록에 저장됩니다. 새 채널 기본 상태는 Modbus TCP, Enabled=true, Status=Stopped입니다. 등록만으로 실제 PLC/OPC UA가 연결되지는 않습니다.",</a:t>
            </a:r>
          </a:p>
          <a:p xmlns:a="http://schemas.openxmlformats.org/drawingml/2006/main">
            <a:r>
              <a:t>  "troubleshooting": [</a:t>
            </a:r>
          </a:p>
          <a:p xmlns:a="http://schemas.openxmlformats.org/drawingml/2006/main">
            <a:r>
              <a:t>    "중복 오류가 보이면 다른 고유 이름을 입력합니다. 기존 채널 이름을 바꾸어 해결하지 않습니다.",</a:t>
            </a:r>
          </a:p>
          <a:p xmlns:a="http://schemas.openxmlformats.org/drawingml/2006/main">
            <a:r>
              <a:t>    "이 실습의 Save는 임시 UI 구성을 변경합니다. 운영 저장소에서는 같은 실습을 반복하지 않습니다. 현재 임시 메모리 저장소의 설정은 재시작 후 지속되지 않을 수 있습니다."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"verified": true,</a:t>
            </a:r>
          </a:p>
          <a:p xmlns:a="http://schemas.openxmlformats.org/drawingml/2006/main">
            <a:r>
              <a:t>  "screenshot": "assets/screenshots/gateway-channel.jpg",</a:t>
            </a:r>
          </a:p>
          <a:p xmlns:a="http://schemas.openxmlformats.org/drawingml/2006/main">
            <a:r>
              <a:t>  "evidence": {</a:t>
            </a:r>
          </a:p>
          <a:p xmlns:a="http://schemas.openxmlformats.org/drawingml/2006/main">
            <a:r>
              <a:t>    "capturedAtUtc": "2026-10-23T17:02:15.980Z",</a:t>
            </a:r>
          </a:p>
          <a:p xmlns:a="http://schemas.openxmlformats.org/drawingml/2006/main">
            <a:r>
              <a:t>    "url": "http://127.0.0.1:5181/",</a:t>
            </a:r>
          </a:p>
          <a:p xmlns:a="http://schemas.openxmlformats.org/drawingml/2006/main">
            <a:r>
              <a:t>    "observed": "Add Channel 입력값과 Modbus TCP 선택, 실습용 임시 구성 안내",</a:t>
            </a:r>
          </a:p>
          <a:p xmlns:a="http://schemas.openxmlformats.org/drawingml/2006/main">
            <a:r>
              <a:t>    "sha256": "a7f068ce6cb57c923d4924bca7231accc206d16d6d05f687928317278d9c728c"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아이콘: Lucide. 원본 및 라이선스 assets/design/icon-provenance.json, LICENSE-Lucide.txt.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IIoT.Gateway.Solution/IIoT.Gateway.Solution/IIoT.ConfigUI/Pages/DataAccess.razor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IIoT.Gateway.Solution/IIoT.Gateway.Solution/IIoT.ConfigUI/Pages/Monitoring.razor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IIoT.Gateway.Solution/IIoT.Gateway.Solution/IIoT.ConfigUI/Shared/MainLayout.razor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IIoT.Gateway.Solution/IIoT.Gateway.Solution/IIoT.ConfigUI/Services/GatewayStorageStatus.cs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IIoT.Gateway.Solution/IIoT.Gateway.Solution/IIoT.Domain/Models/Channel.cs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source_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원본: data/02-gateway.json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시작 주소: http://127.0.0.1:5181/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"gateway-filter",</a:t>
            </a:r>
          </a:p>
          <a:p xmlns:a="http://schemas.openxmlformats.org/drawingml/2006/main">
            <a:r>
              <a:t>  "title": "현재 구성 목록 검색과 새로고침",</a:t>
            </a:r>
          </a:p>
          <a:p xmlns:a="http://schemas.openxmlformats.org/drawingml/2006/main">
            <a:r>
              <a:t>  "goal": "목록 범위 안에서 원하는 구성을 찾고 저장소 내용을 다시 읽습니다.",</a:t>
            </a:r>
          </a:p>
          <a:p xmlns:a="http://schemas.openxmlformats.org/drawingml/2006/main">
            <a:r>
              <a:t>  "steps": [</a:t>
            </a:r>
          </a:p>
          <a:p xmlns:a="http://schemas.openxmlformats.org/drawingml/2006/main">
            <a:r>
              <a:t>    "'Data Access'에서 현재 목록이 Channel List인지, 특정 채널의 Device 목록인지 먼저 확인합니다.",</a:t>
            </a:r>
          </a:p>
          <a:p xmlns:a="http://schemas.openxmlformats.org/drawingml/2006/main">
            <a:r>
              <a:t>    "'현재 목록 검색'에 화면에 보이는 이름 일부를 입력합니다. 채널은 이름·통신 방식·설명, 설비는 이름·IP·PLC 형식, 태그는 이름·주소를 검색합니다.",</a:t>
            </a:r>
          </a:p>
          <a:p xmlns:a="http://schemas.openxmlformats.org/drawingml/2006/main">
            <a:r>
              <a:t>    "결과 건수와 목록을 확인합니다. 현재 목록이 비어 있으면 임의 검색어를 넣어 '검색 조건에 맞는 항목이 없습니다.'를 확인할 수 있습니다.",</a:t>
            </a:r>
          </a:p>
          <a:p xmlns:a="http://schemas.openxmlformats.org/drawingml/2006/main">
            <a:r>
              <a:t>    "검색어를 지우고 '새로고침'을 누릅니다. 완료 후 '최근 확인 HH:mm:ss · 저장된 구성을 다시 불러왔습니다.'를 확인합니다.",</a:t>
            </a:r>
          </a:p>
          <a:p xmlns:a="http://schemas.openxmlformats.org/drawingml/2006/main">
            <a:r>
              <a:t>    "원복: 검색어를 빈칸으로 유지합니다. 이 작업은 저장된 구성 재조회이며 장치 재시작이나 구성 저장을 수행하지 않습니다."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"expected": "입력 즉시 현재 목록이 좁혀지고 '표시 건수 / 전체 항목'이 갱신됩니다. 새로고침은 데이터 저장소의 구성을 다시 불러옵니다.",</a:t>
            </a:r>
          </a:p>
          <a:p xmlns:a="http://schemas.openxmlformats.org/drawingml/2006/main">
            <a:r>
              <a:t>  "troubleshooting": [</a:t>
            </a:r>
          </a:p>
          <a:p xmlns:a="http://schemas.openxmlformats.org/drawingml/2006/main">
            <a:r>
              <a:t>    "검색 결과가 0이면 상위 Channel List로 돌아가 현재 검색 범위를 확인합니다.",</a:t>
            </a:r>
          </a:p>
          <a:p xmlns:a="http://schemas.openxmlformats.org/drawingml/2006/main">
            <a:r>
              <a:t>    "'구성을 불러오지 못했습니다.'가 보이면 현재 화면의 기존 목록을 최신 상태로 간주하지 말고 저장소 연결을 점검합니다."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"verified": true,</a:t>
            </a:r>
          </a:p>
          <a:p xmlns:a="http://schemas.openxmlformats.org/drawingml/2006/main">
            <a:r>
              <a:t>  "screenshot": "assets/screenshots/gateway-filter.jpg",</a:t>
            </a:r>
          </a:p>
          <a:p xmlns:a="http://schemas.openxmlformats.org/drawingml/2006/main">
            <a:r>
              <a:t>  "evidence": {</a:t>
            </a:r>
          </a:p>
          <a:p xmlns:a="http://schemas.openxmlformats.org/drawingml/2006/main">
            <a:r>
              <a:t>    "capturedAtUtc": "2026-10-23T17:02:32.975Z",</a:t>
            </a:r>
          </a:p>
          <a:p xmlns:a="http://schemas.openxmlformats.org/drawingml/2006/main">
            <a:r>
              <a:t>    "url": "http://127.0.0.1:5181/",</a:t>
            </a:r>
          </a:p>
          <a:p xmlns:a="http://schemas.openxmlformats.org/drawingml/2006/main">
            <a:r>
              <a:t>    "observed": "Manual 검색과 수동 새로고침 후 실습 채널 1/1 표시",</a:t>
            </a:r>
          </a:p>
          <a:p xmlns:a="http://schemas.openxmlformats.org/drawingml/2006/main">
            <a:r>
              <a:t>    "sha256": "3e43c9fc7518c1db011605028a0279dbd5340a0ba7e8ab3cf352c379dbbb416c"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아이콘: Lucide. 원본 및 라이선스 assets/design/icon-provenance.json, LICENSE-Lucide.txt.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IIoT.Gateway.Solution/IIoT.Gateway.Solution/IIoT.ConfigUI/Pages/DataAccess.razor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IIoT.Gateway.Solution/IIoT.Gateway.Solution/IIoT.ConfigUI/Pages/Monitoring.razor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IIoT.Gateway.Solution/IIoT.Gateway.Solution/IIoT.ConfigUI/Shared/MainLayout.razor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IIoT.Gateway.Solution/IIoT.Gateway.Solution/IIoT.ConfigUI/Services/GatewayStorageStatus.cs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IIoT.Gateway.Solution/IIoT.Gateway.Solution/IIoT.Domain/Models/Channel.cs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source_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원본: data/02-gateway.json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시작 주소: http://127.0.0.1:5181/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"gateway-monitoring",</a:t>
            </a:r>
          </a:p>
          <a:p xmlns:a="http://schemas.openxmlformats.org/drawingml/2006/main">
            <a:r>
              <a:t>  "title": "Gateway와 OPC UA의 연결 상태 점검",</a:t>
            </a:r>
          </a:p>
          <a:p xmlns:a="http://schemas.openxmlformats.org/drawingml/2006/main">
            <a:r>
              <a:t>  "goal": "ConfigUI 가용성과 수집 서버·OPC UA 연결 상태를 구분합니다.",</a:t>
            </a:r>
          </a:p>
          <a:p xmlns:a="http://schemas.openxmlformats.org/drawingml/2006/main">
            <a:r>
              <a:t>  "steps": [</a:t>
            </a:r>
          </a:p>
          <a:p xmlns:a="http://schemas.openxmlformats.org/drawingml/2006/main">
            <a:r>
              <a:t>    "왼쪽 'Monitoring'을 누릅니다.",</a:t>
            </a:r>
          </a:p>
          <a:p xmlns:a="http://schemas.openxmlformats.org/drawingml/2006/main">
            <a:r>
              <a:t>    "'Gateway Server Control'의 'Server Status'를 읽고 'Refresh'를 누릅니다. 현재 실습 backend :5191은 사용 불가이므로 Running으로 가정하지 않습니다.",</a:t>
            </a:r>
          </a:p>
          <a:p xmlns:a="http://schemas.openxmlformats.org/drawingml/2006/main">
            <a:r>
              <a:t>    "'OPC UA Server Connection'에서 'Connection Status'와 'Server Endpoint URL'을 확인합니다. UI 기본 입력값은 'opc.tcp://localhost:7312'입니다.",</a:t>
            </a:r>
          </a:p>
          <a:p xmlns:a="http://schemas.openxmlformats.org/drawingml/2006/main">
            <a:r>
              <a:t>    "현재 실습에서는 연결된 OPC UA 서버가 없으므로 'Disconnected'와 미연결 안내를 확인합니다. Start, Restart, Stop 또는 Connect는 누르지 않습니다.",</a:t>
            </a:r>
          </a:p>
          <a:p xmlns:a="http://schemas.openxmlformats.org/drawingml/2006/main">
            <a:r>
              <a:t>    "원복: 조회만 수행했으므로 변경할 설정이 없습니다. 화면에서 임의로 실제 운영 서버 주소를 입력하지 않습니다."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"expected": "수집 서버 상태와 OPC UA 클라이언트 상태가 따로 표시됩니다. 현재 UI 메모리 실습에서는 실제 데이터 수집 정상 상태를 증명할 수 없습니다.",</a:t>
            </a:r>
          </a:p>
          <a:p xmlns:a="http://schemas.openxmlformats.org/drawingml/2006/main">
            <a:r>
              <a:t>  "troubleshooting": [</a:t>
            </a:r>
          </a:p>
          <a:p xmlns:a="http://schemas.openxmlformats.org/drawingml/2006/main">
            <a:r>
              <a:t>    "ConfigUI가 열려도 Server Status가 Stopped이거나 OPC UA가 Disconnected일 수 있습니다. 두 상태를 같은 것으로 처리하지 않습니다.",</a:t>
            </a:r>
          </a:p>
          <a:p xmlns:a="http://schemas.openxmlformats.org/drawingml/2006/main">
            <a:r>
              <a:t>    "실제 연결 점검에는 backend 실행, 올바른 OPC UA endpoint, 인증서·보안 정책과 포트가 별도로 준비되어야 합니다. UI 기본 :7312와 다른 실습용 :4848을 자동으로 같은 주소라고 가정하지 않습니다."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"verified": true,</a:t>
            </a:r>
          </a:p>
          <a:p xmlns:a="http://schemas.openxmlformats.org/drawingml/2006/main">
            <a:r>
              <a:t>  "screenshot": "assets/screenshots/gateway-monitoring.jpg",</a:t>
            </a:r>
          </a:p>
          <a:p xmlns:a="http://schemas.openxmlformats.org/drawingml/2006/main">
            <a:r>
              <a:t>  "evidence": {</a:t>
            </a:r>
          </a:p>
          <a:p xmlns:a="http://schemas.openxmlformats.org/drawingml/2006/main">
            <a:r>
              <a:t>    "capturedAtUtc": "2026-10-23T17:03:26.975Z",</a:t>
            </a:r>
          </a:p>
          <a:p xmlns:a="http://schemas.openxmlformats.org/drawingml/2006/main">
            <a:r>
              <a:t>    "url": "http://127.0.0.1:5181/monitoring",</a:t>
            </a:r>
          </a:p>
          <a:p xmlns:a="http://schemas.openxmlformats.org/drawingml/2006/main">
            <a:r>
              <a:t>    "observed": "Gateway backend와 OPC UA Disconnected 상태에서 Refresh 동작 확인",</a:t>
            </a:r>
          </a:p>
          <a:p xmlns:a="http://schemas.openxmlformats.org/drawingml/2006/main">
            <a:r>
              <a:t>    "sha256": "49a902030d2dd9762a1ce7de57ab2aeb6b58b32094e01992f0fe3a94eb42b748"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아이콘: Lucide. 원본 및 라이선스 assets/design/icon-provenance.json, LICENSE-Lucide.txt.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IIoT.Gateway.Solution/IIoT.Gateway.Solution/IIoT.ConfigUI/Pages/DataAccess.razor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IIoT.Gateway.Solution/IIoT.Gateway.Solution/IIoT.ConfigUI/Pages/Monitoring.razor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IIoT.Gateway.Solution/IIoT.Gateway.Solution/IIoT.ConfigUI/Shared/MainLayout.razor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IIoT.Gateway.Solution/IIoT.Gateway.Solution/IIoT.ConfigUI/Services/GatewayStorageStatus.cs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IIoT.Gateway.Solution/IIoT.Gateway.Solution/IIoT.Domain/Models/Channel.cs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extra_slideLayout1.xml.rels><?xml version='1.0' encoding='UTF-8' standalone='yes'?>
<Relationships xmlns="http://schemas.openxmlformats.org/package/2006/relationships"><Relationship Type="http://schemas.openxmlformats.org/officeDocument/2006/relationships/slideMaster" Target="../slideMasters/extra_slideMaster1.xml" Id="R8597da05fcbe40d5"/></Relationships>
</file>

<file path=ppt/slideLayouts/_rels/extra_slideLayout2.xml.rels><?xml version='1.0' encoding='UTF-8' standalone='yes'?>
<Relationships xmlns="http://schemas.openxmlformats.org/package/2006/relationships"><Relationship Type="http://schemas.openxmlformats.org/officeDocument/2006/relationships/slideMaster" Target="../slideMasters/extra_slideMaster1.xml" Id="R622615551f7d4ad3"/></Relationships>
</file>

<file path=ppt/slideLayouts/_rels/extra_slideLayout3.xml.rels><?xml version='1.0' encoding='UTF-8' standalone='yes'?>
<Relationships xmlns="http://schemas.openxmlformats.org/package/2006/relationships"><Relationship Type="http://schemas.openxmlformats.org/officeDocument/2006/relationships/slideMaster" Target="../slideMasters/extra_slideMaster1.xml" Id="R36f5bdc1e8354599"/></Relationships>
</file>

<file path=ppt/slideLayouts/_rels/extra_slideLayout4.xml.rels><?xml version='1.0' encoding='UTF-8' standalone='yes'?>
<Relationships xmlns="http://schemas.openxmlformats.org/package/2006/relationships"><Relationship Type="http://schemas.openxmlformats.org/officeDocument/2006/relationships/slideMaster" Target="../slideMasters/extra_slideMaster1.xml" Id="R9eb685b6598e488d"/></Relationships>
</file>

<file path=ppt/slideLayouts/_rels/extra_slideLayout5.xml.rels><?xml version='1.0' encoding='UTF-8' standalone='yes'?>
<Relationships xmlns="http://schemas.openxmlformats.org/package/2006/relationships"><Relationship Type="http://schemas.openxmlformats.org/officeDocument/2006/relationships/slideMaster" Target="../slideMasters/extra_slideMaster1.xml" Id="R7b0b1f3d91ad4faf"/></Relationships>
</file>

<file path=ppt/slideLayouts/_rels/extra_slideLayout6.xml.rels><?xml version='1.0' encoding='UTF-8' standalone='yes'?>
<Relationships xmlns="http://schemas.openxmlformats.org/package/2006/relationships"><Relationship Type="http://schemas.openxmlformats.org/officeDocument/2006/relationships/slideMaster" Target="../slideMasters/extra_slideMaster1.xml" Id="Rf0236b72adda4e4d"/></Relationships>
</file>

<file path=ppt/slideLayouts/_rels/source_slideLayout1.xml.rels><?xml version='1.0' encoding='UTF-8' standalone='yes'?>
<Relationships xmlns="http://schemas.openxmlformats.org/package/2006/relationships"><Relationship Type="http://schemas.openxmlformats.org/officeDocument/2006/relationships/slideMaster" Target="../slideMasters/source_slideMaster1.xml" Id="Rdd81561033664dc2"/></Relationships>
</file>

<file path=ppt/slideLayouts/_rels/source_slideLayout2.xml.rels><?xml version='1.0' encoding='UTF-8' standalone='yes'?>
<Relationships xmlns="http://schemas.openxmlformats.org/package/2006/relationships"><Relationship Type="http://schemas.openxmlformats.org/officeDocument/2006/relationships/slideMaster" Target="../slideMasters/source_slideMaster1.xml" Id="R8b28ce4dfbcb42be"/></Relationships>
</file>

<file path=ppt/slideLayouts/_rels/source_slideLayout3.xml.rels><?xml version='1.0' encoding='UTF-8' standalone='yes'?>
<Relationships xmlns="http://schemas.openxmlformats.org/package/2006/relationships"><Relationship Type="http://schemas.openxmlformats.org/officeDocument/2006/relationships/slideMaster" Target="../slideMasters/source_slideMaster1.xml" Id="R1e39505d70294388"/></Relationships>
</file>

<file path=ppt/slideLayouts/_rels/source_slideLayout4.xml.rels><?xml version='1.0' encoding='UTF-8' standalone='yes'?>
<Relationships xmlns="http://schemas.openxmlformats.org/package/2006/relationships"><Relationship Type="http://schemas.openxmlformats.org/officeDocument/2006/relationships/slideMaster" Target="../slideMasters/source_slideMaster1.xml" Id="R914b5cb7d9b84efe"/></Relationships>
</file>

<file path=ppt/slideLayouts/_rels/source_slideLayout5.xml.rels><?xml version='1.0' encoding='UTF-8' standalone='yes'?>
<Relationships xmlns="http://schemas.openxmlformats.org/package/2006/relationships"><Relationship Type="http://schemas.openxmlformats.org/officeDocument/2006/relationships/slideMaster" Target="../slideMasters/source_slideMaster1.xml" Id="R029b820b72fa4fe8"/></Relationships>
</file>

<file path=ppt/slideLayouts/_rels/source_slideLayout6.xml.rels><?xml version='1.0' encoding='UTF-8' standalone='yes'?>
<Relationships xmlns="http://schemas.openxmlformats.org/package/2006/relationships"><Relationship Type="http://schemas.openxmlformats.org/officeDocument/2006/relationships/slideMaster" Target="../slideMasters/source_slideMaster1.xml" Id="R548e995d96bb48da"/></Relationships>
</file>

<file path=ppt/slideLayouts/extra_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1C54B2C-EB82-499B-8F64-A7DAE4527C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2E322B7-1C60-4520-8AD1-928E137B617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extra_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509A28C-B864-42CD-93D5-6A8E4549E3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extra_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59A049A-06BD-454D-A05D-0B350ED74D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610D38F-A088-456B-9E89-45D1BC3A4F1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extra_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A00C237-0F70-4BA4-A4D1-3CDBB429D1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F744292-5663-4A84-93DC-E08B638EAFD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EF99EF9-7589-4986-B1C0-F1F6AB2A4BD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extra_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E320F75-4F4C-4C1D-BFB8-D20A5D776E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7377069-356E-49D5-BB4B-E93CF6DCC28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extra_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ource_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92C18D0-0BE1-4D3B-9495-6D2A8C6FFE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FD51148-77CC-4350-8C36-23DCDFB4B15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ource_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DDA3227-AD06-4DAE-BD1E-F5857D90DC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ource_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A7458B2-C825-462D-9520-1C5109FF06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9D1FA52-AADA-4A86-8347-4E921105B6C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ource_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2903506-F4C1-4043-B81B-3A28BCC4F8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C6C72FD-7001-4E24-8CD2-D409767C36B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1BFF9CB-F1DA-4659-9ECB-EDBC8D1A9F7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ource_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CEF09AA-EF2A-4479-ACC4-2B1E435D41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B36849E-F7FD-460C-9A28-AB281187389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ource_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extra_slideMaster1.xml.rels><?xml version='1.0' encoding='UTF-8' standalone='yes'?>
<Relationships xmlns="http://schemas.openxmlformats.org/package/2006/relationships"><Relationship Type="http://schemas.openxmlformats.org/officeDocument/2006/relationships/theme" Target="theme/extra_theme2.xml" Id="R9603d00798a746d0"/><Relationship Type="http://schemas.openxmlformats.org/officeDocument/2006/relationships/slideLayout" Target="../slideLayouts/extra_slideLayout1.xml" Id="R47a2295409694b9b"/><Relationship Type="http://schemas.openxmlformats.org/officeDocument/2006/relationships/slideLayout" Target="../slideLayouts/extra_slideLayout2.xml" Id="R87b2ee8d1b984a2a"/><Relationship Type="http://schemas.openxmlformats.org/officeDocument/2006/relationships/slideLayout" Target="../slideLayouts/extra_slideLayout3.xml" Id="Rcf0530b1b8ac4de5"/><Relationship Type="http://schemas.openxmlformats.org/officeDocument/2006/relationships/slideLayout" Target="../slideLayouts/extra_slideLayout4.xml" Id="R8bbb8f591e9d4ba9"/><Relationship Type="http://schemas.openxmlformats.org/officeDocument/2006/relationships/slideLayout" Target="../slideLayouts/extra_slideLayout5.xml" Id="R04d33da6d57f497b"/><Relationship Type="http://schemas.openxmlformats.org/officeDocument/2006/relationships/slideLayout" Target="../slideLayouts/extra_slideLayout6.xml" Id="R6abfb3307f004385"/></Relationships>
</file>

<file path=ppt/slideMasters/_rels/source_slideMaster1.xml.rels><?xml version='1.0' encoding='UTF-8' standalone='yes'?>
<Relationships xmlns="http://schemas.openxmlformats.org/package/2006/relationships"><Relationship Type="http://schemas.openxmlformats.org/officeDocument/2006/relationships/theme" Target="theme/source_theme2.xml" Id="R367bcf752a9749ae"/><Relationship Type="http://schemas.openxmlformats.org/officeDocument/2006/relationships/slideLayout" Target="../slideLayouts/source_slideLayout1.xml" Id="R11b88d14dc1d4219"/><Relationship Type="http://schemas.openxmlformats.org/officeDocument/2006/relationships/slideLayout" Target="../slideLayouts/source_slideLayout2.xml" Id="R87ec6871956e40df"/><Relationship Type="http://schemas.openxmlformats.org/officeDocument/2006/relationships/slideLayout" Target="../slideLayouts/source_slideLayout3.xml" Id="R5f96253e5dea4309"/><Relationship Type="http://schemas.openxmlformats.org/officeDocument/2006/relationships/slideLayout" Target="../slideLayouts/source_slideLayout4.xml" Id="Rab77f0812a874d9d"/><Relationship Type="http://schemas.openxmlformats.org/officeDocument/2006/relationships/slideLayout" Target="../slideLayouts/source_slideLayout5.xml" Id="R75ffc517a4f0405b"/><Relationship Type="http://schemas.openxmlformats.org/officeDocument/2006/relationships/slideLayout" Target="../slideLayouts/source_slideLayout6.xml" Id="Rcbb869a82fa04458"/></Relationships>
</file>

<file path=ppt/slideMasters/extra_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7a2295409694b9b"/>
    <p:sldLayoutId xmlns:r="http://schemas.openxmlformats.org/officeDocument/2006/relationships" id="2147483650" r:id="R87b2ee8d1b984a2a"/>
    <p:sldLayoutId xmlns:r="http://schemas.openxmlformats.org/officeDocument/2006/relationships" id="2147483651" r:id="Rcf0530b1b8ac4de5"/>
    <p:sldLayoutId xmlns:r="http://schemas.openxmlformats.org/officeDocument/2006/relationships" id="2147483652" r:id="R8bbb8f591e9d4ba9"/>
    <p:sldLayoutId xmlns:r="http://schemas.openxmlformats.org/officeDocument/2006/relationships" id="2147483653" r:id="R04d33da6d57f497b"/>
    <p:sldLayoutId xmlns:r="http://schemas.openxmlformats.org/officeDocument/2006/relationships" id="2147483654" r:id="R6abfb3307f00438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ource_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1b88d14dc1d4219"/>
    <p:sldLayoutId xmlns:r="http://schemas.openxmlformats.org/officeDocument/2006/relationships" id="2147483650" r:id="R87ec6871956e40df"/>
    <p:sldLayoutId xmlns:r="http://schemas.openxmlformats.org/officeDocument/2006/relationships" id="2147483651" r:id="R5f96253e5dea4309"/>
    <p:sldLayoutId xmlns:r="http://schemas.openxmlformats.org/officeDocument/2006/relationships" id="2147483652" r:id="Rab77f0812a874d9d"/>
    <p:sldLayoutId xmlns:r="http://schemas.openxmlformats.org/officeDocument/2006/relationships" id="2147483653" r:id="R75ffc517a4f0405b"/>
    <p:sldLayoutId xmlns:r="http://schemas.openxmlformats.org/officeDocument/2006/relationships" id="2147483654" r:id="Rcbb869a82fa0445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extra_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source_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Type="http://schemas.openxmlformats.org/officeDocument/2006/relationships/slideLayout" Target="../slideLayouts/extra_slideLayout6.xml" Id="Rbd3897b7d0ae4611"/><Relationship Type="http://schemas.openxmlformats.org/officeDocument/2006/relationships/image" Target="../media/extra_image5.png" Id="R84df7fcbf1dc46cc"/><Relationship Type="http://schemas.openxmlformats.org/officeDocument/2006/relationships/image" Target="../media/extra_image2.jpeg" Id="Rdeded7cde389499b"/><Relationship Type="http://schemas.openxmlformats.org/officeDocument/2006/relationships/hyperlink" Target="http://127.0.0.1:5181/" TargetMode="External" Id="R040077d5d7b54157"/><Relationship Type="http://schemas.openxmlformats.org/officeDocument/2006/relationships/notesSlide" Target="../notesSlides/extra_notesSlide4.xml" Id="R5453a89c07f44f0c"/></Relationships>
</file>

<file path=ppt/slides/_rels/slide2.xml.rels><?xml version='1.0' encoding='UTF-8' standalone='yes'?>
<Relationships xmlns="http://schemas.openxmlformats.org/package/2006/relationships"><Relationship Type="http://schemas.openxmlformats.org/officeDocument/2006/relationships/slideLayout" Target="../slideLayouts/extra_slideLayout6.xml" Id="R5b6c3d5f6d364768"/><Relationship Type="http://schemas.openxmlformats.org/officeDocument/2006/relationships/notesSlide" Target="../notesSlides/extra_notesSlide5.xml" Id="R7929c1f714f64319"/></Relationships>
</file>

<file path=ppt/slides/_rels/slide3.xml.rels><?xml version='1.0' encoding='UTF-8' standalone='yes'?>
<Relationships xmlns="http://schemas.openxmlformats.org/package/2006/relationships"><Relationship Type="http://schemas.openxmlformats.org/officeDocument/2006/relationships/slideLayout" Target="../slideLayouts/source_slideLayout6.xml" Id="R8e6909171c654463"/><Relationship Type="http://schemas.openxmlformats.org/officeDocument/2006/relationships/image" Target="../media/source_image63.png" Id="Rc8cfc93d5b3c4059"/><Relationship Type="http://schemas.openxmlformats.org/officeDocument/2006/relationships/image" Target="../media/source_image64.png" Id="Rf44de3a761ca4251"/><Relationship Type="http://schemas.openxmlformats.org/officeDocument/2006/relationships/image" Target="../media/source_image65.png" Id="R1a02373be2884fb2"/><Relationship Type="http://schemas.openxmlformats.org/officeDocument/2006/relationships/image" Target="../media/source_image8.jpeg" Id="Rb954b947fea644bc"/><Relationship Type="http://schemas.openxmlformats.org/officeDocument/2006/relationships/image" Target="../media/source_image66.png" Id="R95193f77da9e4672"/><Relationship Type="http://schemas.openxmlformats.org/officeDocument/2006/relationships/image" Target="../media/source_image67.png" Id="R7e206c49c2b94dac"/><Relationship Type="http://schemas.openxmlformats.org/officeDocument/2006/relationships/notesSlide" Target="../notesSlides/source_notesSlide13.xml" Id="Rd66d119ee3f04a55"/></Relationships>
</file>

<file path=ppt/slides/_rels/slide4.xml.rels><?xml version='1.0' encoding='UTF-8' standalone='yes'?>
<Relationships xmlns="http://schemas.openxmlformats.org/package/2006/relationships"><Relationship Type="http://schemas.openxmlformats.org/officeDocument/2006/relationships/slideLayout" Target="../slideLayouts/source_slideLayout6.xml" Id="R902bb8bc645d4684"/><Relationship Type="http://schemas.openxmlformats.org/officeDocument/2006/relationships/image" Target="../media/source_image68.png" Id="Re0a209a2a9054ef1"/><Relationship Type="http://schemas.openxmlformats.org/officeDocument/2006/relationships/image" Target="../media/source_image69.png" Id="R3442624830bf4efc"/><Relationship Type="http://schemas.openxmlformats.org/officeDocument/2006/relationships/image" Target="../media/source_image70.png" Id="R23e8af073efc42ba"/><Relationship Type="http://schemas.openxmlformats.org/officeDocument/2006/relationships/image" Target="../media/source_image71.png" Id="Rf02745aac64f4d26"/><Relationship Type="http://schemas.openxmlformats.org/officeDocument/2006/relationships/image" Target="../media/source_image72.png" Id="R129c2b57c59c4a95"/><Relationship Type="http://schemas.openxmlformats.org/officeDocument/2006/relationships/image" Target="../media/source_image9.jpeg" Id="R6d7e313922bb4c49"/><Relationship Type="http://schemas.openxmlformats.org/officeDocument/2006/relationships/image" Target="../media/source_image73.png" Id="R37e29076fe8c4444"/><Relationship Type="http://schemas.openxmlformats.org/officeDocument/2006/relationships/image" Target="../media/source_image74.png" Id="R42279c5f464748a7"/><Relationship Type="http://schemas.openxmlformats.org/officeDocument/2006/relationships/notesSlide" Target="../notesSlides/source_notesSlide14.xml" Id="R9b329206c71a44fe"/></Relationships>
</file>

<file path=ppt/slides/_rels/slide5.xml.rels><?xml version='1.0' encoding='UTF-8' standalone='yes'?>
<Relationships xmlns="http://schemas.openxmlformats.org/package/2006/relationships"><Relationship Type="http://schemas.openxmlformats.org/officeDocument/2006/relationships/slideLayout" Target="../slideLayouts/source_slideLayout6.xml" Id="Rb69cdfa1c6954394"/><Relationship Type="http://schemas.openxmlformats.org/officeDocument/2006/relationships/image" Target="../media/source_image75.png" Id="R9db89bae570e4f4e"/><Relationship Type="http://schemas.openxmlformats.org/officeDocument/2006/relationships/image" Target="../media/source_image76.png" Id="R01ed85cfeab0450a"/><Relationship Type="http://schemas.openxmlformats.org/officeDocument/2006/relationships/image" Target="../media/source_image77.png" Id="Reda0b7f1f1c346bb"/><Relationship Type="http://schemas.openxmlformats.org/officeDocument/2006/relationships/image" Target="../media/source_image78.png" Id="R5052ca941204468a"/><Relationship Type="http://schemas.openxmlformats.org/officeDocument/2006/relationships/image" Target="../media/source_image10.jpeg" Id="R1bdfa216943a446a"/><Relationship Type="http://schemas.openxmlformats.org/officeDocument/2006/relationships/image" Target="../media/source_image79.png" Id="R3fc44e704ccd446e"/><Relationship Type="http://schemas.openxmlformats.org/officeDocument/2006/relationships/image" Target="../media/source_image80.png" Id="Rddae5e95ace04971"/><Relationship Type="http://schemas.openxmlformats.org/officeDocument/2006/relationships/notesSlide" Target="../notesSlides/source_notesSlide15.xml" Id="Rd6f11d3026ed4060"/></Relationships>
</file>

<file path=ppt/slides/_rels/slide6.xml.rels><?xml version='1.0' encoding='UTF-8' standalone='yes'?>
<Relationships xmlns="http://schemas.openxmlformats.org/package/2006/relationships"><Relationship Type="http://schemas.openxmlformats.org/officeDocument/2006/relationships/slideLayout" Target="../slideLayouts/source_slideLayout6.xml" Id="Rb18949ea4abf49b2"/><Relationship Type="http://schemas.openxmlformats.org/officeDocument/2006/relationships/image" Target="../media/source_image81.png" Id="R5f095c6e406242e9"/><Relationship Type="http://schemas.openxmlformats.org/officeDocument/2006/relationships/image" Target="../media/source_image82.png" Id="Raf938c06b8c84390"/><Relationship Type="http://schemas.openxmlformats.org/officeDocument/2006/relationships/image" Target="../media/source_image83.png" Id="Rf5000adaed944eaf"/><Relationship Type="http://schemas.openxmlformats.org/officeDocument/2006/relationships/image" Target="../media/source_image11.jpeg" Id="R1b2ab4bc050c4557"/><Relationship Type="http://schemas.openxmlformats.org/officeDocument/2006/relationships/image" Target="../media/source_image84.png" Id="Rafb82cc427a94e48"/><Relationship Type="http://schemas.openxmlformats.org/officeDocument/2006/relationships/image" Target="../media/source_image85.png" Id="R4a96a0c1bb0a40b3"/><Relationship Type="http://schemas.openxmlformats.org/officeDocument/2006/relationships/notesSlide" Target="../notesSlides/source_notesSlide16.xml" Id="Rc07af112908a499e"/></Relationships>
</file>

<file path=ppt/slides/_rels/slide7.xml.rels><?xml version='1.0' encoding='UTF-8' standalone='yes'?>
<Relationships xmlns="http://schemas.openxmlformats.org/package/2006/relationships"><Relationship Type="http://schemas.openxmlformats.org/officeDocument/2006/relationships/slideLayout" Target="../slideLayouts/extra_slideLayout6.xml" Id="R2c0d2e90dfb24dc9"/><Relationship Type="http://schemas.openxmlformats.org/officeDocument/2006/relationships/image" Target="../media/extra_image6.png" Id="R2ebabf7da42a43d8"/><Relationship Type="http://schemas.openxmlformats.org/officeDocument/2006/relationships/image" Target="../media/extra_image7.png" Id="Rf2ca469c95f34d0f"/><Relationship Type="http://schemas.openxmlformats.org/officeDocument/2006/relationships/image" Target="../media/extra_image8.png" Id="R7d6911dcce9a4dae"/><Relationship Type="http://schemas.openxmlformats.org/officeDocument/2006/relationships/hyperlink" Target="https://dubukimch.github.io/manual-gateway.html" TargetMode="External" Id="R04add18dc87a4ee7"/><Relationship Type="http://schemas.openxmlformats.org/officeDocument/2006/relationships/notesSlide" Target="../notesSlides/extra_notesSlide6.xml" Id="R9450bc1253694dca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xtra-text-0">
            <a:extLst xmlns:a="http://schemas.openxmlformats.org/drawingml/2006/main">
              <a:ext uri="{FF2B5EF4-FFF2-40B4-BE49-F238E27FC236}">
                <a16:creationId xmlns:a16="http://schemas.microsoft.com/office/drawing/2014/main" id="{7DE40B30-C812-4F69-A2BB-F3EE7FCB8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238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0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0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0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0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0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0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0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0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0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150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rPr>
              <a:t>IIoT Gateway  /  사용 매뉴얼</a:t>
            </a:r>
          </a:p>
        </p:txBody>
      </p:sp>
      <p:sp>
        <p:nvSpPr>
          <p:cNvPr id="2" name="compat-page-number">
            <a:extLst xmlns:a="http://schemas.openxmlformats.org/drawingml/2006/main">
              <a:ext uri="{FF2B5EF4-FFF2-40B4-BE49-F238E27FC236}">
                <a16:creationId xmlns:a16="http://schemas.microsoft.com/office/drawing/2014/main" id="{4521C4E4-BB11-4678-B911-905446536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323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02FFB8-1C71-42C7-9C9F-90A5C498F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1E7"/>
            </a:solidFill>
          </a:ln>
        </p:spPr>
      </p:sp>
      <p:sp>
        <p:nvSpPr>
          <p:cNvPr id="4" name="compat-footer">
            <a:extLst xmlns:a="http://schemas.openxmlformats.org/drawingml/2006/main">
              <a:ext uri="{FF2B5EF4-FFF2-40B4-BE49-F238E27FC236}">
                <a16:creationId xmlns:a16="http://schemas.microsoft.com/office/drawing/2014/main" id="{BE185DD2-C400-4749-8E15-E93BE3364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43900"/>
            <a:ext cx="1238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IIoT Gateway 사용 매뉴얼  2026.10.25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44DE6D-5943-4E91-A5B9-FE16D3122D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df7fcbf1dc46cc"/>
          <a:stretch xmlns:a="http://schemas.openxmlformats.org/drawingml/2006/main"/>
        </p:blipFill>
        <p:spPr>
          <a:xfrm xmlns:a="http://schemas.openxmlformats.org/drawingml/2006/main">
            <a:off x="685800" y="1362075"/>
            <a:ext cx="952500" cy="952500"/>
          </a:xfrm>
          <a:prstGeom xmlns:a="http://schemas.openxmlformats.org/drawingml/2006/main" prst="rect">
            <a:avLst/>
          </a:prstGeom>
        </p:spPr>
      </p:pic>
      <p:sp>
        <p:nvSpPr>
          <p:cNvPr id="6" name="extra-text-3">
            <a:extLst xmlns:a="http://schemas.openxmlformats.org/drawingml/2006/main">
              <a:ext uri="{FF2B5EF4-FFF2-40B4-BE49-F238E27FC236}">
                <a16:creationId xmlns:a16="http://schemas.microsoft.com/office/drawing/2014/main" id="{B691BA15-687F-4A04-86EC-D2B9BEA16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1457325"/>
            <a:ext cx="1257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IIoT Gateway</a:t>
            </a:r>
          </a:p>
        </p:txBody>
      </p:sp>
      <p:sp>
        <p:nvSpPr>
          <p:cNvPr id="7" name="extra-text-4">
            <a:extLst xmlns:a="http://schemas.openxmlformats.org/drawingml/2006/main">
              <a:ext uri="{FF2B5EF4-FFF2-40B4-BE49-F238E27FC236}">
                <a16:creationId xmlns:a16="http://schemas.microsoft.com/office/drawing/2014/main" id="{E35DE8C3-98E1-4982-946D-6D653E084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6381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57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57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57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57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57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57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57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57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57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57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57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57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사용 매뉴얼</a:t>
            </a:r>
          </a:p>
        </p:txBody>
      </p:sp>
      <p:sp>
        <p:nvSpPr>
          <p:cNvPr id="8" name="extra-text-5">
            <a:extLst xmlns:a="http://schemas.openxmlformats.org/drawingml/2006/main">
              <a:ext uri="{FF2B5EF4-FFF2-40B4-BE49-F238E27FC236}">
                <a16:creationId xmlns:a16="http://schemas.microsoft.com/office/drawing/2014/main" id="{7F8AFC38-EFA9-4B84-8464-DE68D6232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95775"/>
            <a:ext cx="6191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5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수집 구성을 다루고 실제 연결 상태를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25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구분하기</a:t>
            </a:r>
          </a:p>
        </p:txBody>
      </p:sp>
      <p:sp>
        <p:nvSpPr>
          <p:cNvPr id="9" name="extra-text-6">
            <a:extLst xmlns:a="http://schemas.openxmlformats.org/drawingml/2006/main">
              <a:ext uri="{FF2B5EF4-FFF2-40B4-BE49-F238E27FC236}">
                <a16:creationId xmlns:a16="http://schemas.microsoft.com/office/drawing/2014/main" id="{46DF9BAE-6547-4248-AB87-2A732F36A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38825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02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rPr>
              <a:t>4개 동작 · 실제 캡처 4장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1127F1-A27F-4B36-A099-554815EEEA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ded7cde389499b"/>
          <a:stretch xmlns:a="http://schemas.openxmlformats.org/drawingml/2006/main"/>
        </p:blipFill>
        <p:spPr>
          <a:xfrm xmlns:a="http://schemas.openxmlformats.org/drawingml/2006/main">
            <a:off x="8453820" y="2762250"/>
            <a:ext cx="5190359" cy="4000500"/>
          </a:xfrm>
          <a:prstGeom xmlns:a="http://schemas.openxmlformats.org/drawingml/2006/main" prst="rect">
            <a:avLst/>
          </a:prstGeom>
        </p:spPr>
      </p:pic>
      <p:sp>
        <p:nvSpPr>
          <p:cNvPr id="11" name="extra-text-7">
            <a:extLst xmlns:a="http://schemas.openxmlformats.org/drawingml/2006/main">
              <a:ext uri="{FF2B5EF4-FFF2-40B4-BE49-F238E27FC236}">
                <a16:creationId xmlns:a16="http://schemas.microsoft.com/office/drawing/2014/main" id="{208BBA81-8039-4766-9147-899EA0F7E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715125"/>
            <a:ext cx="1352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실제 화면, 순서와 확인할 결과를 함께 읽습니다.</a:t>
            </a:r>
          </a:p>
        </p:txBody>
      </p:sp>
      <p:sp>
        <p:nvSpPr>
          <p:cNvPr id="12" name="extra-text-8">
            <a:extLst xmlns:a="http://schemas.openxmlformats.org/drawingml/2006/main">
              <a:ext uri="{FF2B5EF4-FFF2-40B4-BE49-F238E27FC236}">
                <a16:creationId xmlns:a16="http://schemas.microsoft.com/office/drawing/2014/main" id="{AAE09E16-5A81-474C-A870-B58774703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524750"/>
            <a:ext cx="1381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0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0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0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0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0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0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0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0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0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1725" b="0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67094"/>
                </a:solidFill>
                <a:latin typeface="Malgun Gothic"/>
                <a:ea typeface="Malgun Gothic"/>
                <a:cs typeface="Malgun Gothic"/>
                <a:hlinkClick xmlns:r="http://schemas.openxmlformats.org/officeDocument/2006/relationships" r:id="R040077d5d7b54157"/>
              </a:rPr>
              <a:t>http://127.0.0.1:5181/</a:t>
            </a:r>
          </a:p>
        </p:txBody>
      </p:sp>
    </p:spTree>
    <p:extLst>
      <p:ext uri="{BB962C8B-B14F-4D97-AF65-F5344CB8AC3E}">
        <p14:creationId xmlns:p14="http://schemas.microsoft.com/office/powerpoint/2010/main" val="6360033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xtra-text-0">
            <a:extLst xmlns:a="http://schemas.openxmlformats.org/drawingml/2006/main">
              <a:ext uri="{FF2B5EF4-FFF2-40B4-BE49-F238E27FC236}">
                <a16:creationId xmlns:a16="http://schemas.microsoft.com/office/drawing/2014/main" id="{DDA558A1-8449-4ED4-BF93-467544634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238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0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0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0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0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0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0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0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0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0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150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rPr>
              <a:t>IIoT Gateway  /  사용 매뉴얼</a:t>
            </a:r>
          </a:p>
        </p:txBody>
      </p:sp>
      <p:sp>
        <p:nvSpPr>
          <p:cNvPr id="2" name="compat-page-number">
            <a:extLst xmlns:a="http://schemas.openxmlformats.org/drawingml/2006/main">
              <a:ext uri="{FF2B5EF4-FFF2-40B4-BE49-F238E27FC236}">
                <a16:creationId xmlns:a16="http://schemas.microsoft.com/office/drawing/2014/main" id="{AD9D8026-CFEF-4CD4-8D72-2C1A0357D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323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B879A8-AC4D-4944-ACB3-DCEE5C66B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1E7"/>
            </a:solidFill>
          </a:ln>
        </p:spPr>
      </p:sp>
      <p:sp>
        <p:nvSpPr>
          <p:cNvPr id="4" name="compat-footer">
            <a:extLst xmlns:a="http://schemas.openxmlformats.org/drawingml/2006/main">
              <a:ext uri="{FF2B5EF4-FFF2-40B4-BE49-F238E27FC236}">
                <a16:creationId xmlns:a16="http://schemas.microsoft.com/office/drawing/2014/main" id="{3CF46B2D-0C74-4E13-BD73-4884B5109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43900"/>
            <a:ext cx="1238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IIoT Gateway 사용 매뉴얼  2026.10.25</a:t>
            </a:r>
          </a:p>
        </p:txBody>
      </p:sp>
      <p:sp>
        <p:nvSpPr>
          <p:cNvPr id="5" name="extra-text-3">
            <a:extLst xmlns:a="http://schemas.openxmlformats.org/drawingml/2006/main">
              <a:ext uri="{FF2B5EF4-FFF2-40B4-BE49-F238E27FC236}">
                <a16:creationId xmlns:a16="http://schemas.microsoft.com/office/drawing/2014/main" id="{55E87704-CD19-4BEB-A887-88D2BEE44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4020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시작 조건과 실습 범위</a:t>
            </a:r>
          </a:p>
        </p:txBody>
      </p:sp>
      <p:sp>
        <p:nvSpPr>
          <p:cNvPr id="6" name="extra-text-4">
            <a:extLst xmlns:a="http://schemas.openxmlformats.org/drawingml/2006/main">
              <a:ext uri="{FF2B5EF4-FFF2-40B4-BE49-F238E27FC236}">
                <a16:creationId xmlns:a16="http://schemas.microsoft.com/office/drawing/2014/main" id="{91E88DB4-B9BB-4D0B-AEA3-0C3AF2061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19275"/>
            <a:ext cx="13811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실행 환경을 확인한 뒤 첫 동작으로 이동합니다.</a:t>
            </a:r>
          </a:p>
        </p:txBody>
      </p:sp>
      <p:sp>
        <p:nvSpPr>
          <p:cNvPr id="7" name="extra-text-5">
            <a:extLst xmlns:a="http://schemas.openxmlformats.org/drawingml/2006/main">
              <a:ext uri="{FF2B5EF4-FFF2-40B4-BE49-F238E27FC236}">
                <a16:creationId xmlns:a16="http://schemas.microsoft.com/office/drawing/2014/main" id="{4B8F37AD-426B-44C3-A07A-278ACF671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10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8" name="extra-text-6">
            <a:extLst xmlns:a="http://schemas.openxmlformats.org/drawingml/2006/main">
              <a:ext uri="{FF2B5EF4-FFF2-40B4-BE49-F238E27FC236}">
                <a16:creationId xmlns:a16="http://schemas.microsoft.com/office/drawing/2014/main" id="{AE1B92AE-A2B4-4B25-BE11-79B6B1AF2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81250"/>
            <a:ext cx="1304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로컬 ConfigUI http://127.0.0.1:5181/ 가 실행 중이어야 합니다.</a:t>
            </a:r>
          </a:p>
        </p:txBody>
      </p:sp>
      <p:sp>
        <p:nvSpPr>
          <p:cNvPr id="9" name="extra-text-7">
            <a:extLst xmlns:a="http://schemas.openxmlformats.org/drawingml/2006/main">
              <a:ext uri="{FF2B5EF4-FFF2-40B4-BE49-F238E27FC236}">
                <a16:creationId xmlns:a16="http://schemas.microsoft.com/office/drawing/2014/main" id="{1A960B3B-520C-44EF-BC89-BB65E2710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10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0" name="extra-text-8">
            <a:extLst xmlns:a="http://schemas.openxmlformats.org/drawingml/2006/main">
              <a:ext uri="{FF2B5EF4-FFF2-40B4-BE49-F238E27FC236}">
                <a16:creationId xmlns:a16="http://schemas.microsoft.com/office/drawing/2014/main" id="{2B069ACD-CA17-4B4E-B6B2-4C611F618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57500"/>
            <a:ext cx="13049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현재 화면의 '임시 메모리 저장소'는 MySQL 미연결 상태입니다. 여기서 저장한 설정은 재시작 시 사라질 수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있습니다.</a:t>
            </a:r>
          </a:p>
        </p:txBody>
      </p:sp>
      <p:sp>
        <p:nvSpPr>
          <p:cNvPr id="11" name="extra-text-9">
            <a:extLst xmlns:a="http://schemas.openxmlformats.org/drawingml/2006/main">
              <a:ext uri="{FF2B5EF4-FFF2-40B4-BE49-F238E27FC236}">
                <a16:creationId xmlns:a16="http://schemas.microsoft.com/office/drawing/2014/main" id="{B0700B00-CEA9-40F2-A09E-E34EA3FFD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10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2" name="extra-text-10">
            <a:extLst xmlns:a="http://schemas.openxmlformats.org/drawingml/2006/main">
              <a:ext uri="{FF2B5EF4-FFF2-40B4-BE49-F238E27FC236}">
                <a16:creationId xmlns:a16="http://schemas.microsoft.com/office/drawing/2014/main" id="{CABC9821-AFA6-41CA-923B-100EE52CF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57600"/>
            <a:ext cx="13049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UI에 접근할 수 있다는 사실과 Gateway backend·OPC UA 연결 성공은 별개입니다. 현재 backend :5191은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사용 불가입니다.</a:t>
            </a:r>
          </a:p>
        </p:txBody>
      </p:sp>
      <p:sp>
        <p:nvSpPr>
          <p:cNvPr id="13" name="extra-text-11">
            <a:extLst xmlns:a="http://schemas.openxmlformats.org/drawingml/2006/main">
              <a:ext uri="{FF2B5EF4-FFF2-40B4-BE49-F238E27FC236}">
                <a16:creationId xmlns:a16="http://schemas.microsoft.com/office/drawing/2014/main" id="{391D2CE7-AF68-45AF-8D3D-3CA07BE7F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10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4" name="extra-text-12">
            <a:extLst xmlns:a="http://schemas.openxmlformats.org/drawingml/2006/main">
              <a:ext uri="{FF2B5EF4-FFF2-40B4-BE49-F238E27FC236}">
                <a16:creationId xmlns:a16="http://schemas.microsoft.com/office/drawing/2014/main" id="{E6A06FE4-1FDB-48BD-AD10-0DBC1903C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57700"/>
            <a:ext cx="13049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아래 채널 실습은 격리된 임시 메모리 UI에 교육용 채널 하나를 저장합니다. 실제 장치 주소, 운영 설정 또는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인증서를 변경하지 않습니다.</a:t>
            </a:r>
          </a:p>
        </p:txBody>
      </p:sp>
      <p:sp>
        <p:nvSpPr>
          <p:cNvPr id="15" name="extra-text-13">
            <a:extLst xmlns:a="http://schemas.openxmlformats.org/drawingml/2006/main">
              <a:ext uri="{FF2B5EF4-FFF2-40B4-BE49-F238E27FC236}">
                <a16:creationId xmlns:a16="http://schemas.microsoft.com/office/drawing/2014/main" id="{0E22EE94-ADD1-42D0-9638-E343B2E57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381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02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rPr>
              <a:t>실습에서 확인하는 범위</a:t>
            </a:r>
          </a:p>
        </p:txBody>
      </p:sp>
      <p:sp>
        <p:nvSpPr>
          <p:cNvPr id="16" name="extra-text-14">
            <a:extLst xmlns:a="http://schemas.openxmlformats.org/drawingml/2006/main">
              <a:ext uri="{FF2B5EF4-FFF2-40B4-BE49-F238E27FC236}">
                <a16:creationId xmlns:a16="http://schemas.microsoft.com/office/drawing/2014/main" id="{F4221D0F-3FA1-4E59-87C0-C20ADE686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38112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ConfigUI에서 수집 구성을 확인하고 채널 입력 양식을 검토하며 목록 검색·새로고침과 Gateway/OPC UA 상태를 점검합니다. 현재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실습은 UI의 임시 메모리 저장소를 사용합니다. backend http://127.0.0.1:5191 과 실제 OPC UA 수집은 사용 불가 상태이므로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생산 수집 정상 상태로 간주하지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24534523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ext-1">
            <a:extLst xmlns:a="http://schemas.openxmlformats.org/drawingml/2006/main">
              <a:ext uri="{FF2B5EF4-FFF2-40B4-BE49-F238E27FC236}">
                <a16:creationId xmlns:a16="http://schemas.microsoft.com/office/drawing/2014/main" id="{CC7D7B99-2A67-4B18-87F1-C2C211587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323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rPr>
              <a:t>IIoT Gateway  /  01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49B04059-5D2D-4836-9510-976E5F386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323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05DA2C-1470-4DEF-A6AF-03B5D1A29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1E7"/>
            </a:solidFill>
          </a:ln>
        </p:spPr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190189AD-4FAF-4D03-9913-9A0A63BA3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43900"/>
            <a:ext cx="1238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IIoT Gateway 사용 매뉴얼  2026.10.25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E4CC906E-4438-4145-AF30-F512BB110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수집 구성과 저장소 확인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1FEB350E-2728-4D97-952D-39E2A550C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3887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등록된 구성 수와 실제 연결 상태를 구분합니다.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545760-4B86-4676-8730-753FD897F0E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cfc93d5b3c4059"/>
          <a:stretch xmlns:a="http://schemas.openxmlformats.org/drawingml/2006/main"/>
        </p:blipFill>
        <p:spPr>
          <a:xfrm xmlns:a="http://schemas.openxmlformats.org/drawingml/2006/main">
            <a:off x="638175" y="23526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A8C014BB-4A35-48DF-AF42-505E18EAC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7717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7CAAF7D9-A968-4B33-A7A5-39D3315DF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3241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Data Access 열기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8214CB8E-FCAE-455F-9D3F-1A3978913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733675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왼쪽 Data Access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ECF1E6-C7A9-4DA6-9646-CE079106057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4de3a761ca4251"/>
          <a:stretch xmlns:a="http://schemas.openxmlformats.org/drawingml/2006/main"/>
        </p:blipFill>
        <p:spPr>
          <a:xfrm xmlns:a="http://schemas.openxmlformats.org/drawingml/2006/main">
            <a:off x="638175" y="33051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2" name="text-9">
            <a:extLst xmlns:a="http://schemas.openxmlformats.org/drawingml/2006/main">
              <a:ext uri="{FF2B5EF4-FFF2-40B4-BE49-F238E27FC236}">
                <a16:creationId xmlns:a16="http://schemas.microsoft.com/office/drawing/2014/main" id="{502F99F1-B0DC-4C31-9514-BB8A80849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7242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text-10">
            <a:extLst xmlns:a="http://schemas.openxmlformats.org/drawingml/2006/main">
              <a:ext uri="{FF2B5EF4-FFF2-40B4-BE49-F238E27FC236}">
                <a16:creationId xmlns:a16="http://schemas.microsoft.com/office/drawing/2014/main" id="{70789673-1616-4E4D-B801-D29ACEBD0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2766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저장소 안내 읽기</a:t>
            </a:r>
          </a:p>
        </p:txBody>
      </p:sp>
      <p:sp>
        <p:nvSpPr>
          <p:cNvPr id="14" name="text-11">
            <a:extLst xmlns:a="http://schemas.openxmlformats.org/drawingml/2006/main">
              <a:ext uri="{FF2B5EF4-FFF2-40B4-BE49-F238E27FC236}">
                <a16:creationId xmlns:a16="http://schemas.microsoft.com/office/drawing/2014/main" id="{7FDEDD4A-6145-4DDA-B303-F6A405AD4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686175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임시 메모리 저장소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안내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65961B-55B7-4BDF-A62B-C99AED91B86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02373be2884fb2"/>
          <a:stretch xmlns:a="http://schemas.openxmlformats.org/drawingml/2006/main"/>
        </p:blipFill>
        <p:spPr>
          <a:xfrm xmlns:a="http://schemas.openxmlformats.org/drawingml/2006/main">
            <a:off x="638175" y="458152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6" name="text-12">
            <a:extLst xmlns:a="http://schemas.openxmlformats.org/drawingml/2006/main">
              <a:ext uri="{FF2B5EF4-FFF2-40B4-BE49-F238E27FC236}">
                <a16:creationId xmlns:a16="http://schemas.microsoft.com/office/drawing/2014/main" id="{D7ED4126-1C08-46FB-B353-D9606F6BA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00062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7" name="text-13">
            <a:extLst xmlns:a="http://schemas.openxmlformats.org/drawingml/2006/main">
              <a:ext uri="{FF2B5EF4-FFF2-40B4-BE49-F238E27FC236}">
                <a16:creationId xmlns:a16="http://schemas.microsoft.com/office/drawing/2014/main" id="{868917ED-93A2-4C87-9B87-F31D40BFB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55295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구성 수와 상태 대조</a:t>
            </a:r>
          </a:p>
        </p:txBody>
      </p:sp>
      <p:sp>
        <p:nvSpPr>
          <p:cNvPr id="18" name="text-14">
            <a:extLst xmlns:a="http://schemas.openxmlformats.org/drawingml/2006/main">
              <a:ext uri="{FF2B5EF4-FFF2-40B4-BE49-F238E27FC236}">
                <a16:creationId xmlns:a16="http://schemas.microsoft.com/office/drawing/2014/main" id="{AA396321-6ACB-4F4E-A3C1-F12622143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962525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CHANNELS · DEVICES ·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TAGS</a:t>
            </a:r>
          </a:p>
        </p:txBody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A87616-AC20-43F2-AA98-6F6E460EFEE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54b947fea644bc"/>
          <a:srcRect xmlns:a="http://schemas.openxmlformats.org/drawingml/2006/main" l="17000" t="10000" r="2000" b="39000"/>
          <a:stretch xmlns:a="http://schemas.openxmlformats.org/drawingml/2006/main"/>
        </p:blipFill>
        <p:spPr>
          <a:xfrm xmlns:a="http://schemas.openxmlformats.org/drawingml/2006/main">
            <a:off x="4955278" y="2305050"/>
            <a:ext cx="8910844" cy="4324350"/>
          </a:xfrm>
          <a:prstGeom xmlns:a="http://schemas.openxmlformats.org/drawingml/2006/main" prst="rect">
            <a:avLst/>
          </a:prstGeom>
        </p:spPr>
      </p:pic>
      <p:sp>
        <p:nvSpPr>
          <p:cNvPr id="20" name="text-15">
            <a:extLst xmlns:a="http://schemas.openxmlformats.org/drawingml/2006/main">
              <a:ext uri="{FF2B5EF4-FFF2-40B4-BE49-F238E27FC236}">
                <a16:creationId xmlns:a16="http://schemas.microsoft.com/office/drawing/2014/main" id="{C5E0A9F5-BCC3-44A6-BA3D-3B08D02E5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478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실제 화면 확대</a:t>
            </a:r>
          </a:p>
        </p:txBody>
      </p:sp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F46995-B9FD-41C4-A00C-B01AF014A33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193f77da9e4672"/>
          <a:stretch xmlns:a="http://schemas.openxmlformats.org/drawingml/2006/main"/>
        </p:blipFill>
        <p:spPr>
          <a:xfrm xmlns:a="http://schemas.openxmlformats.org/drawingml/2006/main">
            <a:off x="4219575" y="6781800"/>
            <a:ext cx="295275" cy="295275"/>
          </a:xfrm>
          <a:prstGeom xmlns:a="http://schemas.openxmlformats.org/drawingml/2006/main" prst="rect">
            <a:avLst/>
          </a:prstGeom>
        </p:spPr>
      </p:pic>
      <p:sp>
        <p:nvSpPr>
          <p:cNvPr id="22" name="text-16">
            <a:extLst xmlns:a="http://schemas.openxmlformats.org/drawingml/2006/main">
              <a:ext uri="{FF2B5EF4-FFF2-40B4-BE49-F238E27FC236}">
                <a16:creationId xmlns:a16="http://schemas.microsoft.com/office/drawing/2014/main" id="{59C54253-545D-43F5-9A0E-EFF016239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6772275"/>
            <a:ext cx="9953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실습은 MySQL 미연결 임시 저장소입니다. Enable이나 등록만으로 수집 성공을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판단하지 않습니다.</a:t>
            </a:r>
          </a:p>
        </p:txBody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09CE9F-CA9C-42A3-8E88-99127B8A1A3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206c49c2b94dac"/>
          <a:stretch xmlns:a="http://schemas.openxmlformats.org/drawingml/2006/main"/>
        </p:blipFill>
        <p:spPr>
          <a:xfrm xmlns:a="http://schemas.openxmlformats.org/drawingml/2006/main">
            <a:off x="628650" y="75438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24" name="text-17">
            <a:extLst xmlns:a="http://schemas.openxmlformats.org/drawingml/2006/main">
              <a:ext uri="{FF2B5EF4-FFF2-40B4-BE49-F238E27FC236}">
                <a16:creationId xmlns:a16="http://schemas.microsoft.com/office/drawing/2014/main" id="{F53E450D-50C2-4DB3-9205-E83D3CE38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7515225"/>
            <a:ext cx="13411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현재 저장소의 구성과 검증 항목 수가 보입니다.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빈 목록은 등록된 구성이 없는 상태입니다.</a:t>
            </a:r>
          </a:p>
        </p:txBody>
      </p:sp>
    </p:spTree>
    <p:extLst>
      <p:ext uri="{BB962C8B-B14F-4D97-AF65-F5344CB8AC3E}">
        <p14:creationId xmlns:p14="http://schemas.microsoft.com/office/powerpoint/2010/main" val="11110249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text-1">
            <a:extLst xmlns:a="http://schemas.openxmlformats.org/drawingml/2006/main">
              <a:ext uri="{FF2B5EF4-FFF2-40B4-BE49-F238E27FC236}">
                <a16:creationId xmlns:a16="http://schemas.microsoft.com/office/drawing/2014/main" id="{BD10045D-EE34-476A-BD06-17F5CD939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323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rPr>
              <a:t>IIoT Gateway  /  02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1BA4CC48-A2A9-4BF4-82A6-044BAD4F9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323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5F97AE-FD7B-4E8F-BF7E-DADE01565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1E7"/>
            </a:solidFill>
          </a:ln>
        </p:spPr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5F6925B-102A-4732-B0AD-1680E584D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43900"/>
            <a:ext cx="1238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IIoT Gateway 사용 매뉴얼  2026.10.25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2D482A0F-A6BC-4DDA-801A-6BE6D8B91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교육용 Modbus 채널 등록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3AFE848F-4970-439B-950B-C0E996AEA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3887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임시 저장소에 실습 채널을 만들고 목록을 확인합니다.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97FD61-B883-4874-A71E-66DB52D86F4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a209a2a9054ef1"/>
          <a:stretch xmlns:a="http://schemas.openxmlformats.org/drawingml/2006/main"/>
        </p:blipFill>
        <p:spPr>
          <a:xfrm xmlns:a="http://schemas.openxmlformats.org/drawingml/2006/main">
            <a:off x="638175" y="23526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7B001263-613F-4D05-8A50-BC4E2C1D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7717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F1D5B801-7998-459C-AEB8-81B0E9437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3241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채널 입력 열기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12976960-86F1-469E-81DA-05FD8BA43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733675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Add Channel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8CC79D-1847-4B70-8523-6439F1724A9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42624830bf4efc"/>
          <a:stretch xmlns:a="http://schemas.openxmlformats.org/drawingml/2006/main"/>
        </p:blipFill>
        <p:spPr>
          <a:xfrm xmlns:a="http://schemas.openxmlformats.org/drawingml/2006/main">
            <a:off x="638175" y="3164681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2" name="text-9">
            <a:extLst xmlns:a="http://schemas.openxmlformats.org/drawingml/2006/main">
              <a:ext uri="{FF2B5EF4-FFF2-40B4-BE49-F238E27FC236}">
                <a16:creationId xmlns:a16="http://schemas.microsoft.com/office/drawing/2014/main" id="{8074A322-F97F-419B-BC8A-446793646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583781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text-10">
            <a:extLst xmlns:a="http://schemas.openxmlformats.org/drawingml/2006/main">
              <a:ext uri="{FF2B5EF4-FFF2-40B4-BE49-F238E27FC236}">
                <a16:creationId xmlns:a16="http://schemas.microsoft.com/office/drawing/2014/main" id="{51E23A65-DEBD-43BE-B9F9-F95D9C918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136106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고유 이름과 설명 입력</a:t>
            </a:r>
          </a:p>
        </p:txBody>
      </p:sp>
      <p:sp>
        <p:nvSpPr>
          <p:cNvPr id="14" name="text-11">
            <a:extLst xmlns:a="http://schemas.openxmlformats.org/drawingml/2006/main">
              <a:ext uri="{FF2B5EF4-FFF2-40B4-BE49-F238E27FC236}">
                <a16:creationId xmlns:a16="http://schemas.microsoft.com/office/drawing/2014/main" id="{677C943C-1EA2-45B9-B86A-62598EF21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545681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Manual_Modbus ·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실습용 설명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B7FCFD-C089-417A-8837-1E6A3523F1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e8af073efc42ba"/>
          <a:stretch xmlns:a="http://schemas.openxmlformats.org/drawingml/2006/main"/>
        </p:blipFill>
        <p:spPr>
          <a:xfrm xmlns:a="http://schemas.openxmlformats.org/drawingml/2006/main">
            <a:off x="638175" y="4300538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6" name="text-12">
            <a:extLst xmlns:a="http://schemas.openxmlformats.org/drawingml/2006/main">
              <a:ext uri="{FF2B5EF4-FFF2-40B4-BE49-F238E27FC236}">
                <a16:creationId xmlns:a16="http://schemas.microsoft.com/office/drawing/2014/main" id="{68EC5A41-99AB-4711-B171-8580EF95B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719638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7" name="text-13">
            <a:extLst xmlns:a="http://schemas.openxmlformats.org/drawingml/2006/main">
              <a:ext uri="{FF2B5EF4-FFF2-40B4-BE49-F238E27FC236}">
                <a16:creationId xmlns:a16="http://schemas.microsoft.com/office/drawing/2014/main" id="{FA66A51B-FB6A-4203-93FB-27510E921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271963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통신과 매개변수 지정</a:t>
            </a:r>
          </a:p>
        </p:txBody>
      </p:sp>
      <p:sp>
        <p:nvSpPr>
          <p:cNvPr id="18" name="text-14">
            <a:extLst xmlns:a="http://schemas.openxmlformats.org/drawingml/2006/main">
              <a:ext uri="{FF2B5EF4-FFF2-40B4-BE49-F238E27FC236}">
                <a16:creationId xmlns:a16="http://schemas.microsoft.com/office/drawing/2014/main" id="{CD4DBA50-66D8-4110-8D0D-B39EDD1A8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681538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Modbus TCP · JSON {}</a:t>
            </a:r>
          </a:p>
        </p:txBody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AC7008-1BC0-46D1-B466-96636BF4FB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2745aac64f4d26"/>
          <a:stretch xmlns:a="http://schemas.openxmlformats.org/drawingml/2006/main"/>
        </p:blipFill>
        <p:spPr>
          <a:xfrm xmlns:a="http://schemas.openxmlformats.org/drawingml/2006/main">
            <a:off x="638175" y="5112544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20" name="text-15">
            <a:extLst xmlns:a="http://schemas.openxmlformats.org/drawingml/2006/main">
              <a:ext uri="{FF2B5EF4-FFF2-40B4-BE49-F238E27FC236}">
                <a16:creationId xmlns:a16="http://schemas.microsoft.com/office/drawing/2014/main" id="{611A44E5-CFC0-469E-9166-9E1E66981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531644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1" name="text-16">
            <a:extLst xmlns:a="http://schemas.openxmlformats.org/drawingml/2006/main">
              <a:ext uri="{FF2B5EF4-FFF2-40B4-BE49-F238E27FC236}">
                <a16:creationId xmlns:a16="http://schemas.microsoft.com/office/drawing/2014/main" id="{A53DB02B-8518-4FC4-A57F-C7329C96D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083969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저장 결과 확인</a:t>
            </a:r>
          </a:p>
        </p:txBody>
      </p:sp>
      <p:sp>
        <p:nvSpPr>
          <p:cNvPr id="22" name="text-17">
            <a:extLst xmlns:a="http://schemas.openxmlformats.org/drawingml/2006/main">
              <a:ext uri="{FF2B5EF4-FFF2-40B4-BE49-F238E27FC236}">
                <a16:creationId xmlns:a16="http://schemas.microsoft.com/office/drawing/2014/main" id="{9DB281E9-DA4B-4C18-8D41-2D340DD2F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493544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Save → 목록 1 / 1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확인</a:t>
            </a:r>
          </a:p>
        </p:txBody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6DC0AF-551D-4091-9D34-50FB12C31B0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9c2b57c59c4a95"/>
          <a:stretch xmlns:a="http://schemas.openxmlformats.org/drawingml/2006/main"/>
        </p:blipFill>
        <p:spPr>
          <a:xfrm xmlns:a="http://schemas.openxmlformats.org/drawingml/2006/main">
            <a:off x="638175" y="62484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24" name="text-18">
            <a:extLst xmlns:a="http://schemas.openxmlformats.org/drawingml/2006/main">
              <a:ext uri="{FF2B5EF4-FFF2-40B4-BE49-F238E27FC236}">
                <a16:creationId xmlns:a16="http://schemas.microsoft.com/office/drawing/2014/main" id="{5339B4DD-DC16-42FA-BDC5-623D08331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6667500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25" name="text-19">
            <a:extLst xmlns:a="http://schemas.openxmlformats.org/drawingml/2006/main">
              <a:ext uri="{FF2B5EF4-FFF2-40B4-BE49-F238E27FC236}">
                <a16:creationId xmlns:a16="http://schemas.microsoft.com/office/drawing/2014/main" id="{7FCA6630-E4B4-4902-9ED0-DDE4A5994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6219825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교육용 채널 정리</a:t>
            </a:r>
          </a:p>
        </p:txBody>
      </p:sp>
      <p:sp>
        <p:nvSpPr>
          <p:cNvPr id="26" name="text-20">
            <a:extLst xmlns:a="http://schemas.openxmlformats.org/drawingml/2006/main">
              <a:ext uri="{FF2B5EF4-FFF2-40B4-BE49-F238E27FC236}">
                <a16:creationId xmlns:a16="http://schemas.microsoft.com/office/drawing/2014/main" id="{1A47E548-5A0B-4788-8D0F-F80E9AD3A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6629400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삭제 아이콘 → 삭제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확인</a:t>
            </a:r>
          </a:p>
        </p:txBody>
      </p:sp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0E8706-1999-4ED1-BA88-A2BB931EF7E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7e313922bb4c49"/>
          <a:srcRect xmlns:a="http://schemas.openxmlformats.org/drawingml/2006/main" l="25000" t="24000" r="25000" b="24000"/>
          <a:stretch xmlns:a="http://schemas.openxmlformats.org/drawingml/2006/main"/>
        </p:blipFill>
        <p:spPr>
          <a:xfrm xmlns:a="http://schemas.openxmlformats.org/drawingml/2006/main">
            <a:off x="6713329" y="2305050"/>
            <a:ext cx="5394742" cy="4324350"/>
          </a:xfrm>
          <a:prstGeom xmlns:a="http://schemas.openxmlformats.org/drawingml/2006/main" prst="rect">
            <a:avLst/>
          </a:prstGeom>
        </p:spPr>
      </p:pic>
      <p:sp>
        <p:nvSpPr>
          <p:cNvPr id="28" name="text-21">
            <a:extLst xmlns:a="http://schemas.openxmlformats.org/drawingml/2006/main">
              <a:ext uri="{FF2B5EF4-FFF2-40B4-BE49-F238E27FC236}">
                <a16:creationId xmlns:a16="http://schemas.microsoft.com/office/drawing/2014/main" id="{7A00F0AA-D8F3-4524-9062-1FB2DE22A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478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실제 화면 확대</a:t>
            </a:r>
          </a:p>
        </p:txBody>
      </p:sp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5D6EA7-1DB5-40C1-A1E4-0C311D2EA2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e29076fe8c4444"/>
          <a:stretch xmlns:a="http://schemas.openxmlformats.org/drawingml/2006/main"/>
        </p:blipFill>
        <p:spPr>
          <a:xfrm xmlns:a="http://schemas.openxmlformats.org/drawingml/2006/main">
            <a:off x="4219575" y="6781800"/>
            <a:ext cx="295275" cy="295275"/>
          </a:xfrm>
          <a:prstGeom xmlns:a="http://schemas.openxmlformats.org/drawingml/2006/main" prst="rect">
            <a:avLst/>
          </a:prstGeom>
        </p:spPr>
      </p:pic>
      <p:sp>
        <p:nvSpPr>
          <p:cNvPr id="30" name="text-22">
            <a:extLst xmlns:a="http://schemas.openxmlformats.org/drawingml/2006/main">
              <a:ext uri="{FF2B5EF4-FFF2-40B4-BE49-F238E27FC236}">
                <a16:creationId xmlns:a16="http://schemas.microsoft.com/office/drawing/2014/main" id="{3A7FA9FE-4F8A-4A0F-AE88-B9D973FCF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6772275"/>
            <a:ext cx="9953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{}는 연결용 구성이 아닙니다. 실제 PLC 연결은 없으며 임시 설정은 재시작 시 사라질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수 있습니다.</a:t>
            </a:r>
          </a:p>
        </p:txBody>
      </p:sp>
      <p:pic>
        <p:nvPic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F3EB5C9-26FF-4F2E-BC30-285C536FF7D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279c5f464748a7"/>
          <a:stretch xmlns:a="http://schemas.openxmlformats.org/drawingml/2006/main"/>
        </p:blipFill>
        <p:spPr>
          <a:xfrm xmlns:a="http://schemas.openxmlformats.org/drawingml/2006/main">
            <a:off x="628650" y="75438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32" name="text-23">
            <a:extLst xmlns:a="http://schemas.openxmlformats.org/drawingml/2006/main">
              <a:ext uri="{FF2B5EF4-FFF2-40B4-BE49-F238E27FC236}">
                <a16:creationId xmlns:a16="http://schemas.microsoft.com/office/drawing/2014/main" id="{3EC444A5-30ED-4CC3-AD1B-5F399CB4F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7515225"/>
            <a:ext cx="13411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채널이 Enabled·Stopped로 등록됩니다.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등록 결과는 다음 구성 검색 화면에서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14235692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ext-1">
            <a:extLst xmlns:a="http://schemas.openxmlformats.org/drawingml/2006/main">
              <a:ext uri="{FF2B5EF4-FFF2-40B4-BE49-F238E27FC236}">
                <a16:creationId xmlns:a16="http://schemas.microsoft.com/office/drawing/2014/main" id="{889C9A7C-C321-451A-A1EF-94362C2A3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323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rPr>
              <a:t>IIoT Gateway  /  03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C3E5A082-D768-4CF9-8133-B433B390E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323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ABCE4D-AC47-42B2-ABA8-34103FA59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1E7"/>
            </a:solidFill>
          </a:ln>
        </p:spPr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3AE09AD-625D-42BF-A8F1-F196FF585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43900"/>
            <a:ext cx="1238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IIoT Gateway 사용 매뉴얼  2026.10.25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9ADE588F-175F-47E6-8650-31EEB951A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구성 검색 후 다시 불러오기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E4FECD98-50A9-4392-98F2-006FDDDBB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3887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현재 목록에서 필요한 채널·설비·태그를 찾습니다.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143447-5C03-40CC-B42F-192D3284C5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b89bae570e4f4e"/>
          <a:stretch xmlns:a="http://schemas.openxmlformats.org/drawingml/2006/main"/>
        </p:blipFill>
        <p:spPr>
          <a:xfrm xmlns:a="http://schemas.openxmlformats.org/drawingml/2006/main">
            <a:off x="638175" y="23526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84220E96-6C3A-40BE-8605-B519569A5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7717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59E99283-D82B-4D21-8501-05A44631C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3241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현재 목록 범위 확인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22393E0B-3745-48A5-9463-09C983D1D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733675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채널 · 설비 · 태그 범위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확인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CD233F-B8A9-4726-9068-B5605FCE7C6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ed85cfeab0450a"/>
          <a:stretch xmlns:a="http://schemas.openxmlformats.org/drawingml/2006/main"/>
        </p:blipFill>
        <p:spPr>
          <a:xfrm xmlns:a="http://schemas.openxmlformats.org/drawingml/2006/main">
            <a:off x="638175" y="362902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2" name="text-9">
            <a:extLst xmlns:a="http://schemas.openxmlformats.org/drawingml/2006/main">
              <a:ext uri="{FF2B5EF4-FFF2-40B4-BE49-F238E27FC236}">
                <a16:creationId xmlns:a16="http://schemas.microsoft.com/office/drawing/2014/main" id="{CE0BE5C5-6963-4E52-AB9E-C06BF9BF8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04812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text-10">
            <a:extLst xmlns:a="http://schemas.openxmlformats.org/drawingml/2006/main">
              <a:ext uri="{FF2B5EF4-FFF2-40B4-BE49-F238E27FC236}">
                <a16:creationId xmlns:a16="http://schemas.microsoft.com/office/drawing/2014/main" id="{404EB6D8-DA9D-4D7A-80B0-AA524BEC6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60045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목록 검색</a:t>
            </a:r>
          </a:p>
        </p:txBody>
      </p:sp>
      <p:sp>
        <p:nvSpPr>
          <p:cNvPr id="14" name="text-11">
            <a:extLst xmlns:a="http://schemas.openxmlformats.org/drawingml/2006/main">
              <a:ext uri="{FF2B5EF4-FFF2-40B4-BE49-F238E27FC236}">
                <a16:creationId xmlns:a16="http://schemas.microsoft.com/office/drawing/2014/main" id="{3FDD8538-600E-4B6D-A06A-D47FABF02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010025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현재 목록 검색: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Manual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B44AB0-2CF7-45B8-AE3C-2E73A90E350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a0b7f1f1c346bb"/>
          <a:stretch xmlns:a="http://schemas.openxmlformats.org/drawingml/2006/main"/>
        </p:blipFill>
        <p:spPr>
          <a:xfrm xmlns:a="http://schemas.openxmlformats.org/drawingml/2006/main">
            <a:off x="638175" y="49053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6" name="text-12">
            <a:extLst xmlns:a="http://schemas.openxmlformats.org/drawingml/2006/main">
              <a:ext uri="{FF2B5EF4-FFF2-40B4-BE49-F238E27FC236}">
                <a16:creationId xmlns:a16="http://schemas.microsoft.com/office/drawing/2014/main" id="{7E0CCA9D-171B-4432-831E-F82D2B22F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3244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7" name="text-13">
            <a:extLst xmlns:a="http://schemas.openxmlformats.org/drawingml/2006/main">
              <a:ext uri="{FF2B5EF4-FFF2-40B4-BE49-F238E27FC236}">
                <a16:creationId xmlns:a16="http://schemas.microsoft.com/office/drawing/2014/main" id="{E3ED92A5-903A-4F57-9882-6E6F30C05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8768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표시 건수 대조</a:t>
            </a:r>
          </a:p>
        </p:txBody>
      </p:sp>
      <p:sp>
        <p:nvSpPr>
          <p:cNvPr id="18" name="text-14">
            <a:extLst xmlns:a="http://schemas.openxmlformats.org/drawingml/2006/main">
              <a:ext uri="{FF2B5EF4-FFF2-40B4-BE49-F238E27FC236}">
                <a16:creationId xmlns:a16="http://schemas.microsoft.com/office/drawing/2014/main" id="{7978FDB7-9528-4DE2-B2C6-2B12CC7CD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286375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표시 건수 / 전체 항목</a:t>
            </a:r>
          </a:p>
        </p:txBody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ED2F44-DEFE-40EA-9DAC-376E2F9F57C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52ca941204468a"/>
          <a:stretch xmlns:a="http://schemas.openxmlformats.org/drawingml/2006/main"/>
        </p:blipFill>
        <p:spPr>
          <a:xfrm xmlns:a="http://schemas.openxmlformats.org/drawingml/2006/main">
            <a:off x="638175" y="58578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20" name="text-15">
            <a:extLst xmlns:a="http://schemas.openxmlformats.org/drawingml/2006/main">
              <a:ext uri="{FF2B5EF4-FFF2-40B4-BE49-F238E27FC236}">
                <a16:creationId xmlns:a16="http://schemas.microsoft.com/office/drawing/2014/main" id="{40430CAD-8AA3-47BD-8114-DEA8F16C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62769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1" name="text-16">
            <a:extLst xmlns:a="http://schemas.openxmlformats.org/drawingml/2006/main">
              <a:ext uri="{FF2B5EF4-FFF2-40B4-BE49-F238E27FC236}">
                <a16:creationId xmlns:a16="http://schemas.microsoft.com/office/drawing/2014/main" id="{C3775196-5AA1-4611-BBB6-7A8AF0C69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8293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저장 구성 재조회</a:t>
            </a:r>
          </a:p>
        </p:txBody>
      </p:sp>
      <p:sp>
        <p:nvSpPr>
          <p:cNvPr id="22" name="text-17">
            <a:extLst xmlns:a="http://schemas.openxmlformats.org/drawingml/2006/main">
              <a:ext uri="{FF2B5EF4-FFF2-40B4-BE49-F238E27FC236}">
                <a16:creationId xmlns:a16="http://schemas.microsoft.com/office/drawing/2014/main" id="{EFB8D232-917A-45C6-9024-74458C49F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6238875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검색 삭제 → 새로고침</a:t>
            </a:r>
          </a:p>
        </p:txBody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08E969-596A-4DE2-B51B-63842BAE27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dfa216943a446a"/>
          <a:srcRect xmlns:a="http://schemas.openxmlformats.org/drawingml/2006/main" l="17000" t="33000" r="2000" b="29000"/>
          <a:stretch xmlns:a="http://schemas.openxmlformats.org/drawingml/2006/main"/>
        </p:blipFill>
        <p:spPr>
          <a:xfrm xmlns:a="http://schemas.openxmlformats.org/drawingml/2006/main">
            <a:off x="4191000" y="2579838"/>
            <a:ext cx="10439400" cy="3774774"/>
          </a:xfrm>
          <a:prstGeom xmlns:a="http://schemas.openxmlformats.org/drawingml/2006/main" prst="rect">
            <a:avLst/>
          </a:prstGeom>
        </p:spPr>
      </p:pic>
      <p:sp>
        <p:nvSpPr>
          <p:cNvPr id="24" name="text-18">
            <a:extLst xmlns:a="http://schemas.openxmlformats.org/drawingml/2006/main">
              <a:ext uri="{FF2B5EF4-FFF2-40B4-BE49-F238E27FC236}">
                <a16:creationId xmlns:a16="http://schemas.microsoft.com/office/drawing/2014/main" id="{9358EEC2-4942-422F-BB6A-73B843F29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478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실제 화면 확대</a:t>
            </a:r>
          </a:p>
        </p:txBody>
      </p:sp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5D7BE7-9E52-4E97-B626-FD4867F4E79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c44e704ccd446e"/>
          <a:stretch xmlns:a="http://schemas.openxmlformats.org/drawingml/2006/main"/>
        </p:blipFill>
        <p:spPr>
          <a:xfrm xmlns:a="http://schemas.openxmlformats.org/drawingml/2006/main">
            <a:off x="4219575" y="6781800"/>
            <a:ext cx="295275" cy="295275"/>
          </a:xfrm>
          <a:prstGeom xmlns:a="http://schemas.openxmlformats.org/drawingml/2006/main" prst="rect">
            <a:avLst/>
          </a:prstGeom>
        </p:spPr>
      </p:pic>
      <p:sp>
        <p:nvSpPr>
          <p:cNvPr id="26" name="text-19">
            <a:extLst xmlns:a="http://schemas.openxmlformats.org/drawingml/2006/main">
              <a:ext uri="{FF2B5EF4-FFF2-40B4-BE49-F238E27FC236}">
                <a16:creationId xmlns:a16="http://schemas.microsoft.com/office/drawing/2014/main" id="{C5D73145-6AFD-41DB-82DA-4839A1416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6772275"/>
            <a:ext cx="9953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재조회에 실패하면 기존 목록을 최신 구성으로 간주하지 않습니다.</a:t>
            </a:r>
          </a:p>
        </p:txBody>
      </p:sp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54CBF7-6BCA-4ACF-8A42-B44D1624007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ae5e95ace04971"/>
          <a:stretch xmlns:a="http://schemas.openxmlformats.org/drawingml/2006/main"/>
        </p:blipFill>
        <p:spPr>
          <a:xfrm xmlns:a="http://schemas.openxmlformats.org/drawingml/2006/main">
            <a:off x="628650" y="75438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28" name="text-20">
            <a:extLst xmlns:a="http://schemas.openxmlformats.org/drawingml/2006/main">
              <a:ext uri="{FF2B5EF4-FFF2-40B4-BE49-F238E27FC236}">
                <a16:creationId xmlns:a16="http://schemas.microsoft.com/office/drawing/2014/main" id="{1B5D3947-9269-480E-BA62-CA58A637E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7515225"/>
            <a:ext cx="13411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표시 건수와 최근 확인 시각이 갱신됩니다.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장치 재시작이나 구성 저장은 수행하지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130230495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ext-1">
            <a:extLst xmlns:a="http://schemas.openxmlformats.org/drawingml/2006/main">
              <a:ext uri="{FF2B5EF4-FFF2-40B4-BE49-F238E27FC236}">
                <a16:creationId xmlns:a16="http://schemas.microsoft.com/office/drawing/2014/main" id="{9DB95A3F-4B44-43A2-B160-D1FD5C2AC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323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rPr>
              <a:t>IIoT Gateway  /  04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8D565CFA-5CD1-4363-ABA5-2A74E192E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323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AD4EDF-A080-458B-826E-9AFAA8BA9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1E7"/>
            </a:solidFill>
          </a:ln>
        </p:spPr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462E8290-B0EC-49CF-A27C-FD8ADA5E7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43900"/>
            <a:ext cx="1238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IIoT Gateway 사용 매뉴얼  2026.10.25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9CAA4758-8581-49EB-B8D1-60059D5B5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Gateway·OPC UA 상태 점검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8084D3F4-F16D-4336-9EA4-FC4849A40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3887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UI 접근, 수집 서버, OPC UA 연결을 따로 확인합니다.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C7ED0E-7B00-4714-9690-001852CF07C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095c6e406242e9"/>
          <a:stretch xmlns:a="http://schemas.openxmlformats.org/drawingml/2006/main"/>
        </p:blipFill>
        <p:spPr>
          <a:xfrm xmlns:a="http://schemas.openxmlformats.org/drawingml/2006/main">
            <a:off x="638175" y="23526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510919C1-F91D-45C5-B590-BE33EDCD8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7717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EF2A3AAF-6A04-4899-8E21-BE1C270A5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3241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Monitoring 열기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F1F27C76-D2AC-4923-9F70-7349425B1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733675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왼쪽 Monitoring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D21C0F-44A3-464B-A94C-B5B5A1B8A9E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938c06b8c84390"/>
          <a:stretch xmlns:a="http://schemas.openxmlformats.org/drawingml/2006/main"/>
        </p:blipFill>
        <p:spPr>
          <a:xfrm xmlns:a="http://schemas.openxmlformats.org/drawingml/2006/main">
            <a:off x="638175" y="33051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2" name="text-9">
            <a:extLst xmlns:a="http://schemas.openxmlformats.org/drawingml/2006/main">
              <a:ext uri="{FF2B5EF4-FFF2-40B4-BE49-F238E27FC236}">
                <a16:creationId xmlns:a16="http://schemas.microsoft.com/office/drawing/2014/main" id="{E7A6B227-FB32-4458-BABE-65BF0170F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7242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text-10">
            <a:extLst xmlns:a="http://schemas.openxmlformats.org/drawingml/2006/main">
              <a:ext uri="{FF2B5EF4-FFF2-40B4-BE49-F238E27FC236}">
                <a16:creationId xmlns:a16="http://schemas.microsoft.com/office/drawing/2014/main" id="{02CFB3B4-8C2F-4157-B89C-EBE4CAA3C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2766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수집 서버 상태 갱신</a:t>
            </a:r>
          </a:p>
        </p:txBody>
      </p:sp>
      <p:sp>
        <p:nvSpPr>
          <p:cNvPr id="14" name="text-11">
            <a:extLst xmlns:a="http://schemas.openxmlformats.org/drawingml/2006/main">
              <a:ext uri="{FF2B5EF4-FFF2-40B4-BE49-F238E27FC236}">
                <a16:creationId xmlns:a16="http://schemas.microsoft.com/office/drawing/2014/main" id="{1EECA1E1-3743-4195-9342-7B08C4693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686175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Server Status →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Refresh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CDD8A1-AA8B-4E7D-B025-3F7F56EF541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000adaed944eaf"/>
          <a:stretch xmlns:a="http://schemas.openxmlformats.org/drawingml/2006/main"/>
        </p:blipFill>
        <p:spPr>
          <a:xfrm xmlns:a="http://schemas.openxmlformats.org/drawingml/2006/main">
            <a:off x="638175" y="458152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6" name="text-12">
            <a:extLst xmlns:a="http://schemas.openxmlformats.org/drawingml/2006/main">
              <a:ext uri="{FF2B5EF4-FFF2-40B4-BE49-F238E27FC236}">
                <a16:creationId xmlns:a16="http://schemas.microsoft.com/office/drawing/2014/main" id="{1F0475D9-441E-4135-8E7C-D86AF95FF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00062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7" name="text-13">
            <a:extLst xmlns:a="http://schemas.openxmlformats.org/drawingml/2006/main">
              <a:ext uri="{FF2B5EF4-FFF2-40B4-BE49-F238E27FC236}">
                <a16:creationId xmlns:a16="http://schemas.microsoft.com/office/drawing/2014/main" id="{0C22F1DE-1055-4D2F-9220-92E9475FC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55295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OPC UA 연결 읽기</a:t>
            </a:r>
          </a:p>
        </p:txBody>
      </p:sp>
      <p:sp>
        <p:nvSpPr>
          <p:cNvPr id="18" name="text-14">
            <a:extLst xmlns:a="http://schemas.openxmlformats.org/drawingml/2006/main">
              <a:ext uri="{FF2B5EF4-FFF2-40B4-BE49-F238E27FC236}">
                <a16:creationId xmlns:a16="http://schemas.microsoft.com/office/drawing/2014/main" id="{8B9C96C2-76D4-46CF-A1DF-339334C34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962525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Connection Status ·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Endpoint</a:t>
            </a:r>
          </a:p>
        </p:txBody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B62B01-75D3-465F-9894-541DD63418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2ab4bc050c4557"/>
          <a:srcRect xmlns:a="http://schemas.openxmlformats.org/drawingml/2006/main" l="17000" t="10000" r="2000" b="18000"/>
          <a:stretch xmlns:a="http://schemas.openxmlformats.org/drawingml/2006/main"/>
        </p:blipFill>
        <p:spPr>
          <a:xfrm xmlns:a="http://schemas.openxmlformats.org/drawingml/2006/main">
            <a:off x="6254776" y="2305050"/>
            <a:ext cx="6311848" cy="4324350"/>
          </a:xfrm>
          <a:prstGeom xmlns:a="http://schemas.openxmlformats.org/drawingml/2006/main" prst="rect">
            <a:avLst/>
          </a:prstGeom>
        </p:spPr>
      </p:pic>
      <p:sp>
        <p:nvSpPr>
          <p:cNvPr id="20" name="text-15">
            <a:extLst xmlns:a="http://schemas.openxmlformats.org/drawingml/2006/main">
              <a:ext uri="{FF2B5EF4-FFF2-40B4-BE49-F238E27FC236}">
                <a16:creationId xmlns:a16="http://schemas.microsoft.com/office/drawing/2014/main" id="{05542823-CA6A-4FA2-876E-F6D99E42F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478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실제 화면 확대</a:t>
            </a:r>
          </a:p>
        </p:txBody>
      </p:sp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FF2EA1-11B9-43FF-B127-95988D99E15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b82cc427a94e48"/>
          <a:stretch xmlns:a="http://schemas.openxmlformats.org/drawingml/2006/main"/>
        </p:blipFill>
        <p:spPr>
          <a:xfrm xmlns:a="http://schemas.openxmlformats.org/drawingml/2006/main">
            <a:off x="4219575" y="6781800"/>
            <a:ext cx="295275" cy="295275"/>
          </a:xfrm>
          <a:prstGeom xmlns:a="http://schemas.openxmlformats.org/drawingml/2006/main" prst="rect">
            <a:avLst/>
          </a:prstGeom>
        </p:spPr>
      </p:pic>
      <p:sp>
        <p:nvSpPr>
          <p:cNvPr id="22" name="text-16">
            <a:extLst xmlns:a="http://schemas.openxmlformats.org/drawingml/2006/main">
              <a:ext uri="{FF2B5EF4-FFF2-40B4-BE49-F238E27FC236}">
                <a16:creationId xmlns:a16="http://schemas.microsoft.com/office/drawing/2014/main" id="{AD748630-54DB-4CD1-A840-DD13D3953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6772275"/>
            <a:ext cx="9953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backend :5191 미가동. 조회 실습에서는 Start·Restart·Stop·Connect를 누르지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않습니다.</a:t>
            </a:r>
          </a:p>
        </p:txBody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AEE0BF-1729-408A-A441-E34AE93320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96a0c1bb0a40b3"/>
          <a:stretch xmlns:a="http://schemas.openxmlformats.org/drawingml/2006/main"/>
        </p:blipFill>
        <p:spPr>
          <a:xfrm xmlns:a="http://schemas.openxmlformats.org/drawingml/2006/main">
            <a:off x="628650" y="75438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24" name="text-17">
            <a:extLst xmlns:a="http://schemas.openxmlformats.org/drawingml/2006/main">
              <a:ext uri="{FF2B5EF4-FFF2-40B4-BE49-F238E27FC236}">
                <a16:creationId xmlns:a16="http://schemas.microsoft.com/office/drawing/2014/main" id="{1EC3864B-BBD7-4376-B960-C6D040604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7515225"/>
            <a:ext cx="13411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Gateway 정지·OPC UA 미연결 상태입니다.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UI 접근과 실제 수집 성공은 구분합니다.</a:t>
            </a:r>
          </a:p>
        </p:txBody>
      </p:sp>
    </p:spTree>
    <p:extLst>
      <p:ext uri="{BB962C8B-B14F-4D97-AF65-F5344CB8AC3E}">
        <p14:creationId xmlns:p14="http://schemas.microsoft.com/office/powerpoint/2010/main" val="11675680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xtra-text-0">
            <a:extLst xmlns:a="http://schemas.openxmlformats.org/drawingml/2006/main">
              <a:ext uri="{FF2B5EF4-FFF2-40B4-BE49-F238E27FC236}">
                <a16:creationId xmlns:a16="http://schemas.microsoft.com/office/drawing/2014/main" id="{002F50EF-77FF-4F8C-8DB6-984B74BB8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238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0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0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0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0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0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0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0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0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0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150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67094"/>
                </a:solidFill>
                <a:latin typeface="Malgun Gothic"/>
                <a:ea typeface="Malgun Gothic"/>
                <a:cs typeface="Malgun Gothic"/>
              </a:rPr>
              <a:t>IIoT Gateway  /  사용 매뉴얼</a:t>
            </a:r>
          </a:p>
        </p:txBody>
      </p:sp>
      <p:sp>
        <p:nvSpPr>
          <p:cNvPr id="2" name="compat-page-number">
            <a:extLst xmlns:a="http://schemas.openxmlformats.org/drawingml/2006/main">
              <a:ext uri="{FF2B5EF4-FFF2-40B4-BE49-F238E27FC236}">
                <a16:creationId xmlns:a16="http://schemas.microsoft.com/office/drawing/2014/main" id="{4E2B337E-8C96-42EC-8C21-D1488CDC9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323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433B96-6AA6-4007-A86C-435EAC8E8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1E7"/>
            </a:solidFill>
          </a:ln>
        </p:spPr>
      </p:sp>
      <p:sp>
        <p:nvSpPr>
          <p:cNvPr id="4" name="compat-footer">
            <a:extLst xmlns:a="http://schemas.openxmlformats.org/drawingml/2006/main">
              <a:ext uri="{FF2B5EF4-FFF2-40B4-BE49-F238E27FC236}">
                <a16:creationId xmlns:a16="http://schemas.microsoft.com/office/drawing/2014/main" id="{CDEA472D-AA28-4FB3-AF84-4719086B4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43900"/>
            <a:ext cx="1238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IIoT Gateway 사용 매뉴얼  2026.10.25</a:t>
            </a:r>
          </a:p>
        </p:txBody>
      </p:sp>
      <p:sp>
        <p:nvSpPr>
          <p:cNvPr id="5" name="extra-text-3">
            <a:extLst xmlns:a="http://schemas.openxmlformats.org/drawingml/2006/main">
              <a:ext uri="{FF2B5EF4-FFF2-40B4-BE49-F238E27FC236}">
                <a16:creationId xmlns:a16="http://schemas.microsoft.com/office/drawing/2014/main" id="{93CE4009-AD36-4598-9007-A106A5B19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4020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상세 절차와 다음 확인</a:t>
            </a:r>
          </a:p>
        </p:txBody>
      </p:sp>
      <p:sp>
        <p:nvSpPr>
          <p:cNvPr id="6" name="extra-text-4">
            <a:extLst xmlns:a="http://schemas.openxmlformats.org/drawingml/2006/main">
              <a:ext uri="{FF2B5EF4-FFF2-40B4-BE49-F238E27FC236}">
                <a16:creationId xmlns:a16="http://schemas.microsoft.com/office/drawing/2014/main" id="{F04590A4-9417-4A1F-8E27-D6D75E3FC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57375"/>
            <a:ext cx="1381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슬라이드의 조작 순서를 상세 원문과 함께 사용할 수 있습니다.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214334-7ADE-4F9C-81D5-932707C914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babf7da42a43d8"/>
          <a:stretch xmlns:a="http://schemas.openxmlformats.org/drawingml/2006/main"/>
        </p:blipFill>
        <p:spPr>
          <a:xfrm xmlns:a="http://schemas.openxmlformats.org/drawingml/2006/main">
            <a:off x="685800" y="280035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8" name="extra-text-5">
            <a:extLst xmlns:a="http://schemas.openxmlformats.org/drawingml/2006/main">
              <a:ext uri="{FF2B5EF4-FFF2-40B4-BE49-F238E27FC236}">
                <a16:creationId xmlns:a16="http://schemas.microsoft.com/office/drawing/2014/main" id="{FD462959-D9C3-44EE-A9B3-04DE66FBC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62250"/>
            <a:ext cx="12858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솔루션별 Markdown</a:t>
            </a:r>
          </a:p>
        </p:txBody>
      </p:sp>
      <p:sp>
        <p:nvSpPr>
          <p:cNvPr id="9" name="extra-text-6">
            <a:extLst xmlns:a="http://schemas.openxmlformats.org/drawingml/2006/main">
              <a:ext uri="{FF2B5EF4-FFF2-40B4-BE49-F238E27FC236}">
                <a16:creationId xmlns:a16="http://schemas.microsoft.com/office/drawing/2014/main" id="{73CD3965-E835-4E40-8F9E-A4EA696E7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81375"/>
            <a:ext cx="1276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chapters/02-gateway.md  /  전체 단계·기대 결과·문제 해결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C3F3E1-7B64-4C94-8947-E2516E6AC3A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ca469c95f34d0f"/>
          <a:stretch xmlns:a="http://schemas.openxmlformats.org/drawingml/2006/main"/>
        </p:blipFill>
        <p:spPr>
          <a:xfrm xmlns:a="http://schemas.openxmlformats.org/drawingml/2006/main">
            <a:off x="685800" y="45720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11" name="extra-text-7">
            <a:extLst xmlns:a="http://schemas.openxmlformats.org/drawingml/2006/main">
              <a:ext uri="{FF2B5EF4-FFF2-40B4-BE49-F238E27FC236}">
                <a16:creationId xmlns:a16="http://schemas.microsoft.com/office/drawing/2014/main" id="{1E3471ED-ECF8-4FB1-A747-8241D6964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533900"/>
            <a:ext cx="12858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원본 값과 근거 확인</a:t>
            </a:r>
          </a:p>
        </p:txBody>
      </p:sp>
      <p:sp>
        <p:nvSpPr>
          <p:cNvPr id="12" name="extra-text-8">
            <a:extLst xmlns:a="http://schemas.openxmlformats.org/drawingml/2006/main">
              <a:ext uri="{FF2B5EF4-FFF2-40B4-BE49-F238E27FC236}">
                <a16:creationId xmlns:a16="http://schemas.microsoft.com/office/drawing/2014/main" id="{8A27A63C-D540-48B3-B667-34EA4B8B3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153025"/>
            <a:ext cx="1276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품질·원본 시각·데모 모드와 미연결 상태를 함께 확인합니다.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34E401-72E4-4BD0-81AE-6FAD3E5C063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6911dcce9a4dae"/>
          <a:stretch xmlns:a="http://schemas.openxmlformats.org/drawingml/2006/main"/>
        </p:blipFill>
        <p:spPr>
          <a:xfrm xmlns:a="http://schemas.openxmlformats.org/drawingml/2006/main">
            <a:off x="685800" y="6334125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14" name="extra-text-9">
            <a:extLst xmlns:a="http://schemas.openxmlformats.org/drawingml/2006/main">
              <a:ext uri="{FF2B5EF4-FFF2-40B4-BE49-F238E27FC236}">
                <a16:creationId xmlns:a16="http://schemas.microsoft.com/office/drawing/2014/main" id="{D0B12249-B6F9-4EF2-933C-0255DF9C0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6296025"/>
            <a:ext cx="12858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포트폴리오 사용 안내</a:t>
            </a:r>
          </a:p>
        </p:txBody>
      </p:sp>
      <p:sp>
        <p:nvSpPr>
          <p:cNvPr id="15" name="extra-text-10">
            <a:extLst xmlns:a="http://schemas.openxmlformats.org/drawingml/2006/main">
              <a:ext uri="{FF2B5EF4-FFF2-40B4-BE49-F238E27FC236}">
                <a16:creationId xmlns:a16="http://schemas.microsoft.com/office/drawing/2014/main" id="{D6AB2F0D-1544-4769-A81A-F45FD1C1E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6915150"/>
            <a:ext cx="12763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950" b="0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950" b="0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950" b="0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950" b="0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950" b="0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950" b="0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950" b="0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950" b="0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950" b="0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1950" b="0">
                <a:solidFill>
                  <a:srgbClr val="167094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67094"/>
                </a:solidFill>
                <a:latin typeface="Malgun Gothic"/>
                <a:ea typeface="Malgun Gothic"/>
                <a:cs typeface="Malgun Gothic"/>
                <a:hlinkClick xmlns:r="http://schemas.openxmlformats.org/officeDocument/2006/relationships" r:id="R04add18dc87a4ee7"/>
              </a:rPr>
              <a:t>https://dubukimch.github.io/manual-gateway.html</a:t>
            </a:r>
          </a:p>
        </p:txBody>
      </p:sp>
    </p:spTree>
    <p:extLst>
      <p:ext uri="{BB962C8B-B14F-4D97-AF65-F5344CB8AC3E}">
        <p14:creationId xmlns:p14="http://schemas.microsoft.com/office/powerpoint/2010/main" val="2059023010"/>
      </p:ext>
    </p:extLst>
  </p:cSld>
</p:sld>
</file>

<file path=ppt/theme/source_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source_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7</ap:Slides>
  <ap:Notes>0</ap:Notes>
  <ap:HiddenSlides>0</ap:HiddenSlides>
  <ap:SharedDoc>false</ap:SharedDoc>
  <ap:DocSecurity>0</ap:DocSecurity>
</ap:Properties>
</file>

<file path=docProps/source_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2026-10-24T02:40:07.4580000Z</dcterms:created>
  <dcterms:modified xsi:type="dcterms:W3CDTF">2026-10-24T02:40:07.4580000Z</dcterms:modified>
</coreProperties>
</file>