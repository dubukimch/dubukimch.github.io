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theme/source_theme1.xml" ContentType="application/vnd.openxmlformats-officedocument.theme+xml"/>
  <Override PartName="/ppt/slideMasters/source_slideMaster1.xml" ContentType="application/vnd.openxmlformats-officedocument.presentationml.slideMaster+xml"/>
  <Override PartName="/ppt/slideMasters/theme/source_theme2.xml" ContentType="application/vnd.openxmlformats-officedocument.theme+xml"/>
  <Override PartName="/ppt/slideLayouts/source_slideLayout1.xml" ContentType="application/vnd.openxmlformats-officedocument.presentationml.slideLayout+xml"/>
  <Override PartName="/ppt/slideLayouts/source_slideLayout2.xml" ContentType="application/vnd.openxmlformats-officedocument.presentationml.slideLayout+xml"/>
  <Override PartName="/ppt/slideLayouts/source_slideLayout3.xml" ContentType="application/vnd.openxmlformats-officedocument.presentationml.slideLayout+xml"/>
  <Override PartName="/ppt/slideLayouts/source_slideLayout4.xml" ContentType="application/vnd.openxmlformats-officedocument.presentationml.slideLayout+xml"/>
  <Override PartName="/ppt/slideLayouts/source_slideLayout5.xml" ContentType="application/vnd.openxmlformats-officedocument.presentationml.slideLayout+xml"/>
  <Override PartName="/ppt/slideLayouts/source_slideLayout6.xml" ContentType="application/vnd.openxmlformats-officedocument.presentationml.slideLayout+xml"/>
  <Override PartName="/ppt/notesMasters/source_notesMaster1.xml" ContentType="application/vnd.openxmlformats-officedocument.presentationml.notesMaster+xml"/>
  <Override PartName="/ppt/notesMasters/theme/source_theme3.xml" ContentType="application/vnd.openxmlformats-officedocument.theme+xml"/>
  <Override PartName="/ppt/source_presProps.xml" ContentType="application/vnd.openxmlformats-officedocument.presentationml.presProps+xml"/>
  <Override PartName="/ppt/source_tableStyles.xml" ContentType="application/vnd.openxmlformats-officedocument.presentationml.tableStyles+xml"/>
  <Override PartName="/ppt/slideLayouts/extra_slideLayout6.xml" ContentType="application/vnd.openxmlformats-officedocument.presentationml.slideLayout+xml"/>
  <Override PartName="/ppt/slideMasters/extra_slideMaster1.xml" ContentType="application/vnd.openxmlformats-officedocument.presentationml.slideMaster+xml"/>
  <Override PartName="/ppt/slideMasters/theme/extra_theme2.xml" ContentType="application/vnd.openxmlformats-officedocument.theme+xml"/>
  <Override PartName="/ppt/slideLayouts/extra_slideLayout1.xml" ContentType="application/vnd.openxmlformats-officedocument.presentationml.slideLayout+xml"/>
  <Override PartName="/ppt/slideLayouts/extra_slideLayout2.xml" ContentType="application/vnd.openxmlformats-officedocument.presentationml.slideLayout+xml"/>
  <Override PartName="/ppt/slideLayouts/extra_slideLayout3.xml" ContentType="application/vnd.openxmlformats-officedocument.presentationml.slideLayout+xml"/>
  <Override PartName="/ppt/slideLayouts/extra_slideLayout4.xml" ContentType="application/vnd.openxmlformats-officedocument.presentationml.slideLayout+xml"/>
  <Override PartName="/ppt/slideLayouts/extra_slideLayout5.xml" ContentType="application/vnd.openxmlformats-officedocument.presentationml.slideLayout+xml"/>
  <Override PartName="/ppt/notesSlides/extra_notesSlide10.xml" ContentType="application/vnd.openxmlformats-officedocument.presentationml.notesSlide+xml"/>
  <Override PartName="/ppt/notesMasters/extra_notesMaster1.xml" ContentType="application/vnd.openxmlformats-officedocument.presentationml.notesMaster+xml"/>
  <Override PartName="/ppt/notesMasters/theme/extra_theme3.xml" ContentType="application/vnd.openxmlformats-officedocument.theme+xml"/>
  <Override PartName="/ppt/notesSlides/extra_notesSlide11.xml" ContentType="application/vnd.openxmlformats-officedocument.presentationml.notesSlide+xml"/>
  <Override PartName="/ppt/notesSlides/source_notesSlide25.xml" ContentType="application/vnd.openxmlformats-officedocument.presentationml.notesSlide+xml"/>
  <Override PartName="/ppt/notesSlides/source_notesSlide26.xml" ContentType="application/vnd.openxmlformats-officedocument.presentationml.notesSlide+xml"/>
  <Override PartName="/ppt/notesSlides/source_notesSlide27.xml" ContentType="application/vnd.openxmlformats-officedocument.presentationml.notesSlide+xml"/>
  <Override PartName="/ppt/notesSlides/source_notesSlide28.xml" ContentType="application/vnd.openxmlformats-officedocument.presentationml.notesSlide+xml"/>
  <Override PartName="/ppt/notesSlides/source_notesSlide29.xml" ContentType="application/vnd.openxmlformats-officedocument.presentationml.notesSlide+xml"/>
  <Override PartName="/ppt/notesSlides/source_notesSlide30.xml" ContentType="application/vnd.openxmlformats-officedocument.presentationml.notesSlide+xml"/>
  <Override PartName="/ppt/notesSlides/extra_notesSlide12.xml" ContentType="application/vnd.openxmlformats-officedocument.presentationml.notesSlide+xml"/>
  <Override PartName="/docProps/source_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docProps/source_core.xml" Id="R5b3c5ac7032f4f82"/><Relationship Type="http://schemas.openxmlformats.org/officeDocument/2006/relationships/extended-properties" Target="docProps/source_app.xml" Id="Rb1b1fc5132834f1f"/><Relationship Type="http://schemas.openxmlformats.org/officeDocument/2006/relationships/officeDocument" Target="ppt/presentation.xml" Id="Re43eb32cc6894ac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2f63f21cf4c05"/>
    <p:sldMasterId xmlns:r="http://schemas.openxmlformats.org/officeDocument/2006/relationships" id="2147483649" r:id="rId10"/>
  </p:sldMasterIdLst>
  <p:notesMasterIdLst>
    <p:notesMasterId xmlns:r="http://schemas.openxmlformats.org/officeDocument/2006/relationships" r:id="R5de2ceb46f584637"/>
    <p:notesMasterId xmlns:r="http://schemas.openxmlformats.org/officeDocument/2006/relationships" r:id="rId11"/>
  </p:notesMasterIdLst>
  <p:sldIdLst>
    <p:sldId xmlns:ns0="http://schemas.openxmlformats.org/officeDocument/2006/relationships" id="256" ns0:id="rId1"/>
    <p:sldId xmlns:ns1="http://schemas.openxmlformats.org/officeDocument/2006/relationships" id="257" ns1:id="rId2"/>
    <p:sldId xmlns:ns2="http://schemas.openxmlformats.org/officeDocument/2006/relationships" id="258" ns2:id="rId3"/>
    <p:sldId xmlns:ns3="http://schemas.openxmlformats.org/officeDocument/2006/relationships" id="259" ns3:id="rId4"/>
    <p:sldId xmlns:ns4="http://schemas.openxmlformats.org/officeDocument/2006/relationships" id="260" ns4:id="rId5"/>
    <p:sldId xmlns:ns5="http://schemas.openxmlformats.org/officeDocument/2006/relationships" id="261" ns5:id="rId6"/>
    <p:sldId xmlns:ns6="http://schemas.openxmlformats.org/officeDocument/2006/relationships" id="262" ns6:id="rId7"/>
    <p:sldId xmlns:ns7="http://schemas.openxmlformats.org/officeDocument/2006/relationships" id="263" ns7:id="rId8"/>
    <p:sldId xmlns:ns8="http://schemas.openxmlformats.org/officeDocument/2006/relationships" id="264" ns8:id="rId9"/>
  </p:sldIdLst>
  <p:sldSz cx="15240000" cy="8572500"/>
  <p:notesSz cx="6858000" cy="9144000"/>
</p:presentation>
</file>

<file path=ppt/source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_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theme/source_theme1.xml" Id="R45b96b3d753b4a86"/><Relationship Type="http://schemas.openxmlformats.org/officeDocument/2006/relationships/slideMaster" Target="slideMasters/source_slideMaster1.xml" Id="Rf112f63f21cf4c05"/><Relationship Type="http://schemas.openxmlformats.org/officeDocument/2006/relationships/notesMaster" Target="notesMasters/source_notesMaster1.xml" Id="R5de2ceb46f584637"/><Relationship Type="http://schemas.openxmlformats.org/officeDocument/2006/relationships/presProps" Target="source_presProps.xml" Id="Rdaa320f98332448e"/><Relationship Type="http://schemas.openxmlformats.org/officeDocument/2006/relationships/tableStyles" Target="source_tableStyles.xml" Id="R02321799aef248d6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extra_slideMaster1.xml"/><Relationship Id="rId11" Type="http://schemas.openxmlformats.org/officeDocument/2006/relationships/notesMaster" Target="notesMasters/extra_notesMaster1.xml"/></Relationships>
</file>

<file path=ppt/notesMasters/_rels/extra_notesMaster1.xml.rels><?xml version='1.0' encoding='UTF-8' standalone='yes'?>
<Relationships xmlns="http://schemas.openxmlformats.org/package/2006/relationships"><Relationship Type="http://schemas.openxmlformats.org/officeDocument/2006/relationships/theme" Target="theme/extra_theme3.xml" Id="Rabe84905b1034244"/></Relationships>
</file>

<file path=ppt/notesMasters/_rels/source_notesMaster1.xml.rels><?xml version='1.0' encoding='UTF-8' standalone='yes'?>
<Relationships xmlns="http://schemas.openxmlformats.org/package/2006/relationships"><Relationship Type="http://schemas.openxmlformats.org/officeDocument/2006/relationships/theme" Target="theme/source_theme3.xml" Id="R7f8d146e9f2b48fd"/></Relationships>
</file>

<file path=ppt/notesMasters/extra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source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extra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ource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extra_notesSlide10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827b9e64ae734212"/><Relationship Type="http://schemas.openxmlformats.org/officeDocument/2006/relationships/notesMaster" Target="../notesMasters/extra_notesMaster1.xml" Id="R2d8d2be9298044e8"/></Relationships>
</file>

<file path=ppt/notesSlides/_rels/extra_notesSlide11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a8de0773826b4313"/><Relationship Type="http://schemas.openxmlformats.org/officeDocument/2006/relationships/notesMaster" Target="../notesMasters/extra_notesMaster1.xml" Id="R6b70d613a34e4a8c"/></Relationships>
</file>

<file path=ppt/notesSlides/_rels/extra_notesSlide12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ea84f7b55f7144f3"/><Relationship Type="http://schemas.openxmlformats.org/officeDocument/2006/relationships/notesMaster" Target="../notesMasters/extra_notesMaster1.xml" Id="Rbabeea4e691e4361"/></Relationships>
</file>

<file path=ppt/notesSlides/_rels/source_notesSlide25.xml.rels><?xml version='1.0' encoding='UTF-8' standalone='yes'?>
<Relationships xmlns="http://schemas.openxmlformats.org/package/2006/relationships"><Relationship Type="http://schemas.openxmlformats.org/officeDocument/2006/relationships/slide" Target="../slides/slide3.xml" Id="R24e5f8f4889b4474"/><Relationship Type="http://schemas.openxmlformats.org/officeDocument/2006/relationships/notesMaster" Target="../notesMasters/source_notesMaster1.xml" Id="Rad2e5df1444c4a93"/></Relationships>
</file>

<file path=ppt/notesSlides/_rels/source_notesSlide26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e18a8f2f92dd495c"/><Relationship Type="http://schemas.openxmlformats.org/officeDocument/2006/relationships/notesMaster" Target="../notesMasters/source_notesMaster1.xml" Id="R68ad5312f4674503"/></Relationships>
</file>

<file path=ppt/notesSlides/_rels/source_notesSlide27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ab63e3a447ee4306"/><Relationship Type="http://schemas.openxmlformats.org/officeDocument/2006/relationships/notesMaster" Target="../notesMasters/source_notesMaster1.xml" Id="R5ff45f2a830e45f6"/></Relationships>
</file>

<file path=ppt/notesSlides/_rels/source_notesSlide28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3bf490fb8c314ebb"/><Relationship Type="http://schemas.openxmlformats.org/officeDocument/2006/relationships/notesMaster" Target="../notesMasters/source_notesMaster1.xml" Id="Re1493ddba086454b"/></Relationships>
</file>

<file path=ppt/notesSlides/_rels/source_notesSlide29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d6c96fb42f0a403b"/><Relationship Type="http://schemas.openxmlformats.org/officeDocument/2006/relationships/notesMaster" Target="../notesMasters/source_notesMaster1.xml" Id="Re86df4c275974aad"/></Relationships>
</file>

<file path=ppt/notesSlides/_rels/source_notesSlide30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e4778ecfa0094cc0"/><Relationship Type="http://schemas.openxmlformats.org/officeDocument/2006/relationships/notesMaster" Target="../notesMasters/source_notesMaster1.xml" Id="R723f8a11d1bb4653"/></Relationships>
</file>

<file path=ppt/notesSlides/extra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"data/04-oee.json",</a:t>
            </a:r>
          </a:p>
          <a:p xmlns:a="http://schemas.openxmlformats.org/drawingml/2006/main">
            <a:r>
              <a:t>  "scope": "현재 접근 가능한 로그인 화면·개발 계정 선택·API 연결 실패 대응을 안내한다. 분석 기간 조회, 계산 상태별 CSV, 조회 전용 대시보드는 소스에 근거한 API 복구 후 절차이며 현 환경에서 실행 확인하지 않았다.",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"React UI는 http://127.0.0.1:5185, 분석 API 목표 주소는 http://127.0.0.1:5184다. /api와 /hubs는 UI 개발 서버에서 API로 프록시된다.",</a:t>
            </a:r>
          </a:p>
          <a:p xmlns:a="http://schemas.openxmlformats.org/drawingml/2006/main">
            <a:r>
              <a:t>    "현재 알려진 환경 제약은 Docker 엔진 시작 실패와 API 미연결이다. 로그인 화면이 열린 사실만으로 인증·계산·데이터 연동이 정상임을 의미하지 않는다.",</a:t>
            </a:r>
          </a:p>
          <a:p xmlns:a="http://schemas.openxmlformats.org/drawingml/2006/main">
            <a:r>
              <a:t>    "정상 분석에는 API와 기존 MySQL·TimescaleDB·Redis 등 구성된 데이터 서비스, 유효 계정과 역할, 생산 증거 및 TwinForge 생산 맥락이 필요하다.",</a:t>
            </a:r>
          </a:p>
          <a:p xmlns:a="http://schemas.openxmlformats.org/drawingml/2006/main">
            <a:r>
              <a:t>    "개발 계정 선택 버튼은 개발 서버(import.meta.env.DEV)에서만 표시된다. 버튼은 입력값을 채우며 계정을 생성하거나 자동 인증하지 않는다. 기존 DB에서 해당 계정의 존재를 보장하지 않는다.",</a:t>
            </a:r>
          </a:p>
          <a:p xmlns:a="http://schemas.openxmlformats.org/drawingml/2006/main">
            <a:r>
              <a:t>    "새 운영 계정 초기화·비밀번호 변경은 관리자가 기존 인증 및 Bootstrap 정책에 따라 수행한다. 본 매뉴얼은 인증 우회나 계정 재생성을 안내하지 않는다."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"sourceCapturePreserved": true,</a:t>
            </a:r>
          </a:p>
          <a:p xmlns:a="http://schemas.openxmlformats.org/drawingml/2006/main">
            <a:r>
              <a:t>  "edition": "2026-10-25"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"data/04-oee.json",</a:t>
            </a:r>
          </a:p>
          <a:p xmlns:a="http://schemas.openxmlformats.org/drawingml/2006/main">
            <a:r>
              <a:t>  "scope": "현재 접근 가능한 로그인 화면·개발 계정 선택·API 연결 실패 대응을 안내한다. 분석 기간 조회, 계산 상태별 CSV, 조회 전용 대시보드는 소스에 근거한 API 복구 후 절차이며 현 환경에서 실행 확인하지 않았다.",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"React UI는 http://127.0.0.1:5185, 분석 API 목표 주소는 http://127.0.0.1:5184다. /api와 /hubs는 UI 개발 서버에서 API로 프록시된다.",</a:t>
            </a:r>
          </a:p>
          <a:p xmlns:a="http://schemas.openxmlformats.org/drawingml/2006/main">
            <a:r>
              <a:t>    "현재 알려진 환경 제약은 Docker 엔진 시작 실패와 API 미연결이다. 로그인 화면이 열린 사실만으로 인증·계산·데이터 연동이 정상임을 의미하지 않는다.",</a:t>
            </a:r>
          </a:p>
          <a:p xmlns:a="http://schemas.openxmlformats.org/drawingml/2006/main">
            <a:r>
              <a:t>    "정상 분석에는 API와 기존 MySQL·TimescaleDB·Redis 등 구성된 데이터 서비스, 유효 계정과 역할, 생산 증거 및 TwinForge 생산 맥락이 필요하다.",</a:t>
            </a:r>
          </a:p>
          <a:p xmlns:a="http://schemas.openxmlformats.org/drawingml/2006/main">
            <a:r>
              <a:t>    "개발 계정 선택 버튼은 개발 서버(import.meta.env.DEV)에서만 표시된다. 버튼은 입력값을 채우며 계정을 생성하거나 자동 인증하지 않는다. 기존 DB에서 해당 계정의 존재를 보장하지 않는다.",</a:t>
            </a:r>
          </a:p>
          <a:p xmlns:a="http://schemas.openxmlformats.org/drawingml/2006/main">
            <a:r>
              <a:t>    "새 운영 계정 초기화·비밀번호 변경은 관리자가 기존 인증 및 Bootstrap 정책에 따라 수행한다. 본 매뉴얼은 인증 우회나 계정 재생성을 안내하지 않는다."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"currentPrerequisites": [</a:t>
            </a:r>
          </a:p>
          <a:p xmlns:a="http://schemas.openxmlformats.org/drawingml/2006/main">
            <a:r>
              <a:t>    "React UI는 http://127.0.0.1:5185, 분석 API 목표 주소는 http://127.0.0.1:5184다. /api와 /hubs는 UI 개발 서버에서 API로 프록시된다.",</a:t>
            </a:r>
          </a:p>
          <a:p xmlns:a="http://schemas.openxmlformats.org/drawingml/2006/main">
            <a:r>
              <a:t>    "현재 OEE API·DB의 격리 실행 및 인증 이후 분석은 확인하지 못했습니다. 로그인 화면만으로 인증·계산·데이터 연동을 확인하지 않습니다.",</a:t>
            </a:r>
          </a:p>
          <a:p xmlns:a="http://schemas.openxmlformats.org/drawingml/2006/main">
            <a:r>
              <a:t>    "정상 분석에는 API와 기존 MySQL·TimescaleDB·Redis 등 구성된 데이터 서비스, 유효 계정과 역할, 생산 증거 및 TwinForge 생산 맥락이 필요하다.",</a:t>
            </a:r>
          </a:p>
          <a:p xmlns:a="http://schemas.openxmlformats.org/drawingml/2006/main">
            <a:r>
              <a:t>    "개발 계정 선택 버튼은 개발 서버(import.meta.env.DEV)에서만 표시된다. 버튼은 입력값을 채우며 계정을 생성하거나 자동 인증하지 않는다. 기존 DB에서 해당 계정의 존재를 보장하지 않는다.",</a:t>
            </a:r>
          </a:p>
          <a:p xmlns:a="http://schemas.openxmlformats.org/drawingml/2006/main">
            <a:r>
              <a:t>    "새 운영 계정 초기화·비밀번호 변경은 관리자가 기존 인증 및 Bootstrap 정책에 따라 수행한다. 본 매뉴얼은 인증 우회나 계정 재생성을 안내하지 않는다."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"currentPrerequisitesReason": "Docker Engine 29.3.1 is running. OEE API/database and authenticated analysis were not started or verified in this run.",</a:t>
            </a:r>
          </a:p>
          <a:p xmlns:a="http://schemas.openxmlformats.org/drawingml/2006/main">
            <a:r>
              <a:t>  "url": "http://127.0.0.1:5185/login"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"data/04-oee.json",</a:t>
            </a:r>
          </a:p>
          <a:p xmlns:a="http://schemas.openxmlformats.org/drawingml/2006/main">
            <a:r>
              <a:t>  "scope": "현재 접근 가능한 로그인 화면·개발 계정 선택·API 연결 실패 대응을 안내한다. 분석 기간 조회, 계산 상태별 CSV, 조회 전용 대시보드는 소스에 근거한 API 복구 후 절차이며 현 환경에서 실행 확인하지 않았다.",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"OEEAnalyzer/OeeMccSolution/src/Frontend/src/pages/LoginPage.tsx",</a:t>
            </a:r>
          </a:p>
          <a:p xmlns:a="http://schemas.openxmlformats.org/drawingml/2006/main">
            <a:r>
              <a:t>    "OEEAnalyzer/OeeMccSolution/src/Frontend/src/pages/AdminIntegrationPage.tsx",</a:t>
            </a:r>
          </a:p>
          <a:p xmlns:a="http://schemas.openxmlformats.org/drawingml/2006/main">
            <a:r>
              <a:t>    "OEEAnalyzer/OeeMccSolution/src/Frontend/src/pages/ViewerPage.tsx",</a:t>
            </a:r>
          </a:p>
          <a:p xmlns:a="http://schemas.openxmlformats.org/drawingml/2006/main">
            <a:r>
              <a:t>    "OEEAnalyzer/OeeMccSolution/src/Frontend/src/components/Layout.tsx",</a:t>
            </a:r>
          </a:p>
          <a:p xmlns:a="http://schemas.openxmlformats.org/drawingml/2006/main">
            <a:r>
              <a:t>    "OEEAnalyzer/OeeMccSolution/src/Frontend/src/App.tsx",</a:t>
            </a:r>
          </a:p>
          <a:p xmlns:a="http://schemas.openxmlformats.org/drawingml/2006/main">
            <a:r>
              <a:t>    "OEEAnalyzer/OeeMccSolution/src/Frontend/src/services/api.ts",</a:t>
            </a:r>
          </a:p>
          <a:p xmlns:a="http://schemas.openxmlformats.org/drawingml/2006/main">
            <a:r>
              <a:t>    "OEEAnalyzer/OeeMccSolution/src/Frontend/src/services/types.ts",</a:t>
            </a:r>
          </a:p>
          <a:p xmlns:a="http://schemas.openxmlformats.org/drawingml/2006/main">
            <a:r>
              <a:t>    "OEEAnalyzer/OeeMccSolution/src/Frontend/vite.config.ts",</a:t>
            </a:r>
          </a:p>
          <a:p xmlns:a="http://schemas.openxmlformats.org/drawingml/2006/main">
            <a:r>
              <a:t>    "OEEAnalyzer/README.md"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"iconLicense": "assets/design/LICENSE-Lucide.txt",</a:t>
            </a:r>
          </a:p>
          <a:p xmlns:a="http://schemas.openxmlformats.org/drawingml/2006/main">
            <a:r>
              <a:t>  "onlineGuide": "https://dubukimch.github.io/manual-oee.html",</a:t>
            </a:r>
          </a:p>
          <a:p xmlns:a="http://schemas.openxmlformats.org/drawingml/2006/main">
            <a:r>
              <a:t>  "onlineStatus": "Publication is verified separately"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"oee-login",</a:t>
            </a:r>
          </a:p>
          <a:p xmlns:a="http://schemas.openxmlformats.org/drawingml/2006/main">
            <a:r>
              <a:t>  "title": "로그인 화면 열기와 접근 역할 확인",</a:t>
            </a:r>
          </a:p>
          <a:p xmlns:a="http://schemas.openxmlformats.org/drawingml/2006/main">
            <a:r>
              <a:t>  "goal": "분석 작업 공간의 진입 화면과 계정 입력 위치를 확인한다.",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"http://127.0.0.1:5185/login을 연다.",</a:t>
            </a:r>
          </a:p>
          <a:p xmlns:a="http://schemas.openxmlformats.org/drawingml/2006/main">
            <a:r>
              <a:t>    "왼쪽 '생산 효율의 근거를 확인하세요' 안내와 Access·Dashboard·Admin 설명을 확인한다.",</a:t>
            </a:r>
          </a:p>
          <a:p xmlns:a="http://schemas.openxmlformats.org/drawingml/2006/main">
            <a:r>
              <a:t>    "오른쪽 Sign in 영역의 Username, Password, Login 버튼을 확인한다.",</a:t>
            </a:r>
          </a:p>
          <a:p xmlns:a="http://schemas.openxmlformats.org/drawingml/2006/main">
            <a:r>
              <a:t>    "개인에게 부여된 계정이 있으면 Username과 Password에 입력한다. 비밀번호는 가림 표시로 입력된다.",</a:t>
            </a:r>
          </a:p>
          <a:p xmlns:a="http://schemas.openxmlformats.org/drawingml/2006/main">
            <a:r>
              <a:t>    "API가 미연결인 현재 환경에서는 입력 화면 확인과 인증 성공을 구분한다. 인증 결과는 다음 조작에서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"로그인 폼과 역할별 작업 영역 안내가 보인다. 비어 있는 필수 입력으로는 제출이 제한된다.",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"페이지가 열리지 않으면 UI 5185 프로세스를 확인한다.",</a:t>
            </a:r>
          </a:p>
          <a:p xmlns:a="http://schemas.openxmlformats.org/drawingml/2006/main">
            <a:r>
              <a:t>    "관리 화면 주소로 직접 진입해도 세션이 없으면 로그인으로 이동한다. URL 입력은 인증을 대체하지 않는다.",</a:t>
            </a:r>
          </a:p>
          <a:p xmlns:a="http://schemas.openxmlformats.org/drawingml/2006/main">
            <a:r>
              <a:t>    "세션이 만료되었으면 승인된 계정으로 다시 로그인한다."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"assets/screenshots/oee-login.jpg",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"2026-10-23T17:13:55.002Z",</a:t>
            </a:r>
          </a:p>
          <a:p xmlns:a="http://schemas.openxmlformats.org/drawingml/2006/main">
            <a:r>
              <a:t>    "url": "http://127.0.0.1:5185/login",</a:t>
            </a:r>
          </a:p>
          <a:p xmlns:a="http://schemas.openxmlformats.org/drawingml/2006/main">
            <a:r>
              <a:t>    "observed": "OEE 로그인 화면과 역할별 로컬 계정 프리셋 확인.",</a:t>
            </a:r>
          </a:p>
          <a:p xmlns:a="http://schemas.openxmlformats.org/drawingml/2006/main">
            <a:r>
              <a:t>    "sha256": "94926647904c3c88132bdaaa500b72e75f9e87e3c4584facadedf214abe4a328"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"oee-account",</a:t>
            </a:r>
          </a:p>
          <a:p xmlns:a="http://schemas.openxmlformats.org/drawingml/2006/main">
            <a:r>
              <a:t>  "title": "개발용 관리자·조회 계정 입력 선택",</a:t>
            </a:r>
          </a:p>
          <a:p xmlns:a="http://schemas.openxmlformats.org/drawingml/2006/main">
            <a:r>
              <a:t>  "goal": "개발 환경의 계정 채우기 기능과 역할 차이를 이해한다.",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"로그인 폼 아래 '로컬 개발용 계정 선택' 영역이 표시되는지 확인한다.",</a:t>
            </a:r>
          </a:p>
          <a:p xmlns:a="http://schemas.openxmlformats.org/drawingml/2006/main">
            <a:r>
              <a:t>    "'관리자 계정'을 눌러 Username이 admin으로 채워지고 Password가 가림 표시로 채워지는지 확인한다.",</a:t>
            </a:r>
          </a:p>
          <a:p xmlns:a="http://schemas.openxmlformats.org/drawingml/2006/main">
            <a:r>
              <a:t>    "'조회 계정'을 눌러 Username이 viewer로 바뀌는지 확인한다.",</a:t>
            </a:r>
          </a:p>
          <a:p xmlns:a="http://schemas.openxmlformats.org/drawingml/2006/main">
            <a:r>
              <a:t>    "접근하려는 작업에 맞는 계정을 다시 선택한다. 분석·설계는 관리자 권한, 조회 대시보드는 조회 권한이 필요하다.",</a:t>
            </a:r>
          </a:p>
          <a:p xmlns:a="http://schemas.openxmlformats.org/drawingml/2006/main">
            <a:r>
              <a:t>    "이 단계에서는 버튼 선택과 로그인 성공을 구분한다. 실제 계정 검증은 Login 제출 시 API가 수행한다."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"선택 버튼에 따라 입력값이 바뀌고 이전 오류가 지워진다. 인증 성공·계정 생성은 발생하지 않는다.",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"선택 버튼이 없으면 운영 빌드일 수 있다. 승인된 계정 정보를 직접 입력한다.",</a:t>
            </a:r>
          </a:p>
          <a:p xmlns:a="http://schemas.openxmlformats.org/drawingml/2006/main">
            <a:r>
              <a:t>    "자동 입력값으로 인증이 거부되면 해당 DB에 개발 계정이 존재하는지 관리자에게 확인한다.",</a:t>
            </a:r>
          </a:p>
          <a:p xmlns:a="http://schemas.openxmlformats.org/drawingml/2006/main">
            <a:r>
              <a:t>    "계정 선택만으로 페이지가 이동하지 않는 것은 정상이다."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"assets/screenshots/oee-account.jpg",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"2026-10-23T17:13:55.364Z",</a:t>
            </a:r>
          </a:p>
          <a:p xmlns:a="http://schemas.openxmlformats.org/drawingml/2006/main">
            <a:r>
              <a:t>    "url": "http://127.0.0.1:5185/login",</a:t>
            </a:r>
          </a:p>
          <a:p xmlns:a="http://schemas.openxmlformats.org/drawingml/2006/main">
            <a:r>
              <a:t>    "observed": "조회 계정 프리셋으로 입력 필드 채움. 암호는 마스킹된 UI만 캡처.",</a:t>
            </a:r>
          </a:p>
          <a:p xmlns:a="http://schemas.openxmlformats.org/drawingml/2006/main">
            <a:r>
              <a:t>    "sha256": "cf31b8aa0d0942b065ec5fbf6de1ea088f8f6db6a604bc5d5fb514e7404deda4"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"oee-api-error",</a:t>
            </a:r>
          </a:p>
          <a:p xmlns:a="http://schemas.openxmlformats.org/drawingml/2006/main">
            <a:r>
              <a:t>  "title": "로그인 제출 후 API 오류 구분",</a:t>
            </a:r>
          </a:p>
          <a:p xmlns:a="http://schemas.openxmlformats.org/drawingml/2006/main">
            <a:r>
              <a:t>  "goal": "잘못된 계정과 분석 API 미연결을 구분하고 적절한 재시도를 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"개발 계정 선택 또는 승인된 계정 입력으로 필수 항목을 채운다.",</a:t>
            </a:r>
          </a:p>
          <a:p xmlns:a="http://schemas.openxmlformats.org/drawingml/2006/main">
            <a:r>
              <a:t>    "'Login'을 한 번 누른다. 처리 중 'Signing in...'과 버튼 비활성화를 확인한다.",</a:t>
            </a:r>
          </a:p>
          <a:p xmlns:a="http://schemas.openxmlformats.org/drawingml/2006/main">
            <a:r>
              <a:t>    "현재 API 미연결 환경에서는 '분석 API에 연결할 수 없습니다. API 및 데이터베이스 실행 상태를 확인한 후 다시 시도하세요.' 안내를 확인한다.",</a:t>
            </a:r>
          </a:p>
          <a:p xmlns:a="http://schemas.openxmlformats.org/drawingml/2006/main">
            <a:r>
              <a:t>    "API가 401을 반환하는 경우에는 '계정 정보가 올바르지 않습니다. 아이디와 비밀번호를 확인하세요.'로 구분된다. 실제 나타난 문구만 기록한다.",</a:t>
            </a:r>
          </a:p>
          <a:p xmlns:a="http://schemas.openxmlformats.org/drawingml/2006/main">
            <a:r>
              <a:t>    "API 또는 데이터 서비스가 복구된 뒤 재시도한다. 응답 대기 제한은 15초지만 연결 거부는 더 빨리 오류가 나타날 수 있다.",</a:t>
            </a:r>
          </a:p>
          <a:p xmlns:a="http://schemas.openxmlformats.org/drawingml/2006/main">
            <a:r>
              <a:t>    "정상 인증 시 관리자는 /admin/dashboard-manager, 조회자는 /viewer로 이동하는지를 별도로 확인한다. 현재의 오류 화면을 인증 성공 근거로 사용하지 않는다."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"API 미연결 또는 인증 거부 안내가 표시되고 재시도 가능한 상태로 돌아온다. 401 이외의 서버 오류도 API 연결 오류 안내에 포함되므로 원인 확정에는 서버 상태 확인이 필요하다.",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"오류가 나면 비밀번호를 반복 변경하기 전에 API 5184와 DB 서비스 상태를 확인한다.",</a:t>
            </a:r>
          </a:p>
          <a:p xmlns:a="http://schemas.openxmlformats.org/drawingml/2006/main">
            <a:r>
              <a:t>    "UI 5185는 열리는데 로그인만 실패하면 프론트엔드 접근 성공과 백엔드 정상 여부를 구분한다.",</a:t>
            </a:r>
          </a:p>
          <a:p xmlns:a="http://schemas.openxmlformats.org/drawingml/2006/main">
            <a:r>
              <a:t>    "API가 살아난 뒤에도 401이면 기존 계정·역할·비밀번호를 관리자에게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"assets/screenshots/oee-api-error.jpg",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"2026-10-23T17:14:01.665Z",</a:t>
            </a:r>
          </a:p>
          <a:p xmlns:a="http://schemas.openxmlformats.org/drawingml/2006/main">
            <a:r>
              <a:t>    "url": "http://127.0.0.1:5185/login",</a:t>
            </a:r>
          </a:p>
          <a:p xmlns:a="http://schemas.openxmlformats.org/drawingml/2006/main">
            <a:r>
              <a:t>    "observed": "조회 계정 로그인 시 분석 API 연결 불가 오류 확인. 로그인 이후 기능 미검증.",</a:t>
            </a:r>
          </a:p>
          <a:p xmlns:a="http://schemas.openxmlformats.org/drawingml/2006/main">
            <a:r>
              <a:t>    "sha256": "c456a31420b5e1e7390957af09ec440991f75c8818190f6bac7a81afe0ae60cd"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"oee-analysis",</a:t>
            </a:r>
          </a:p>
          <a:p xmlns:a="http://schemas.openxmlformats.org/drawingml/2006/main">
            <a:r>
              <a:t>  "title": "생산 증거와 OEE 분석 기간 조회",</a:t>
            </a:r>
          </a:p>
          <a:p xmlns:a="http://schemas.openxmlformats.org/drawingml/2006/main">
            <a:r>
              <a:t>  "goal": "API 복구 후 설비 키와 기간에 맞는 계산 창을 조회한다.",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"API·데이터 서비스와 관리자 인증을 복구한 뒤 관리자 계정으로 로그인한다.",</a:t>
            </a:r>
          </a:p>
          <a:p xmlns:a="http://schemas.openxmlformats.org/drawingml/2006/main">
            <a:r>
              <a:t>    "왼쪽 '생산 증거와 OEE'를 선택하거나 인증 상태에서 http://127.0.0.1:5185/admin/integration으로 이동한다.",</a:t>
            </a:r>
          </a:p>
          <a:p xmlns:a="http://schemas.openxmlformats.org/drawingml/2006/main">
            <a:r>
              <a:t>    "Integration Route에서 PLC Simulation→IIoT Gateway→TwinForge MES→OEEAnalyzer의 책임 구분을 확인한다.",</a:t>
            </a:r>
          </a:p>
          <a:p xmlns:a="http://schemas.openxmlformats.org/drawingml/2006/main">
            <a:r>
              <a:t>    "Analysis Window의 Equipment Key에 등록된 설비 키를 입력한다. 기본 예시는 demo/automotive/main-conveyor다.",</a:t>
            </a:r>
          </a:p>
          <a:p xmlns:a="http://schemas.openxmlformats.org/drawingml/2006/main">
            <a:r>
              <a:t>    "'최근 1시간', '최근 8시간', '최근 24시간' 중 하나를 누르면 기간이 바뀌면서 조회된다. 사용자 지정 기간은 From과 To를 입력하고 'Refresh Analysis'를 누른다.",</a:t>
            </a:r>
          </a:p>
          <a:p xmlns:a="http://schemas.openxmlformats.org/drawingml/2006/main">
            <a:r>
              <a:t>    "Window Status, Availability, Performance, Quality, OEE와 Coverage를 함께 확인한다. 화면의 From·To 입력은 로컬 시각이며 요청 시 UTC로 변환된다.",</a:t>
            </a:r>
          </a:p>
          <a:p xmlns:a="http://schemas.openxmlformats.org/drawingml/2006/main">
            <a:r>
              <a:t>    "Final 여부와 reasons·revision을 확인한다. N/A와 빈 결과를 0% 또는 생산 중단으로 바꾸어 해석하지 않는다."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"복구 후에는 선택 기간의 계산 창과 최종 조회 시각이 나타난다. 생산 맥락이 겹치지 않으면 Awaiting production context 안내가 나올 수 있다. 현재 환경에서는 이 절차를 실행 확인하지 않았다.",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"시작 시각이 종료 시각보다 빠른지, 설비 키가 비어 있지 않은지 확인한다.",</a:t>
            </a:r>
          </a:p>
          <a:p xmlns:a="http://schemas.openxmlformats.org/drawingml/2006/main">
            <a:r>
              <a:t>    "결과가 없으면 TwinForge 생산 맥락과 PLC/Gateway 표본의 설비 키·기간을 맞춘다.",</a:t>
            </a:r>
          </a:p>
          <a:p xmlns:a="http://schemas.openxmlformats.org/drawingml/2006/main">
            <a:r>
              <a:t>    "Incomplete·Invalid·Provisional이면 coverage와 reasons를 읽고 부족·오류 증거를 먼저 해결한다."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false,</a:t>
            </a:r>
          </a:p>
          <a:p xmlns:a="http://schemas.openxmlformats.org/drawingml/2006/main">
            <a:r>
              <a:t>  "available": false,</a:t>
            </a:r>
          </a:p>
          <a:p xmlns:a="http://schemas.openxmlformats.org/drawingml/2006/main">
            <a:r>
              <a:t>  "screenshot": null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"oee-export",</a:t>
            </a:r>
          </a:p>
          <a:p xmlns:a="http://schemas.openxmlformats.org/drawingml/2006/main">
            <a:r>
              <a:t>  "title": "계산 상태 필터와 OEE CSV 내보내기",</a:t>
            </a:r>
          </a:p>
          <a:p xmlns:a="http://schemas.openxmlformats.org/drawingml/2006/main">
            <a:r>
              <a:t>  "goal": "API 복구 후 검토할 계산 상태만 모아 근거와 함께 내보낸다.",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"관리자 '생산 증거와 OEE'에서 분석 조회가 끝나고 OEE Window Ledger에 결과가 있는지 확인한다.",</a:t>
            </a:r>
          </a:p>
          <a:p xmlns:a="http://schemas.openxmlformats.org/drawingml/2006/main">
            <a:r>
              <a:t>    "'계산 상태'에서 전체 상태 또는 Final·Provisional·Invalid·Incomplete·NotApplicable 중 하나를 고른다.",</a:t>
            </a:r>
          </a:p>
          <a:p xmlns:a="http://schemas.openxmlformats.org/drawingml/2006/main">
            <a:r>
              <a:t>    "필터 결과 수와 전체 계산 창 수를 비교하고, 표의 기간·A/P/Q·OEE·Coverage·Production·Revision·Diagnostics를 확인한다.",</a:t>
            </a:r>
          </a:p>
          <a:p xmlns:a="http://schemas.openxmlformats.org/drawingml/2006/main">
            <a:r>
              <a:t>    "'CSV 내보내기 ↓'를 누르고 oee-windows-YYYY-MM-DD.csv 다운로드를 확인한다.",</a:t>
            </a:r>
          </a:p>
          <a:p xmlns:a="http://schemas.openxmlformats.org/drawingml/2006/main">
            <a:r>
              <a:t>    "CSV에서 contextId, fromUtc, toUtc, status, sourceMode, availability, performance, quality, oee, coverage, total, reject, revision, reasons 열을 확인한다.",</a:t>
            </a:r>
          </a:p>
          <a:p xmlns:a="http://schemas.openxmlformats.org/drawingml/2006/main">
            <a:r>
              <a:t>    "CSV의 비율은 화면의 퍼센트 문자열이 아닌 원래 수치다. null은 빈 셀로 저장될 수 있다. 내보낸 행 수가 필터 결과 수와 맞는지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"현재 필터에 맞는 계산 창이 UTC 기간·품질 사유·계산 revision을 포함한 CSV로 저장된다. 결과가 없거나 조회 중이면 내보내기가 비활성화된다. 현재 환경에서는 실행 확인하지 않았다.",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"상태를 고른 뒤 결과가 0개면 '전체 상태'로 돌아가 다른 계산 상태가 있는지 확인한다.",</a:t>
            </a:r>
          </a:p>
          <a:p xmlns:a="http://schemas.openxmlformats.org/drawingml/2006/main">
            <a:r>
              <a:t>    "CSV 버튼이 비활성화되면 조회 중인지 또는 필터 결과가 없는지 확인한다.",</a:t>
            </a:r>
          </a:p>
          <a:p xmlns:a="http://schemas.openxmlformats.org/drawingml/2006/main">
            <a:r>
              <a:t>    "모의 출처 Demo를 External 실측 증거로 표시하지 않는다. Final 여부와 sourceMode를 별도로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false,</a:t>
            </a:r>
          </a:p>
          <a:p xmlns:a="http://schemas.openxmlformats.org/drawingml/2006/main">
            <a:r>
              <a:t>  "available": false,</a:t>
            </a:r>
          </a:p>
          <a:p xmlns:a="http://schemas.openxmlformats.org/drawingml/2006/main">
            <a:r>
              <a:t>  "screenshot": null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"oee-viewer",</a:t>
            </a:r>
          </a:p>
          <a:p xmlns:a="http://schemas.openxmlformats.org/drawingml/2006/main">
            <a:r>
              <a:t>  "title": "조회 전용 효율 모니터와 로그아웃",</a:t>
            </a:r>
          </a:p>
          <a:p xmlns:a="http://schemas.openxmlformats.org/drawingml/2006/main">
            <a:r>
              <a:t>  "goal": "API 복구 후 조회 권한으로 허용된 위젯·갱신 시각을 읽고 세션을 종료한다.",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"API·데이터 서비스가 정상인 환경에서 조회 계정으로 로그인한다.",</a:t>
            </a:r>
          </a:p>
          <a:p xmlns:a="http://schemas.openxmlformats.org/drawingml/2006/main">
            <a:r>
              <a:t>    "/viewer의 Live Dashboard에서 Session active, Last update, Widgets, Loaded Values, Mode를 확인한다.",</a:t>
            </a:r>
          </a:p>
          <a:p xmlns:a="http://schemas.openxmlformats.org/drawingml/2006/main">
            <a:r>
              <a:t>    "Viewer Dashboard의 배정 위젯 값을 읽는다. 조회 모드에서는 위젯을 이동·크기 조절할 수 없다.",</a:t>
            </a:r>
          </a:p>
          <a:p xmlns:a="http://schemas.openxmlformats.org/drawingml/2006/main">
            <a:r>
              <a:t>    "현재값과 추세의 마지막 갱신 시각을 확인한다. 실시간 갱신은 SignalR, 초기 현재값은 REST 응답을 사용한다.",</a:t>
            </a:r>
          </a:p>
          <a:p xmlns:a="http://schemas.openxmlformats.org/drawingml/2006/main">
            <a:r>
              <a:t>    "'No dashboard widgets'가 보이면 현재 계정에 배정된 레이아웃·위젯 권한을 관리자에게 확인한다.",</a:t>
            </a:r>
          </a:p>
          <a:p xmlns:a="http://schemas.openxmlformats.org/drawingml/2006/main">
            <a:r>
              <a:t>    "상단 '로그아웃 ↗'을 누르고 /login으로 돌아가는지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"계정에 허용된 위젯을 읽기 전용으로 확인하고 로그아웃 후 로그인 화면으로 돌아온다. 현재 환경에서는 인증과 데이터 조회를 실행 확인하지 않았다.",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"뷰어 계정으로 관리자 URL에 접근하면 /viewer로 이동할 수 있다. 권한 오류를 우회하지 않는다.",</a:t>
            </a:r>
          </a:p>
          <a:p xmlns:a="http://schemas.openxmlformats.org/drawingml/2006/main">
            <a:r>
              <a:t>    "값이 비거나 No updates이면 데이터 유입·태그 바인딩·세션 상태를 확인한다.",</a:t>
            </a:r>
          </a:p>
          <a:p xmlns:a="http://schemas.openxmlformats.org/drawingml/2006/main">
            <a:r>
              <a:t>    "실시간 갱신이 멈추면 Last update와 연결 상태를 확인하고 필요 시 재로그인한다."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false,</a:t>
            </a:r>
          </a:p>
          <a:p xmlns:a="http://schemas.openxmlformats.org/drawingml/2006/main">
            <a:r>
              <a:t>  "available": false,</a:t>
            </a:r>
          </a:p>
          <a:p xmlns:a="http://schemas.openxmlformats.org/drawingml/2006/main">
            <a:r>
              <a:t>  "screenshot": null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extra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dec7c46f0df24260"/></Relationships>
</file>

<file path=ppt/slideLayouts/_rels/extra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f604a51e37db47e8"/></Relationships>
</file>

<file path=ppt/slideLayouts/_rels/extra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4c5472752a1f4556"/></Relationships>
</file>

<file path=ppt/slideLayouts/_rels/extra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56adf7e26ca54eb7"/></Relationships>
</file>

<file path=ppt/slideLayouts/_rels/extra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bdb67b11d598451b"/></Relationships>
</file>

<file path=ppt/slideLayouts/_rels/extra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f169ee11548544cc"/></Relationships>
</file>

<file path=ppt/slideLayouts/_rels/source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dd81561033664dc2"/></Relationships>
</file>

<file path=ppt/slideLayouts/_rels/source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8b28ce4dfbcb42be"/></Relationships>
</file>

<file path=ppt/slideLayouts/_rels/source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1e39505d70294388"/></Relationships>
</file>

<file path=ppt/slideLayouts/_rels/source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914b5cb7d9b84efe"/></Relationships>
</file>

<file path=ppt/slideLayouts/_rels/source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029b820b72fa4fe8"/></Relationships>
</file>

<file path=ppt/slideLayouts/_rels/source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548e995d96bb48da"/></Relationships>
</file>

<file path=ppt/slideLayouts/extra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022075-846A-4AA4-9FC4-F57896E98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0D8DF0-F0DD-47E7-942B-BE103FE2A6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8F0D84-E1ED-419B-8741-BBFB898B2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001F07-CF56-4D55-8190-435D8D2DF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0C1991-5F6C-4AED-BABD-8F45483186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8B3A8-7270-4C67-803F-4BCBEAF3B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14CA40-8D8B-405A-AC95-F66E24966F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B882A6-D8F6-4194-9B1A-54D3E5A5A0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62BF69-3C0E-413C-AB90-0930D4A7C2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4F1C0F-F975-47B5-95C3-2A0C068270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ource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2C18D0-0BE1-4D3B-9495-6D2A8C6FF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D51148-77CC-4350-8C36-23DCDFB4B1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DA3227-AD06-4DAE-BD1E-F5857D90D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458B2-C825-462D-9520-1C5109FF0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D1FA52-AADA-4A86-8347-4E921105B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903506-F4C1-4043-B81B-3A28BCC4F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6C72FD-7001-4E24-8CD2-D409767C36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BFF9CB-F1DA-4659-9ECB-EDBC8D1A9F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F09AA-EF2A-4479-ACC4-2B1E435D4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36849E-F7FD-460C-9A28-AB2811873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extra_slideMaster1.xml.rels><?xml version='1.0' encoding='UTF-8' standalone='yes'?>
<Relationships xmlns="http://schemas.openxmlformats.org/package/2006/relationships"><Relationship Type="http://schemas.openxmlformats.org/officeDocument/2006/relationships/theme" Target="theme/extra_theme2.xml" Id="R700b47ad35e64095"/><Relationship Type="http://schemas.openxmlformats.org/officeDocument/2006/relationships/slideLayout" Target="../slideLayouts/extra_slideLayout1.xml" Id="R57e64d69c2f341ee"/><Relationship Type="http://schemas.openxmlformats.org/officeDocument/2006/relationships/slideLayout" Target="../slideLayouts/extra_slideLayout2.xml" Id="Rb16db17e3ced4ff8"/><Relationship Type="http://schemas.openxmlformats.org/officeDocument/2006/relationships/slideLayout" Target="../slideLayouts/extra_slideLayout3.xml" Id="R9b110a23812548a2"/><Relationship Type="http://schemas.openxmlformats.org/officeDocument/2006/relationships/slideLayout" Target="../slideLayouts/extra_slideLayout4.xml" Id="R6844f5780041440c"/><Relationship Type="http://schemas.openxmlformats.org/officeDocument/2006/relationships/slideLayout" Target="../slideLayouts/extra_slideLayout5.xml" Id="R41c2a8a13add49c4"/><Relationship Type="http://schemas.openxmlformats.org/officeDocument/2006/relationships/slideLayout" Target="../slideLayouts/extra_slideLayout6.xml" Id="R4e527ef79a374210"/></Relationships>
</file>

<file path=ppt/slideMasters/_rels/source_slideMaster1.xml.rels><?xml version='1.0' encoding='UTF-8' standalone='yes'?>
<Relationships xmlns="http://schemas.openxmlformats.org/package/2006/relationships"><Relationship Type="http://schemas.openxmlformats.org/officeDocument/2006/relationships/theme" Target="theme/source_theme2.xml" Id="R367bcf752a9749ae"/><Relationship Type="http://schemas.openxmlformats.org/officeDocument/2006/relationships/slideLayout" Target="../slideLayouts/source_slideLayout1.xml" Id="R11b88d14dc1d4219"/><Relationship Type="http://schemas.openxmlformats.org/officeDocument/2006/relationships/slideLayout" Target="../slideLayouts/source_slideLayout2.xml" Id="R87ec6871956e40df"/><Relationship Type="http://schemas.openxmlformats.org/officeDocument/2006/relationships/slideLayout" Target="../slideLayouts/source_slideLayout3.xml" Id="R5f96253e5dea4309"/><Relationship Type="http://schemas.openxmlformats.org/officeDocument/2006/relationships/slideLayout" Target="../slideLayouts/source_slideLayout4.xml" Id="Rab77f0812a874d9d"/><Relationship Type="http://schemas.openxmlformats.org/officeDocument/2006/relationships/slideLayout" Target="../slideLayouts/source_slideLayout5.xml" Id="R75ffc517a4f0405b"/><Relationship Type="http://schemas.openxmlformats.org/officeDocument/2006/relationships/slideLayout" Target="../slideLayouts/source_slideLayout6.xml" Id="Rcbb869a82fa04458"/></Relationships>
</file>

<file path=ppt/slideMasters/extra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e64d69c2f341ee"/>
    <p:sldLayoutId xmlns:r="http://schemas.openxmlformats.org/officeDocument/2006/relationships" id="2147483650" r:id="Rb16db17e3ced4ff8"/>
    <p:sldLayoutId xmlns:r="http://schemas.openxmlformats.org/officeDocument/2006/relationships" id="2147483651" r:id="R9b110a23812548a2"/>
    <p:sldLayoutId xmlns:r="http://schemas.openxmlformats.org/officeDocument/2006/relationships" id="2147483652" r:id="R6844f5780041440c"/>
    <p:sldLayoutId xmlns:r="http://schemas.openxmlformats.org/officeDocument/2006/relationships" id="2147483653" r:id="R41c2a8a13add49c4"/>
    <p:sldLayoutId xmlns:r="http://schemas.openxmlformats.org/officeDocument/2006/relationships" id="2147483654" r:id="R4e527ef79a3742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ource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88d14dc1d4219"/>
    <p:sldLayoutId xmlns:r="http://schemas.openxmlformats.org/officeDocument/2006/relationships" id="2147483650" r:id="R87ec6871956e40df"/>
    <p:sldLayoutId xmlns:r="http://schemas.openxmlformats.org/officeDocument/2006/relationships" id="2147483651" r:id="R5f96253e5dea4309"/>
    <p:sldLayoutId xmlns:r="http://schemas.openxmlformats.org/officeDocument/2006/relationships" id="2147483652" r:id="Rab77f0812a874d9d"/>
    <p:sldLayoutId xmlns:r="http://schemas.openxmlformats.org/officeDocument/2006/relationships" id="2147483653" r:id="R75ffc517a4f0405b"/>
    <p:sldLayoutId xmlns:r="http://schemas.openxmlformats.org/officeDocument/2006/relationships" id="2147483654" r:id="Rcbb869a82fa0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extra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ource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d0ecf9f091b14d6b"/><Relationship Type="http://schemas.openxmlformats.org/officeDocument/2006/relationships/image" Target="../media/extra_image13.png" Id="R688aedff99b74378"/><Relationship Type="http://schemas.openxmlformats.org/officeDocument/2006/relationships/image" Target="../media/extra_image4.jpeg" Id="Rc564d023068e4761"/><Relationship Type="http://schemas.openxmlformats.org/officeDocument/2006/relationships/hyperlink" Target="http://127.0.0.1:5185/login" TargetMode="External" Id="R115a7d585f81454b"/><Relationship Type="http://schemas.openxmlformats.org/officeDocument/2006/relationships/notesSlide" Target="../notesSlides/extra_notesSlide10.xml" Id="Re346b3f4727446b7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675cd9521bb74e05"/><Relationship Type="http://schemas.openxmlformats.org/officeDocument/2006/relationships/notesSlide" Target="../notesSlides/extra_notesSlide11.xml" Id="R6ab49cbdd3c34f79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d8e270bb50974ea3"/><Relationship Type="http://schemas.openxmlformats.org/officeDocument/2006/relationships/image" Target="../media/source_image132.png" Id="R3cc4e83185b645ad"/><Relationship Type="http://schemas.openxmlformats.org/officeDocument/2006/relationships/image" Target="../media/source_image133.png" Id="Rba5a6b1a683746ca"/><Relationship Type="http://schemas.openxmlformats.org/officeDocument/2006/relationships/image" Target="../media/source_image134.png" Id="Rfaf536a8c4bc442d"/><Relationship Type="http://schemas.openxmlformats.org/officeDocument/2006/relationships/image" Target="../media/source_image21.jpeg" Id="R6c6c9bdc2c7e4953"/><Relationship Type="http://schemas.openxmlformats.org/officeDocument/2006/relationships/image" Target="../media/source_image135.png" Id="R4766b8307a8b4e3c"/><Relationship Type="http://schemas.openxmlformats.org/officeDocument/2006/relationships/image" Target="../media/source_image136.png" Id="R7239b5dbe4ec4e40"/><Relationship Type="http://schemas.openxmlformats.org/officeDocument/2006/relationships/notesSlide" Target="../notesSlides/source_notesSlide25.xml" Id="Ra3a0b7aabcea4a3b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6c2d4f9024984225"/><Relationship Type="http://schemas.openxmlformats.org/officeDocument/2006/relationships/image" Target="../media/source_image137.png" Id="R6be6f661b806455f"/><Relationship Type="http://schemas.openxmlformats.org/officeDocument/2006/relationships/image" Target="../media/source_image138.png" Id="R87d6661622264336"/><Relationship Type="http://schemas.openxmlformats.org/officeDocument/2006/relationships/image" Target="../media/source_image139.png" Id="R7a6ff782de484687"/><Relationship Type="http://schemas.openxmlformats.org/officeDocument/2006/relationships/image" Target="../media/source_image140.png" Id="R07d32d0c90564726"/><Relationship Type="http://schemas.openxmlformats.org/officeDocument/2006/relationships/image" Target="../media/source_image22.jpeg" Id="Rfdb10eacdfbe4be2"/><Relationship Type="http://schemas.openxmlformats.org/officeDocument/2006/relationships/image" Target="../media/source_image141.png" Id="R9bbb42a5ab554887"/><Relationship Type="http://schemas.openxmlformats.org/officeDocument/2006/relationships/image" Target="../media/source_image142.png" Id="Re88b8a8af36d4bc4"/><Relationship Type="http://schemas.openxmlformats.org/officeDocument/2006/relationships/notesSlide" Target="../notesSlides/source_notesSlide26.xml" Id="Racf9bc8718bd490b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a9f984f1e6a14556"/><Relationship Type="http://schemas.openxmlformats.org/officeDocument/2006/relationships/image" Target="../media/source_image143.png" Id="R4a8b1d63a9ec49f8"/><Relationship Type="http://schemas.openxmlformats.org/officeDocument/2006/relationships/image" Target="../media/source_image144.png" Id="R04501a1e183d4cee"/><Relationship Type="http://schemas.openxmlformats.org/officeDocument/2006/relationships/image" Target="../media/source_image145.png" Id="Rbc6d1de470bf4bf1"/><Relationship Type="http://schemas.openxmlformats.org/officeDocument/2006/relationships/image" Target="../media/source_image146.png" Id="R417afdacf0a64052"/><Relationship Type="http://schemas.openxmlformats.org/officeDocument/2006/relationships/image" Target="../media/source_image23.jpeg" Id="R830284d6c69042e6"/><Relationship Type="http://schemas.openxmlformats.org/officeDocument/2006/relationships/image" Target="../media/source_image147.png" Id="Rd72024d982e140bb"/><Relationship Type="http://schemas.openxmlformats.org/officeDocument/2006/relationships/image" Target="../media/source_image148.png" Id="R5b456e6168544512"/><Relationship Type="http://schemas.openxmlformats.org/officeDocument/2006/relationships/notesSlide" Target="../notesSlides/source_notesSlide27.xml" Id="R5cef9e572b424a27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3a210862441244c6"/><Relationship Type="http://schemas.openxmlformats.org/officeDocument/2006/relationships/image" Target="../media/source_image149.png" Id="R126b9bb224c94270"/><Relationship Type="http://schemas.openxmlformats.org/officeDocument/2006/relationships/image" Target="../media/source_image150.png" Id="Rb67c2b52ab51473a"/><Relationship Type="http://schemas.openxmlformats.org/officeDocument/2006/relationships/image" Target="../media/source_image151.png" Id="R67a0826573f6491d"/><Relationship Type="http://schemas.openxmlformats.org/officeDocument/2006/relationships/image" Target="../media/source_image152.png" Id="R29bdf4626df4450d"/><Relationship Type="http://schemas.openxmlformats.org/officeDocument/2006/relationships/image" Target="../media/source_image153.png" Id="Rf8507adb74714e2a"/><Relationship Type="http://schemas.openxmlformats.org/officeDocument/2006/relationships/image" Target="../media/source_image154.png" Id="Ra888b108010e4d64"/><Relationship Type="http://schemas.openxmlformats.org/officeDocument/2006/relationships/image" Target="../media/source_image155.png" Id="Rf7ca124137a44b6d"/><Relationship Type="http://schemas.openxmlformats.org/officeDocument/2006/relationships/image" Target="../media/source_image156.png" Id="R6dab6be1628b4b8e"/><Relationship Type="http://schemas.openxmlformats.org/officeDocument/2006/relationships/image" Target="../media/source_image157.png" Id="R46f8d6ac4dd34757"/><Relationship Type="http://schemas.openxmlformats.org/officeDocument/2006/relationships/image" Target="../media/source_image158.png" Id="R0ca03707a3e1481a"/><Relationship Type="http://schemas.openxmlformats.org/officeDocument/2006/relationships/image" Target="../media/source_image159.png" Id="R63ea17699feb4a3c"/><Relationship Type="http://schemas.openxmlformats.org/officeDocument/2006/relationships/image" Target="../media/source_image160.png" Id="Ra844b96283d140bd"/><Relationship Type="http://schemas.openxmlformats.org/officeDocument/2006/relationships/notesSlide" Target="../notesSlides/source_notesSlide28.xml" Id="R2622fe4109ef452d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fe1e573241a8493e"/><Relationship Type="http://schemas.openxmlformats.org/officeDocument/2006/relationships/image" Target="../media/source_image161.png" Id="R38d8994831754573"/><Relationship Type="http://schemas.openxmlformats.org/officeDocument/2006/relationships/image" Target="../media/source_image162.png" Id="R4466e2d779e84ab7"/><Relationship Type="http://schemas.openxmlformats.org/officeDocument/2006/relationships/image" Target="../media/source_image163.png" Id="R5453a5132cab4346"/><Relationship Type="http://schemas.openxmlformats.org/officeDocument/2006/relationships/image" Target="../media/source_image164.png" Id="R8f80dc7dd3804e7b"/><Relationship Type="http://schemas.openxmlformats.org/officeDocument/2006/relationships/image" Target="../media/source_image165.png" Id="R574006aa00304381"/><Relationship Type="http://schemas.openxmlformats.org/officeDocument/2006/relationships/image" Target="../media/source_image166.png" Id="R5a4028ad378d4304"/><Relationship Type="http://schemas.openxmlformats.org/officeDocument/2006/relationships/image" Target="../media/source_image167.png" Id="R411a584dd0684469"/><Relationship Type="http://schemas.openxmlformats.org/officeDocument/2006/relationships/image" Target="../media/source_image168.png" Id="R2389c090d9254f64"/><Relationship Type="http://schemas.openxmlformats.org/officeDocument/2006/relationships/image" Target="../media/source_image169.png" Id="Rd332c95c2ff74559"/><Relationship Type="http://schemas.openxmlformats.org/officeDocument/2006/relationships/image" Target="../media/source_image170.png" Id="Rcacee4fbfb394d96"/><Relationship Type="http://schemas.openxmlformats.org/officeDocument/2006/relationships/image" Target="../media/source_image171.png" Id="Rf4bdce73669c4995"/><Relationship Type="http://schemas.openxmlformats.org/officeDocument/2006/relationships/image" Target="../media/source_image172.png" Id="R05bbffe3759d4255"/><Relationship Type="http://schemas.openxmlformats.org/officeDocument/2006/relationships/notesSlide" Target="../notesSlides/source_notesSlide29.xml" Id="R63e57a581a204b09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18510b69c08a46b5"/><Relationship Type="http://schemas.openxmlformats.org/officeDocument/2006/relationships/image" Target="../media/source_image173.png" Id="R07bdcf42b0d34fb1"/><Relationship Type="http://schemas.openxmlformats.org/officeDocument/2006/relationships/image" Target="../media/source_image174.png" Id="Re531690ef3d440be"/><Relationship Type="http://schemas.openxmlformats.org/officeDocument/2006/relationships/image" Target="../media/source_image175.png" Id="R8241e81631154e3a"/><Relationship Type="http://schemas.openxmlformats.org/officeDocument/2006/relationships/image" Target="../media/source_image176.png" Id="R309ab18632524bed"/><Relationship Type="http://schemas.openxmlformats.org/officeDocument/2006/relationships/image" Target="../media/source_image177.png" Id="R684b9052702d4bed"/><Relationship Type="http://schemas.openxmlformats.org/officeDocument/2006/relationships/image" Target="../media/source_image178.png" Id="Reb6ef28e0a21400c"/><Relationship Type="http://schemas.openxmlformats.org/officeDocument/2006/relationships/image" Target="../media/source_image179.png" Id="Rb0eb249994bf45ce"/><Relationship Type="http://schemas.openxmlformats.org/officeDocument/2006/relationships/image" Target="../media/source_image180.png" Id="Rf3646e003002434a"/><Relationship Type="http://schemas.openxmlformats.org/officeDocument/2006/relationships/image" Target="../media/source_image181.png" Id="R0cc2e4fa1bb74482"/><Relationship Type="http://schemas.openxmlformats.org/officeDocument/2006/relationships/image" Target="../media/source_image182.png" Id="Red9a99ce8ce142ec"/><Relationship Type="http://schemas.openxmlformats.org/officeDocument/2006/relationships/image" Target="../media/source_image183.png" Id="R9cb7b639ffe142a9"/><Relationship Type="http://schemas.openxmlformats.org/officeDocument/2006/relationships/notesSlide" Target="../notesSlides/source_notesSlide30.xml" Id="R5e68e90b8fbd4235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b90819f6ed714cb7"/><Relationship Type="http://schemas.openxmlformats.org/officeDocument/2006/relationships/image" Target="../media/extra_image14.png" Id="Rabd3ca1514084d95"/><Relationship Type="http://schemas.openxmlformats.org/officeDocument/2006/relationships/image" Target="../media/extra_image15.png" Id="R83c228d1c4984fcc"/><Relationship Type="http://schemas.openxmlformats.org/officeDocument/2006/relationships/image" Target="../media/extra_image16.png" Id="Re8b26fa062b34386"/><Relationship Type="http://schemas.openxmlformats.org/officeDocument/2006/relationships/hyperlink" Target="https://dubukimch.github.io/manual-oee.html" TargetMode="External" Id="R09a8020b08134f19"/><Relationship Type="http://schemas.openxmlformats.org/officeDocument/2006/relationships/notesSlide" Target="../notesSlides/extra_notesSlide12.xml" Id="R045c74fe3db74005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2F865FCF-C838-4852-94C8-5CB3089D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5A8E5671-A83B-46ED-AE1F-320BB69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AD8C2-824C-4DD1-B594-81D13DA1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0FFBEEE3-9C72-4097-915D-30EC9B26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OEEAnalyzer 사용 매뉴얼  2026.10.25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7B4F8-69D9-4C35-AD41-FCB2726D5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aedff99b74378"/>
          <a:stretch xmlns:a="http://schemas.openxmlformats.org/drawingml/2006/main"/>
        </p:blipFill>
        <p:spPr>
          <a:xfrm xmlns:a="http://schemas.openxmlformats.org/drawingml/2006/main">
            <a:off x="685800" y="136207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DD995626-1C33-4073-BCD4-889D6117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57325"/>
            <a:ext cx="1257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OEEAnalyzer</a:t>
            </a:r>
          </a:p>
        </p:txBody>
      </p:sp>
      <p:sp>
        <p:nvSpPr>
          <p:cNvPr id="7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355A5D01-5076-44EC-960E-E2499189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38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사용 매뉴얼</a:t>
            </a:r>
          </a:p>
        </p:txBody>
      </p:sp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7496E8BB-313E-4BCB-963F-3167A9AE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로그인 오류를 구분하고 복구 후 분석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절차 익히기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939AB6E5-75B2-4B34-BF48-8D8FF049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6개 동작 · 실제 캡처 3장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969BC-E954-4325-9F0C-A6374B1E8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4d023068e4761"/>
          <a:stretch xmlns:a="http://schemas.openxmlformats.org/drawingml/2006/main"/>
        </p:blipFill>
        <p:spPr>
          <a:xfrm xmlns:a="http://schemas.openxmlformats.org/drawingml/2006/main">
            <a:off x="8453820" y="2762250"/>
            <a:ext cx="5190359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329E9866-E804-4F15-9982-559A039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5125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화면, 순서와 확인할 결과를 함께 읽습니다.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DE72775E-91FD-428C-B263-6A75D88C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87121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115a7d585f81454b"/>
              </a:rPr>
              <a:t>http://127.0.0.1:5185/login</a:t>
            </a:r>
          </a:p>
        </p:txBody>
      </p:sp>
    </p:spTree>
    <p:extLst>
      <p:ext uri="{BB962C8B-B14F-4D97-AF65-F5344CB8AC3E}">
        <p14:creationId xmlns:p14="http://schemas.microsoft.com/office/powerpoint/2010/main" val="1476973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B83A5DE3-7C9C-4D6F-9309-3B49CEC8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A5D20FA4-477D-4C9B-9D30-3DD10A52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0BC37-68A5-4AD2-9F10-E521B7FD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AF6B98D8-A942-4B11-8078-6EFC3CC4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OEEAnalyzer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B14D425E-AD19-434E-B6B6-D837321F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시작 조건과 실습 범위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18D9AC4E-6134-4E09-BC8A-248FD9E0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381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 환경을 확인한 뒤 첫 동작으로 이동합니다.</a:t>
            </a:r>
          </a:p>
        </p:txBody>
      </p:sp>
      <p:sp>
        <p:nvSpPr>
          <p:cNvPr id="7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D9CEBA57-951F-4712-B5D9-921DDD62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24FF73B6-4ACB-4409-9F2F-B432F49C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React UI는 http://127.0.0.1:5185, 분석 API 목표 주소는 http://127.0.0.1:5184다. /api와 /hubs는 UI 개발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서버에서 API로 프록시된다.</a:t>
            </a:r>
          </a:p>
        </p:txBody>
      </p:sp>
      <p:sp>
        <p:nvSpPr>
          <p:cNvPr id="9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105F8376-83BC-4BFB-891A-DABC7CFA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F1DE18E9-D325-4A6F-B2CF-3F59EC1F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OEE API·DB의 격리 실행 및 인증 이후 분석은 확인하지 못했습니다. 로그인 화면만으로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인증·계산·데이터 연동을 확인하지 않습니다.</a:t>
            </a:r>
          </a:p>
        </p:txBody>
      </p:sp>
      <p:sp>
        <p:nvSpPr>
          <p:cNvPr id="11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A82E58E6-69C8-4ECB-88D1-E2B3D326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2586958F-127E-4C9A-AA6F-C61BA5B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정상 분석에는 API와 기존 MySQL·TimescaleDB·Redis 등 구성된 데이터 서비스, 유효 계정과 역할, 생산 증거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및 TwinForge 생산 맥락이 필요하다.</a:t>
            </a:r>
          </a:p>
        </p:txBody>
      </p:sp>
      <p:sp>
        <p:nvSpPr>
          <p:cNvPr id="13" name="extra-text-11">
            <a:extLst xmlns:a="http://schemas.openxmlformats.org/drawingml/2006/main">
              <a:ext uri="{FF2B5EF4-FFF2-40B4-BE49-F238E27FC236}">
                <a16:creationId xmlns:a16="http://schemas.microsoft.com/office/drawing/2014/main" id="{63A1A869-6B7C-4135-B69E-E46A3F60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extra-text-12">
            <a:extLst xmlns:a="http://schemas.openxmlformats.org/drawingml/2006/main">
              <a:ext uri="{FF2B5EF4-FFF2-40B4-BE49-F238E27FC236}">
                <a16:creationId xmlns:a16="http://schemas.microsoft.com/office/drawing/2014/main" id="{9D15B518-5079-461B-BEC8-8CAC5877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개발 계정 선택 버튼은 개발 서버(import.meta.env.DEV)에서만 표시된다. 버튼은 입력값을 채우며 계정을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생성하거나 자동 인증하지 않는다. 기존 DB에서 해당 계정의 존재를 보장하지 않는다.</a:t>
            </a:r>
          </a:p>
        </p:txBody>
      </p:sp>
      <p:sp>
        <p:nvSpPr>
          <p:cNvPr id="15" name="extra-text-13">
            <a:extLst xmlns:a="http://schemas.openxmlformats.org/drawingml/2006/main">
              <a:ext uri="{FF2B5EF4-FFF2-40B4-BE49-F238E27FC236}">
                <a16:creationId xmlns:a16="http://schemas.microsoft.com/office/drawing/2014/main" id="{340396ED-F037-4EC3-B98C-64A79241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6" name="extra-text-14">
            <a:extLst xmlns:a="http://schemas.openxmlformats.org/drawingml/2006/main">
              <a:ext uri="{FF2B5EF4-FFF2-40B4-BE49-F238E27FC236}">
                <a16:creationId xmlns:a16="http://schemas.microsoft.com/office/drawing/2014/main" id="{D99DEB54-77F7-40FE-B3C0-D3DBBD23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새 운영 계정 초기화·비밀번호 변경은 관리자가 기존 인증 및 Bootstrap 정책에 따라 수행한다. 본 매뉴얼은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인증 우회나 계정 재생성을 안내하지 않는다.</a:t>
            </a:r>
          </a:p>
        </p:txBody>
      </p:sp>
      <p:sp>
        <p:nvSpPr>
          <p:cNvPr id="17" name="extra-text-15">
            <a:extLst xmlns:a="http://schemas.openxmlformats.org/drawingml/2006/main">
              <a:ext uri="{FF2B5EF4-FFF2-40B4-BE49-F238E27FC236}">
                <a16:creationId xmlns:a16="http://schemas.microsoft.com/office/drawing/2014/main" id="{8321A087-E76E-4958-ACE7-F88B1A75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실습에서 확인하는 범위</a:t>
            </a:r>
          </a:p>
        </p:txBody>
      </p:sp>
      <p:sp>
        <p:nvSpPr>
          <p:cNvPr id="18" name="extra-text-16">
            <a:extLst xmlns:a="http://schemas.openxmlformats.org/drawingml/2006/main">
              <a:ext uri="{FF2B5EF4-FFF2-40B4-BE49-F238E27FC236}">
                <a16:creationId xmlns:a16="http://schemas.microsoft.com/office/drawing/2014/main" id="{A4F51E05-87A4-4053-BC0D-48A8C7FD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81825"/>
            <a:ext cx="13811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접근 가능한 로그인 화면·개발 계정 선택·API 연결 실패 대응을 안내한다. 분석 기간 조회, 계산 상태별 CSV, 조회 전용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대시보드는 소스에 근거한 API 복구 후 절차이며 현 환경에서 실행 확인하지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8868362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43CB6EF3-A3AD-45ED-967D-A65804E4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D555D8C-6A8A-4881-96F6-C8D653B2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4A688-C52A-4F75-9EAF-1F245350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1AAA6DB-D6E3-4FD4-A33A-5FCAA7D8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OEEAnalyzer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1B3838-AB77-4227-8FA9-A12A6C08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OEE 로그인 화면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99F645C-0C64-4B0A-A73A-9446F88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접근 역할과 계정 입력 위치를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3CDD-AE32-4739-81E0-F48927798E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4e83185b645ad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94FDD58-3E57-49F4-A16B-D96CED64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6D8AC93-887F-49F4-BE23-7C68683D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로그인 화면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90747E9-ADCC-4971-9BE0-C1282021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:5185/login의 Sign in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A8A0F-321B-4B05-848D-50642837B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a6b1a683746ca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6F22B46-AF2F-4558-80C4-767859AE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A0877337-6D64-480E-9432-34CD7680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역할 안내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6DB4C304-479A-411D-A3B4-FE498249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Access · Dashboard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3D6B1-103B-4B2C-8081-D49B501071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536a8c4bc442d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D9B94C0C-1224-4B58-A611-8E677AE5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CBB95E6B-26D2-4A9A-B85C-1C423C54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승인된 계정 입력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D73F3E1-F2BB-49C6-BA0A-1AC97729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Username · Password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02573-2DC5-4C39-958D-67078C76A9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c9bdc2c7e4953"/>
          <a:srcRect xmlns:a="http://schemas.openxmlformats.org/drawingml/2006/main" l="18000" t="27000" r="18000" b="27000"/>
          <a:stretch xmlns:a="http://schemas.openxmlformats.org/drawingml/2006/main"/>
        </p:blipFill>
        <p:spPr>
          <a:xfrm xmlns:a="http://schemas.openxmlformats.org/drawingml/2006/main">
            <a:off x="5507722" y="2305050"/>
            <a:ext cx="7805957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48E25CCD-1225-4574-95D5-B91D0B3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F6A79-0471-470D-88BC-D026CCE0A6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6b8307a8b4e3c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811BB3CB-CB13-431C-B95A-0E8F6C1D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API 미연결입니다. 입력 폼이 보인다는 사실은 인증 성공과 다릅니다.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10F3B-395C-4189-89E5-29C15596C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9b5dbe4ec4e40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30E865FD-1160-475F-9B8B-02F12E2A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로그인 폼과 역할 안내를 확인했습니다.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필수 항목이 비어 있으면 제출이 제한됩니다.</a:t>
            </a:r>
          </a:p>
        </p:txBody>
      </p:sp>
    </p:spTree>
    <p:extLst>
      <p:ext uri="{BB962C8B-B14F-4D97-AF65-F5344CB8AC3E}">
        <p14:creationId xmlns:p14="http://schemas.microsoft.com/office/powerpoint/2010/main" val="997109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B2F0F863-257B-4EBE-8829-0B568E97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B3A1921-3188-4CE2-A67A-D62C9BFA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20FB0-C0D1-4E34-AB14-9FC6D56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65356F-7096-4DB8-B21F-83A3FAA1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OEEAnalyzer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BFD1E4A-6CB8-4059-B106-9DBFD7CE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개발용 계정 빠르게 채우기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024301-057A-482A-8F2E-75B6E0F4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관리자·조회 계정의 입력값과 역할 차이를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182FC-9214-40E2-B36D-278962E8B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6f661b806455f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A5FC81D-2CC5-4A42-B0FE-2A243F69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C6276A3-A1D9-47FB-AE03-C341EEDF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로컬 계정 영역 찾기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DBC3B59-3C3C-466F-ADD7-7A79CC8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개발용 계정 선택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0DFB3-EE54-4B31-9572-B82D0D7B7C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6661622264336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BCA32D0-B6E9-49A3-92CD-A0680FEE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61554C82-0816-44F4-AB9D-72E60C89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관리자 계정 선택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3D49258E-85CB-4889-8832-B9F40524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관리자 계정 → admin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0E9AB-94A2-47F3-B4B5-350144E67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ff782de484687"/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9CABD4B7-DA19-463D-9EDE-167ADD49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666C16A9-FC06-4EFB-A28C-0826B18C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계정 선택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9023809A-ACD1-4B1C-BA1F-15552503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조회 계정 → viewer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315B2-26DF-47B6-8AF0-5DF1DB391A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32d0c90564726"/>
          <a:stretch xmlns:a="http://schemas.openxmlformats.org/drawingml/2006/main"/>
        </p:blipFill>
        <p:spPr>
          <a:xfrm xmlns:a="http://schemas.openxmlformats.org/drawingml/2006/main">
            <a:off x="638175" y="5210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710BA03B-C03B-466F-8869-C6C01F0A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29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C3F93030-A2FA-43A2-8FCB-35421325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81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작업에 맞는 역할 선택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3AE1EE9C-07B1-4F53-B251-791485F3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91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분석 · 설계 / 조회 역할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8DAFB-1210-4583-B74E-DA5C6FE32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10eacdfbe4be2"/>
          <a:srcRect xmlns:a="http://schemas.openxmlformats.org/drawingml/2006/main" l="55000" t="31000" r="19000" b="31000"/>
          <a:stretch xmlns:a="http://schemas.openxmlformats.org/drawingml/2006/main"/>
        </p:blipFill>
        <p:spPr>
          <a:xfrm xmlns:a="http://schemas.openxmlformats.org/drawingml/2006/main">
            <a:off x="7491308" y="2305050"/>
            <a:ext cx="3838785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82936B64-C7F6-4552-8871-292367E4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2E2D03-C661-45AF-86C5-60C1075B12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b42a5ab554887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6768B8C6-9A43-4C89-A7BB-74727B5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계정 선택 버튼은 개발 환경용입니다. 운영 환경에서는 부여된 계정을 사용합니다.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C5904-FBC6-4E7A-9C12-87FFE21CE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b8a8af36d4bc4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1FE4B54D-778B-4127-AD52-22A5AE8C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버튼 선택으로 입력값과 이전 오류가 갱신됩니다.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계정 생성이나 인증 성공은 발생하지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51908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D707138B-D2E8-4BB6-AE31-DFB71447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024ED7F-59BF-4C69-AA48-34D81099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7EF62-5AE8-43D7-968A-34A5F95A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150343-FC4A-4D58-B925-E87F7C0B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OEEAnalyzer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788710F-A00C-44B3-B736-98146EBF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API 오류와 계정 오류 구분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80051D3-5B86-40A6-917A-C78759BD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로그인 실패 원인에 맞춰 재시도 대상을 정합니다.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764A5-B38B-4DBB-9F40-2C3C92685C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b1d63a9ec49f8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AF78E20-BEDD-4B63-8FF7-6757AB54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5A5BA70-3839-41B3-80CA-8B31B82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필수 계정 입력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774CE1CF-35FC-4DB0-B4E7-E967257A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개발 또는 승인된 계정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85396-3113-4CB4-B5A1-445D6A431C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01a1e183d4cee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0EFB6B4-8344-4004-B5E4-2D0E1833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73D3BDD9-E2B2-42CE-8C87-8B2D99E8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Login 한 번 제출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FF53E09E-C06D-45B1-A2A3-8A0DB84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Login → Signing in...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1C523-CAF7-4ABB-9E19-648AC66FF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d1de470bf4bf1"/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597578E6-0E74-4815-A53F-0A308E31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FABCA05-0BC1-47DC-8D27-B0973F5A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실제 오류 문구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A9810C1-65A9-472E-8B64-058DF5B9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분석 API 연결 오류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66C66-6F80-4B38-BF16-582DEE8F7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afdacf0a64052"/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2DBAE55-A73A-4203-BAA2-56799129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ECC9231D-B890-488B-8902-6498FEF1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서비스 복구 후 재시도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90516645-FECA-40AB-8EED-7C538A0A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API · DB 복구 후 다시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558FEE-882E-4605-ABD2-2896F7F3D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284d6c69042e6"/>
          <a:srcRect xmlns:a="http://schemas.openxmlformats.org/drawingml/2006/main" l="55000" t="28000" r="19000" b="27000"/>
          <a:stretch xmlns:a="http://schemas.openxmlformats.org/drawingml/2006/main"/>
        </p:blipFill>
        <p:spPr>
          <a:xfrm xmlns:a="http://schemas.openxmlformats.org/drawingml/2006/main">
            <a:off x="7789880" y="2305050"/>
            <a:ext cx="3241640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34036B0A-8FB9-4366-BB12-FCC1C77D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71B52-5ECD-498F-A732-416F976950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024d982e140bb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197B0763-05E2-4337-B351-0AF27AFB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API :5184·DB를 먼저 확인합니다. 비 401 오류도 연결 오류로 표시될 수 있으며 대기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한도는 15초입니다.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7C077-575C-4CAE-ACFF-A872FF2FD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56e6168544512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EEC553F5-D95E-4756-8BF1-AAA3AFE1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캡처는 API 미연결 오류입니다.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401 계정 오류는 다른 문구로 구분됩니다.</a:t>
            </a:r>
          </a:p>
        </p:txBody>
      </p:sp>
    </p:spTree>
    <p:extLst>
      <p:ext uri="{BB962C8B-B14F-4D97-AF65-F5344CB8AC3E}">
        <p14:creationId xmlns:p14="http://schemas.microsoft.com/office/powerpoint/2010/main" val="1214572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A6B747-8B68-479B-8258-20EBFF616959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0848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C5381D-4083-4C33-935D-07438A38F68F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3724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01F539-25E4-46F1-B310-350FBA81FA23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895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sp>
        <p:nvSpPr>
          <p:cNvPr id="49" name="text-1">
            <a:extLst xmlns:a="http://schemas.openxmlformats.org/drawingml/2006/main">
              <a:ext uri="{FF2B5EF4-FFF2-40B4-BE49-F238E27FC236}">
                <a16:creationId xmlns:a16="http://schemas.microsoft.com/office/drawing/2014/main" id="{4C922A97-F907-4284-B0DB-9EC7740B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375D3DB-63AD-425D-A664-84CA9CE7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14E0B-59B5-4F4B-9E1F-A72FE1AA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0BE1C4-E289-4AD2-8E2C-DD5F7011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OEEAnalyzer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31A9AE1-0C8E-4074-A821-F593ECED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설비와 기간으로 OEE 조회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F66A622-FEDE-4F2D-9917-B00D9AC6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서비스 복구 후 생산 근거와 계산 창을 함께 조회합니다.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195E8-3D3A-477D-961B-85D7566918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b9bb224c94270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5A48759-50FE-49F9-8F78-A9EBCD2B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79D326C-9989-47CA-9D68-9B739A4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의존 서비스 복구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67671B9-7C00-41F2-81C4-4558D92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API · DB 복구 · 관리자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인증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F285E-42CB-405C-89C8-856E9FCDB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c2b52ab51473a"/>
          <a:stretch xmlns:a="http://schemas.openxmlformats.org/drawingml/2006/main"/>
        </p:blipFill>
        <p:spPr>
          <a:xfrm xmlns:a="http://schemas.openxmlformats.org/drawingml/2006/main">
            <a:off x="638175" y="348853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5186A2B-E43E-4897-BB27-28152AC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763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EDA22B50-E4CF-4CCC-9EBA-9885569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5995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생산 증거와 OEE 열기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17080F1E-3B2E-4A93-9710-2EBF4D68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69531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생산 증거와 OEE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ADD68-627A-4F52-8263-7A829022F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0826573f6491d"/>
          <a:stretch xmlns:a="http://schemas.openxmlformats.org/drawingml/2006/main"/>
        </p:blipFill>
        <p:spPr>
          <a:xfrm xmlns:a="http://schemas.openxmlformats.org/drawingml/2006/main">
            <a:off x="638175" y="4300538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12C81E1F-7379-4768-BC80-6300520A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19638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D9128FA-6E9D-412E-BB26-B37FB72D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71963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키와 기간 지정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85DAB88-376F-4EE3-B733-81ED3B12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81538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Equipment Key · From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/ To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AF7D4-90AC-420B-ADE9-3DCF28EF9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df4626df4450d"/>
          <a:stretch xmlns:a="http://schemas.openxmlformats.org/drawingml/2006/main"/>
        </p:blipFill>
        <p:spPr>
          <a:xfrm xmlns:a="http://schemas.openxmlformats.org/drawingml/2006/main">
            <a:off x="638175" y="54363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3C20BCEB-74EB-4E1A-805A-EE99173E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554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482C7248-E805-47DC-9C37-FC7BBF8F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078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계산 창 조회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617302A4-3FC5-469A-94D8-C7A87604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17394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Refresh Analysis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A7609-2867-46BF-960D-E1A9E0B9C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07adb74714e2a"/>
          <a:stretch xmlns:a="http://schemas.openxmlformats.org/drawingml/2006/main"/>
        </p:blipFill>
        <p:spPr>
          <a:xfrm xmlns:a="http://schemas.openxmlformats.org/drawingml/2006/main">
            <a:off x="638175" y="62484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3BB0A7A0-4F90-4322-A37D-C5F4CB72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67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6B78A5FD-A182-4716-B7A9-CB5EAA42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19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계산 근거 함께 읽기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B927B70E-0B74-47F4-AF71-EAAB93BD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62940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A/P/Q · OEE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Coverage · 상태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177B1-9FEC-47F6-B290-A37BF6920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8b108010e4d64"/>
          <a:stretch xmlns:a="http://schemas.openxmlformats.org/drawingml/2006/main"/>
        </p:blipFill>
        <p:spPr>
          <a:xfrm xmlns:a="http://schemas.openxmlformats.org/drawingml/2006/main">
            <a:off x="4657725" y="25908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91B56E1B-D45E-4D34-9529-04848CC2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38425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현재 API 연결 불가 · 실행 미확인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93F3FF-6DED-4ABD-BDF5-60E2258C61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a124137a44b6d"/>
          <a:stretch xmlns:a="http://schemas.openxmlformats.org/drawingml/2006/main"/>
        </p:blipFill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2FAFBBC6-C250-4F7D-9901-6CE56742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API / DB 준비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6BD22-718A-46A5-8049-8351EC89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C9384-90F3-4DA1-897A-AC8408C461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b6be1628b4b8e"/>
          <a:stretch xmlns:a="http://schemas.openxmlformats.org/drawingml/2006/main"/>
        </p:blipFill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3" name="text-23">
            <a:extLst xmlns:a="http://schemas.openxmlformats.org/drawingml/2006/main">
              <a:ext uri="{FF2B5EF4-FFF2-40B4-BE49-F238E27FC236}">
                <a16:creationId xmlns:a16="http://schemas.microsoft.com/office/drawing/2014/main" id="{952D6A6D-173C-4012-9592-EC3C9CC2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관리자 인증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E9B163-8A7E-4DCE-A1CE-51EF7F22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222C2C-111A-4DE3-A72E-C1588CE461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8d6ac4dd34757"/>
          <a:stretch xmlns:a="http://schemas.openxmlformats.org/drawingml/2006/main"/>
        </p:blipFill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7" name="text-24">
            <a:extLst xmlns:a="http://schemas.openxmlformats.org/drawingml/2006/main">
              <a:ext uri="{FF2B5EF4-FFF2-40B4-BE49-F238E27FC236}">
                <a16:creationId xmlns:a16="http://schemas.microsoft.com/office/drawing/2014/main" id="{FA4AC4F7-FA0F-4924-836A-1564F52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설비와 기간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D787CE-5364-4C32-AA89-8A05E0DD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CDA8B6-D385-42A3-BE5A-34DBEA4FC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03707a3e1481a"/>
          <a:stretch xmlns:a="http://schemas.openxmlformats.org/drawingml/2006/main"/>
        </p:blipFill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1" name="text-25">
            <a:extLst xmlns:a="http://schemas.openxmlformats.org/drawingml/2006/main">
              <a:ext uri="{FF2B5EF4-FFF2-40B4-BE49-F238E27FC236}">
                <a16:creationId xmlns:a16="http://schemas.microsoft.com/office/drawing/2014/main" id="{2EE972A7-3142-4CC2-83B7-27E1B44E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지표와 근거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58BA07-6860-4F7B-83D9-AC0953C5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text-26">
            <a:extLst xmlns:a="http://schemas.openxmlformats.org/drawingml/2006/main">
              <a:ext uri="{FF2B5EF4-FFF2-40B4-BE49-F238E27FC236}">
                <a16:creationId xmlns:a16="http://schemas.microsoft.com/office/drawing/2014/main" id="{34FEE7A6-B8BC-4C45-8626-663ACFA5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029325"/>
            <a:ext cx="995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복구 후 수행할 절차입니다. 실제 결과 화면은 아직 없습니다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37C499-69F1-4BAC-B12F-F433694FF4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a17699feb4a3c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6" name="text-27">
            <a:extLst xmlns:a="http://schemas.openxmlformats.org/drawingml/2006/main">
              <a:ext uri="{FF2B5EF4-FFF2-40B4-BE49-F238E27FC236}">
                <a16:creationId xmlns:a16="http://schemas.microsoft.com/office/drawing/2014/main" id="{44DB1801-73AE-447A-AF43-A292803F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실행 미검증. 로컬 입력 시각은 UTC로 변환됩니다. N/A·빈 결과는 0%가 아니며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reasons와 생산 맥락을 확인합니다.</a:t>
            </a:r>
          </a:p>
        </p:txBody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870BC6-2D5E-4CDE-96DF-309F65B919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4b96283d140bd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8" name="text-28">
            <a:extLst xmlns:a="http://schemas.openxmlformats.org/drawingml/2006/main">
              <a:ext uri="{FF2B5EF4-FFF2-40B4-BE49-F238E27FC236}">
                <a16:creationId xmlns:a16="http://schemas.microsoft.com/office/drawing/2014/main" id="{A90E24CA-68AD-40DE-832A-253A9C69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복구 후 선택 기간의 계산 창을 확인하는 절차입니다.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현재 환경에서는 실행하지 못했습니다.</a:t>
            </a:r>
          </a:p>
        </p:txBody>
      </p:sp>
    </p:spTree>
    <p:extLst>
      <p:ext uri="{BB962C8B-B14F-4D97-AF65-F5344CB8AC3E}">
        <p14:creationId xmlns:p14="http://schemas.microsoft.com/office/powerpoint/2010/main" val="466555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7B8498-32B6-459B-B962-B395847CE583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0848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53563A-8517-421C-A027-9BA7DCE290EC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3724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E0CCD6-E474-47EC-ADBA-A9D2C0575C0E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895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sp>
        <p:nvSpPr>
          <p:cNvPr id="49" name="text-1">
            <a:extLst xmlns:a="http://schemas.openxmlformats.org/drawingml/2006/main">
              <a:ext uri="{FF2B5EF4-FFF2-40B4-BE49-F238E27FC236}">
                <a16:creationId xmlns:a16="http://schemas.microsoft.com/office/drawing/2014/main" id="{161CB04C-23F5-4C82-91CA-C4C932DE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F24D7DB-CD86-47AA-9126-87EE105B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3427D-A3B2-400E-8DE8-C55CBF58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E75D31D-9C68-41E5-8092-67FE16AC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OEEAnalyzer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21FAD0-1FD3-40E3-95BA-7AECE241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OEE 상태 필터와 CSV 저장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94DAE44-42AC-4CB0-B0CC-C7E7B19B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서비스 복구 후 계산 상태별 근거를 파일로 보관합니다.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0E587-7696-4530-B368-C663649EB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8994831754573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543BF6F-340F-4425-992B-2AB081F6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8ACD0CA-77C9-4BCD-8702-17953065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조회 준비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1B7A773-4A9C-4A41-8DE8-FBFA3D5B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복구 후 Ledger 결과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필요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3E99D-192F-45FF-988A-4D6341BA4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6e2d779e84ab7"/>
          <a:stretch xmlns:a="http://schemas.openxmlformats.org/drawingml/2006/main"/>
        </p:blipFill>
        <p:spPr>
          <a:xfrm xmlns:a="http://schemas.openxmlformats.org/drawingml/2006/main">
            <a:off x="638175" y="348853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CEF2584-F69C-4563-A674-5ECDD3AF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763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60AADC2D-EB1C-4E31-9E1A-BEBC6F22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5995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계산 상태 선택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8941A359-DC0C-4153-AD6A-89559ED1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69531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계산 상태: Final 등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A0B74-3B1D-4C15-AA78-476352566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3a5132cab4346"/>
          <a:stretch xmlns:a="http://schemas.openxmlformats.org/drawingml/2006/main"/>
        </p:blipFill>
        <p:spPr>
          <a:xfrm xmlns:a="http://schemas.openxmlformats.org/drawingml/2006/main">
            <a:off x="638175" y="4300538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CAC7673D-7691-4F68-92CA-8369B099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19638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9A8455D6-6FF7-4E2E-B9D1-79F9147F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71963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필터 수와 근거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3F7F7A8C-25E5-4135-B74F-B3214BD7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81538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기간 · A/P/Q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Coverage 대조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9F971-7614-411F-B8E0-940B4A802A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0dc7dd3804e7b"/>
          <a:stretch xmlns:a="http://schemas.openxmlformats.org/drawingml/2006/main"/>
        </p:blipFill>
        <p:spPr>
          <a:xfrm xmlns:a="http://schemas.openxmlformats.org/drawingml/2006/main">
            <a:off x="638175" y="54363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F94FB8C-A7FD-46A7-B4CC-6C6EC66A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554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D452BA1A-0367-4378-86A6-D1AA1D51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078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 내보내기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7BA23F57-D15C-4841-B262-CBE1042E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17394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CSV 내보내기 ↓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94D9C-C678-4B5E-92CB-C423CF30D9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006aa00304381"/>
          <a:stretch xmlns:a="http://schemas.openxmlformats.org/drawingml/2006/main"/>
        </p:blipFill>
        <p:spPr>
          <a:xfrm xmlns:a="http://schemas.openxmlformats.org/drawingml/2006/main">
            <a:off x="638175" y="62484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2680422F-4AAF-45A7-AF3C-647A5D1B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67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73ED3F99-890D-4883-8A99-EB35AA31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19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 값과 행 수 대조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A8C88D93-1723-48E0-A6D7-6611D354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62940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UTC · 출처 · reasons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행 수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459EF-80F9-49D3-A325-811680315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028ad378d4304"/>
          <a:stretch xmlns:a="http://schemas.openxmlformats.org/drawingml/2006/main"/>
        </p:blipFill>
        <p:spPr>
          <a:xfrm xmlns:a="http://schemas.openxmlformats.org/drawingml/2006/main">
            <a:off x="4657725" y="25908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F3BAD441-9247-413E-8607-0DBA250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38425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현재 API 연결 불가 · 실행 미확인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6A866-317A-41B4-8DB0-B2C56FB59E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a584dd0684469"/>
          <a:stretch xmlns:a="http://schemas.openxmlformats.org/drawingml/2006/main"/>
        </p:blipFill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1633853E-7C2E-4A46-B4B0-0D3AE1B0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API / DB 준비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52DE3-08F9-4FFB-B81F-C398C9E4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0A27AC-7A73-487D-AFFF-60ACF579A7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9c090d9254f64"/>
          <a:stretch xmlns:a="http://schemas.openxmlformats.org/drawingml/2006/main"/>
        </p:blipFill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3" name="text-23">
            <a:extLst xmlns:a="http://schemas.openxmlformats.org/drawingml/2006/main">
              <a:ext uri="{FF2B5EF4-FFF2-40B4-BE49-F238E27FC236}">
                <a16:creationId xmlns:a16="http://schemas.microsoft.com/office/drawing/2014/main" id="{18759BA9-173B-4182-962D-4A3DD057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계산 상태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46A065-3914-4743-B548-6683414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92FE9C-F81F-4877-B144-0A7180026B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2c95c2ff74559"/>
          <a:stretch xmlns:a="http://schemas.openxmlformats.org/drawingml/2006/main"/>
        </p:blipFill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7" name="text-24">
            <a:extLst xmlns:a="http://schemas.openxmlformats.org/drawingml/2006/main">
              <a:ext uri="{FF2B5EF4-FFF2-40B4-BE49-F238E27FC236}">
                <a16:creationId xmlns:a16="http://schemas.microsoft.com/office/drawing/2014/main" id="{C81DAD1E-D844-487D-9691-9F5222A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 저장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21CEA9-0B6E-44F5-8952-33E61ED2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1E9992-4CEA-4036-9275-0B7D53C8A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ee4fbfb394d96"/>
          <a:stretch xmlns:a="http://schemas.openxmlformats.org/drawingml/2006/main"/>
        </p:blipFill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1" name="text-25">
            <a:extLst xmlns:a="http://schemas.openxmlformats.org/drawingml/2006/main">
              <a:ext uri="{FF2B5EF4-FFF2-40B4-BE49-F238E27FC236}">
                <a16:creationId xmlns:a16="http://schemas.microsoft.com/office/drawing/2014/main" id="{8E9475BD-1012-453E-BCC1-A5CF37B4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원장 대조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FE00B7-A084-4522-84EF-43DA7119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text-26">
            <a:extLst xmlns:a="http://schemas.openxmlformats.org/drawingml/2006/main">
              <a:ext uri="{FF2B5EF4-FFF2-40B4-BE49-F238E27FC236}">
                <a16:creationId xmlns:a16="http://schemas.microsoft.com/office/drawing/2014/main" id="{9A77CF68-2F2D-49B6-A8C1-8B1D7F8E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029325"/>
            <a:ext cx="995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복구 후 수행할 절차입니다. 실제 결과 화면은 아직 없습니다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3209E4-5DD6-4020-A139-34F9E35979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dce73669c4995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6" name="text-27">
            <a:extLst xmlns:a="http://schemas.openxmlformats.org/drawingml/2006/main">
              <a:ext uri="{FF2B5EF4-FFF2-40B4-BE49-F238E27FC236}">
                <a16:creationId xmlns:a16="http://schemas.microsoft.com/office/drawing/2014/main" id="{487CF553-8750-4614-98AB-3D38ED5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실행 미검증. CSV 비율은 원래 수치이며 null은 빈 셀입니다. Demo를 실측 External로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표시하지 않습니다.</a:t>
            </a:r>
          </a:p>
        </p:txBody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AED820-8FEB-49D1-AECC-5039E7D6A9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bffe3759d4255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8" name="text-28">
            <a:extLst xmlns:a="http://schemas.openxmlformats.org/drawingml/2006/main">
              <a:ext uri="{FF2B5EF4-FFF2-40B4-BE49-F238E27FC236}">
                <a16:creationId xmlns:a16="http://schemas.microsoft.com/office/drawing/2014/main" id="{78A5EC7B-3052-4F68-8C5E-BE0EB81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필터 결과 전체를 계산 근거와 함께 저장하는 절차입니다.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현재 환경에서는 실행하지 못했습니다.</a:t>
            </a:r>
          </a:p>
        </p:txBody>
      </p:sp>
    </p:spTree>
    <p:extLst>
      <p:ext uri="{BB962C8B-B14F-4D97-AF65-F5344CB8AC3E}">
        <p14:creationId xmlns:p14="http://schemas.microsoft.com/office/powerpoint/2010/main" val="539762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C63727-5255-437E-B530-6004F74D142C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0848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6851F2-1E2A-4D69-95FD-5E996169A19F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3724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9A7570-AE22-4A73-B680-41EB8FB523F1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895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sp>
        <p:nvSpPr>
          <p:cNvPr id="45" name="text-1">
            <a:extLst xmlns:a="http://schemas.openxmlformats.org/drawingml/2006/main">
              <a:ext uri="{FF2B5EF4-FFF2-40B4-BE49-F238E27FC236}">
                <a16:creationId xmlns:a16="http://schemas.microsoft.com/office/drawing/2014/main" id="{F3630963-8608-4A1D-B94B-95AA60AC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06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B3FE69F-0FB2-4B5A-815E-00CDB19B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DC64F-C899-4313-944E-AF9B0F42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2B4233-F11A-4461-A9C8-E4735335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OEEAnalyzer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28846BD-A79C-4ACF-A9B8-F798913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대시보드와 로그아웃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3F6B286-BD9F-4203-894B-B7C8AD95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서비스 복구 후 허용된 위젯과 갱신 시각을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24A08-EA36-445E-9CF3-FDF25904F5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dcf42b0d34fb1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78C0898-8AF7-4732-B8A4-1337FD9A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96A1FAC-26C3-4281-B1AF-FDC58742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계정 로그인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9B7B10F9-D1BD-4DE3-A5FA-89878C1E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서비스 복구 후 조회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계정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CB432-F8A9-4064-94BB-6A3CAE09AC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1690ef3d440be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174F0FE-24DA-4437-9CDA-A4CAA3FA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95C93B54-16BF-4EB0-8ED6-4D0D901D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위젯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BFB0056E-EB54-41CE-8A2C-C7E58E9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Live Dashboard의 위젯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1CCA6-B1D0-40CA-813E-48702D50B8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1e81631154e3a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25C8A9F-E005-48FC-B529-5B52E422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7C88AE7-3BBC-4061-8DA7-33D326E2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갱신 시각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B293462-943F-4088-A8C0-B67167E9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Session · Last update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3F865-7577-4EC6-A07A-FD86613BD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ab18632524bed"/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A1D15F90-CDFE-4217-867D-44D9793A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D5960A2B-DF07-4772-81DE-588109DA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세션 종료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3F5E256E-AEAA-4BCF-9A37-83F4D80F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로그아웃 ↗ → /login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B1AB6F-F756-48E0-A7DA-9C09B7C90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b9052702d4bed"/>
          <a:stretch xmlns:a="http://schemas.openxmlformats.org/drawingml/2006/main"/>
        </p:blipFill>
        <p:spPr>
          <a:xfrm xmlns:a="http://schemas.openxmlformats.org/drawingml/2006/main">
            <a:off x="4657725" y="25908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195D29F3-6C49-4D64-828F-7D67ABC8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38425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현재 API 연결 불가 · 실행 미확인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06DCA-A0A1-4F3C-BB23-CA1649FB01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ef28e0a21400c"/>
          <a:stretch xmlns:a="http://schemas.openxmlformats.org/drawingml/2006/main"/>
        </p:blipFill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965C8122-99DC-40D8-B849-42C5FEC4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API / DB 준비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58EA4-8560-40E7-8E8C-4B7A2477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98BA6-F9B7-486A-BDA2-A7FACA8A9F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b249994bf45ce"/>
          <a:stretch xmlns:a="http://schemas.openxmlformats.org/drawingml/2006/main"/>
        </p:blipFill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9" name="text-20">
            <a:extLst xmlns:a="http://schemas.openxmlformats.org/drawingml/2006/main">
              <a:ext uri="{FF2B5EF4-FFF2-40B4-BE49-F238E27FC236}">
                <a16:creationId xmlns:a16="http://schemas.microsoft.com/office/drawing/2014/main" id="{0EFF6A81-1D64-4105-ADF4-1CE78E8C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인증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A10639-72ED-405A-948E-19F3AA8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87737-1619-47B2-B09C-D5D6C607E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46e003002434a"/>
          <a:stretch xmlns:a="http://schemas.openxmlformats.org/drawingml/2006/main"/>
        </p:blipFill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3" name="text-21">
            <a:extLst xmlns:a="http://schemas.openxmlformats.org/drawingml/2006/main">
              <a:ext uri="{FF2B5EF4-FFF2-40B4-BE49-F238E27FC236}">
                <a16:creationId xmlns:a16="http://schemas.microsoft.com/office/drawing/2014/main" id="{8342FD0D-87EF-48C6-93A2-969B2D42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효율 모니터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EBC7DC-B418-4512-AA32-BE328993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6443C4-D029-4FC9-B440-60A72905B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2e4fa1bb74482"/>
          <a:stretch xmlns:a="http://schemas.openxmlformats.org/drawingml/2006/main"/>
        </p:blipFill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7" name="text-22">
            <a:extLst xmlns:a="http://schemas.openxmlformats.org/drawingml/2006/main">
              <a:ext uri="{FF2B5EF4-FFF2-40B4-BE49-F238E27FC236}">
                <a16:creationId xmlns:a16="http://schemas.microsoft.com/office/drawing/2014/main" id="{75BED27B-3285-4EDE-A79E-BE940BF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로그아웃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B0BFD3-0C6E-4EDD-8736-67F4064E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text-23">
            <a:extLst xmlns:a="http://schemas.openxmlformats.org/drawingml/2006/main">
              <a:ext uri="{FF2B5EF4-FFF2-40B4-BE49-F238E27FC236}">
                <a16:creationId xmlns:a16="http://schemas.microsoft.com/office/drawing/2014/main" id="{695E7208-562B-4E5F-AE86-927760B2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029325"/>
            <a:ext cx="995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복구 후 수행할 절차입니다. 실제 결과 화면은 아직 없습니다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4CFF26-1CF4-4DC6-A697-6591FE1A9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a99ce8ce142ec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2" name="text-24">
            <a:extLst xmlns:a="http://schemas.openxmlformats.org/drawingml/2006/main">
              <a:ext uri="{FF2B5EF4-FFF2-40B4-BE49-F238E27FC236}">
                <a16:creationId xmlns:a16="http://schemas.microsoft.com/office/drawing/2014/main" id="{C1D77DB0-8990-4552-8E0F-EC419F0E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실행 미검증. No dashboard widgets는 배정 권한을, No updates는 데이터·세션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상태를 확인합니다.</a:t>
            </a:r>
          </a:p>
        </p:txBody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D36092-5AE7-478C-BB2D-5C5FAD439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7b639ffe142a9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4" name="text-25">
            <a:extLst xmlns:a="http://schemas.openxmlformats.org/drawingml/2006/main">
              <a:ext uri="{FF2B5EF4-FFF2-40B4-BE49-F238E27FC236}">
                <a16:creationId xmlns:a16="http://schemas.microsoft.com/office/drawing/2014/main" id="{0BC6711B-D62F-4780-8210-0DFA3882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읽기 전용 위젯 확인과 세션 종료 절차입니다.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인증·조회·로그아웃은 현재 환경에서 미검증입니다.</a:t>
            </a:r>
          </a:p>
        </p:txBody>
      </p:sp>
    </p:spTree>
    <p:extLst>
      <p:ext uri="{BB962C8B-B14F-4D97-AF65-F5344CB8AC3E}">
        <p14:creationId xmlns:p14="http://schemas.microsoft.com/office/powerpoint/2010/main" val="1913098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5289E919-29FB-41C2-AC09-CAC4D328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B44FB60A-41A2-4465-AA29-B2562828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3702F-F70A-4F3D-BD23-447C1E1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2947E89C-7349-4704-94DE-AEB96934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OEEAnalyzer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9215EBD9-7B16-40EE-8C75-04F0C31B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상세 절차와 다음 확인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DE23EDD2-DA88-4076-9559-65F4197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슬라이드의 조작 순서를 상세 원문과 함께 사용할 수 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CF155-D5ED-41B2-8F9A-2CA869AC9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3ca1514084d95"/>
          <a:stretch xmlns:a="http://schemas.openxmlformats.org/drawingml/2006/main"/>
        </p:blipFill>
        <p:spPr>
          <a:xfrm xmlns:a="http://schemas.openxmlformats.org/drawingml/2006/main">
            <a:off x="685800" y="2800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5A357F7B-7195-4A8D-B56E-F172F965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솔루션별 Markdown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6C72CF7D-153B-4DC5-816A-2D90268A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81375"/>
            <a:ext cx="1276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chapters/04-oee.md  /  전체 단계·기대 결과·문제 해결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57798-7164-4A1D-845E-6A72CEAA9F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228d1c4984fcc"/>
          <a:stretch xmlns:a="http://schemas.openxmlformats.org/drawingml/2006/main"/>
        </p:blipFill>
        <p:spPr>
          <a:xfrm xmlns:a="http://schemas.openxmlformats.org/drawingml/2006/main">
            <a:off x="685800" y="45720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FBC04621-AD81-4C88-BD33-3062CF56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값과 근거 확인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600EFB18-8A6C-4F97-A999-21E8E7E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53025"/>
            <a:ext cx="1276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품질·원본 시각·데모 모드와 미연결 상태를 함께 확인합니다.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E4784-F775-4D37-B482-74676F88BB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26fa062b34386"/>
          <a:stretch xmlns:a="http://schemas.openxmlformats.org/drawingml/2006/main"/>
        </p:blipFill>
        <p:spPr>
          <a:xfrm xmlns:a="http://schemas.openxmlformats.org/drawingml/2006/main">
            <a:off x="685800" y="63341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4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44C9E13A-0A56-439B-AAFE-9A03CD54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96025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포트폴리오 사용 안내</a:t>
            </a:r>
          </a:p>
        </p:txBody>
      </p:sp>
      <p:sp>
        <p:nvSpPr>
          <p:cNvPr id="15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367B9425-741D-4921-9FCF-33CB9C53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15150"/>
            <a:ext cx="1276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87121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09a8020b08134f19"/>
              </a:rPr>
              <a:t>https://dubukimch.github.io/manual-oee.html</a:t>
            </a:r>
          </a:p>
        </p:txBody>
      </p:sp>
    </p:spTree>
    <p:extLst>
      <p:ext uri="{BB962C8B-B14F-4D97-AF65-F5344CB8AC3E}">
        <p14:creationId xmlns:p14="http://schemas.microsoft.com/office/powerpoint/2010/main" val="305728509"/>
      </p:ext>
    </p:extLst>
  </p:cSld>
</p:sld>
</file>

<file path=ppt/theme/source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source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9</ap:Slides>
  <ap:Notes>0</ap:Notes>
  <ap:HiddenSlides>0</ap:HiddenSlides>
  <ap:SharedDoc>false</ap:SharedDoc>
  <ap:DocSecurity>0</ap:DocSecurity>
</ap:Properties>
</file>

<file path=docProps/source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2026-10-24T02:40:07.4580000Z</dcterms:created>
  <dcterms:modified xsi:type="dcterms:W3CDTF">2026-10-24T02:40:07.4580000Z</dcterms:modified>
</coreProperties>
</file>