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theme/source_theme1.xml" ContentType="application/vnd.openxmlformats-officedocument.theme+xml"/>
  <Override PartName="/ppt/slideMasters/source_slideMaster1.xml" ContentType="application/vnd.openxmlformats-officedocument.presentationml.slideMaster+xml"/>
  <Override PartName="/ppt/slideMasters/theme/source_theme2.xml" ContentType="application/vnd.openxmlformats-officedocument.theme+xml"/>
  <Override PartName="/ppt/slideLayouts/source_slideLayout1.xml" ContentType="application/vnd.openxmlformats-officedocument.presentationml.slideLayout+xml"/>
  <Override PartName="/ppt/slideLayouts/source_slideLayout2.xml" ContentType="application/vnd.openxmlformats-officedocument.presentationml.slideLayout+xml"/>
  <Override PartName="/ppt/slideLayouts/source_slideLayout3.xml" ContentType="application/vnd.openxmlformats-officedocument.presentationml.slideLayout+xml"/>
  <Override PartName="/ppt/slideLayouts/source_slideLayout4.xml" ContentType="application/vnd.openxmlformats-officedocument.presentationml.slideLayout+xml"/>
  <Override PartName="/ppt/slideLayouts/source_slideLayout5.xml" ContentType="application/vnd.openxmlformats-officedocument.presentationml.slideLayout+xml"/>
  <Override PartName="/ppt/slideLayouts/source_slideLayout6.xml" ContentType="application/vnd.openxmlformats-officedocument.presentationml.slideLayout+xml"/>
  <Override PartName="/ppt/notesMasters/source_notesMaster1.xml" ContentType="application/vnd.openxmlformats-officedocument.presentationml.notesMaster+xml"/>
  <Override PartName="/ppt/notesMasters/theme/source_theme3.xml" ContentType="application/vnd.openxmlformats-officedocument.theme+xml"/>
  <Override PartName="/ppt/source_presProps.xml" ContentType="application/vnd.openxmlformats-officedocument.presentationml.presProps+xml"/>
  <Override PartName="/ppt/source_tableStyles.xml" ContentType="application/vnd.openxmlformats-officedocument.presentationml.tableStyles+xml"/>
  <Override PartName="/ppt/slideLayouts/extra_slideLayout6.xml" ContentType="application/vnd.openxmlformats-officedocument.presentationml.slideLayout+xml"/>
  <Override PartName="/ppt/slideMasters/extra_slideMaster1.xml" ContentType="application/vnd.openxmlformats-officedocument.presentationml.slideMaster+xml"/>
  <Override PartName="/ppt/slideMasters/theme/extra_theme2.xml" ContentType="application/vnd.openxmlformats-officedocument.theme+xml"/>
  <Override PartName="/ppt/slideLayouts/extra_slideLayout1.xml" ContentType="application/vnd.openxmlformats-officedocument.presentationml.slideLayout+xml"/>
  <Override PartName="/ppt/slideLayouts/extra_slideLayout2.xml" ContentType="application/vnd.openxmlformats-officedocument.presentationml.slideLayout+xml"/>
  <Override PartName="/ppt/slideLayouts/extra_slideLayout3.xml" ContentType="application/vnd.openxmlformats-officedocument.presentationml.slideLayout+xml"/>
  <Override PartName="/ppt/slideLayouts/extra_slideLayout4.xml" ContentType="application/vnd.openxmlformats-officedocument.presentationml.slideLayout+xml"/>
  <Override PartName="/ppt/slideLayouts/extra_slideLayout5.xml" ContentType="application/vnd.openxmlformats-officedocument.presentationml.slideLayout+xml"/>
  <Override PartName="/ppt/notesSlides/extra_notesSlide19.xml" ContentType="application/vnd.openxmlformats-officedocument.presentationml.notesSlide+xml"/>
  <Override PartName="/ppt/notesMasters/extra_notesMaster1.xml" ContentType="application/vnd.openxmlformats-officedocument.presentationml.notesMaster+xml"/>
  <Override PartName="/ppt/notesMasters/theme/extra_theme3.xml" ContentType="application/vnd.openxmlformats-officedocument.theme+xml"/>
  <Override PartName="/ppt/notesSlides/extra_notesSlide20.xml" ContentType="application/vnd.openxmlformats-officedocument.presentationml.notesSlide+xml"/>
  <Override PartName="/ppt/notesSlides/source_notesSlide46.xml" ContentType="application/vnd.openxmlformats-officedocument.presentationml.notesSlide+xml"/>
  <Override PartName="/ppt/notesSlides/source_notesSlide47.xml" ContentType="application/vnd.openxmlformats-officedocument.presentationml.notesSlide+xml"/>
  <Override PartName="/ppt/notesSlides/source_notesSlide48.xml" ContentType="application/vnd.openxmlformats-officedocument.presentationml.notesSlide+xml"/>
  <Override PartName="/ppt/notesSlides/source_notesSlide49.xml" ContentType="application/vnd.openxmlformats-officedocument.presentationml.notesSlide+xml"/>
  <Override PartName="/ppt/notesSlides/source_notesSlide50.xml" ContentType="application/vnd.openxmlformats-officedocument.presentationml.notesSlide+xml"/>
  <Override PartName="/ppt/notesSlides/source_notesSlide51.xml" ContentType="application/vnd.openxmlformats-officedocument.presentationml.notesSlide+xml"/>
  <Override PartName="/ppt/notesSlides/source_notesSlide52.xml" ContentType="application/vnd.openxmlformats-officedocument.presentationml.notesSlide+xml"/>
  <Override PartName="/ppt/notesSlides/source_notesSlide53.xml" ContentType="application/vnd.openxmlformats-officedocument.presentationml.notesSlide+xml"/>
  <Override PartName="/ppt/notesSlides/extra_notesSlide21.xml" ContentType="application/vnd.openxmlformats-officedocument.presentationml.notesSlide+xml"/>
  <Override PartName="/docProps/source_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docProps/source_core.xml" Id="R5b3c5ac7032f4f82"/><Relationship Type="http://schemas.openxmlformats.org/officeDocument/2006/relationships/extended-properties" Target="docProps/source_app.xml" Id="Rb1b1fc5132834f1f"/><Relationship Type="http://schemas.openxmlformats.org/officeDocument/2006/relationships/officeDocument" Target="ppt/presentation.xml" Id="Re43eb32cc6894a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12f63f21cf4c05"/>
    <p:sldMasterId xmlns:r="http://schemas.openxmlformats.org/officeDocument/2006/relationships" id="2147483649" r:id="rId12"/>
  </p:sldMasterIdLst>
  <p:notesMasterIdLst>
    <p:notesMasterId xmlns:r="http://schemas.openxmlformats.org/officeDocument/2006/relationships" r:id="R5de2ceb46f584637"/>
    <p:notesMasterId xmlns:r="http://schemas.openxmlformats.org/officeDocument/2006/relationships" r:id="rId13"/>
  </p:notesMasterIdLst>
  <p:sldIdLst>
    <p:sldId xmlns:ns0="http://schemas.openxmlformats.org/officeDocument/2006/relationships" id="256" ns0:id="rId1"/>
    <p:sldId xmlns:ns1="http://schemas.openxmlformats.org/officeDocument/2006/relationships" id="257" ns1:id="rId2"/>
    <p:sldId xmlns:ns2="http://schemas.openxmlformats.org/officeDocument/2006/relationships" id="258" ns2:id="rId3"/>
    <p:sldId xmlns:ns3="http://schemas.openxmlformats.org/officeDocument/2006/relationships" id="259" ns3:id="rId4"/>
    <p:sldId xmlns:ns4="http://schemas.openxmlformats.org/officeDocument/2006/relationships" id="260" ns4:id="rId5"/>
    <p:sldId xmlns:ns5="http://schemas.openxmlformats.org/officeDocument/2006/relationships" id="261" ns5:id="rId6"/>
    <p:sldId xmlns:ns6="http://schemas.openxmlformats.org/officeDocument/2006/relationships" id="262" ns6:id="rId7"/>
    <p:sldId xmlns:ns7="http://schemas.openxmlformats.org/officeDocument/2006/relationships" id="263" ns7:id="rId8"/>
    <p:sldId xmlns:ns8="http://schemas.openxmlformats.org/officeDocument/2006/relationships" id="264" ns8:id="rId9"/>
    <p:sldId xmlns:ns9="http://schemas.openxmlformats.org/officeDocument/2006/relationships" id="265" ns9:id="rId10"/>
    <p:sldId xmlns:ns10="http://schemas.openxmlformats.org/officeDocument/2006/relationships" id="266" ns10:id="rId11"/>
  </p:sldIdLst>
  <p:sldSz cx="15240000" cy="8572500"/>
  <p:notesSz cx="6858000" cy="9144000"/>
</p:presentation>
</file>

<file path=ppt/source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ource_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theme/source_theme1.xml" Id="R45b96b3d753b4a86"/><Relationship Type="http://schemas.openxmlformats.org/officeDocument/2006/relationships/slideMaster" Target="slideMasters/source_slideMaster1.xml" Id="Rf112f63f21cf4c05"/><Relationship Type="http://schemas.openxmlformats.org/officeDocument/2006/relationships/notesMaster" Target="notesMasters/source_notesMaster1.xml" Id="R5de2ceb46f584637"/><Relationship Type="http://schemas.openxmlformats.org/officeDocument/2006/relationships/presProps" Target="source_presProps.xml" Id="Rdaa320f98332448e"/><Relationship Type="http://schemas.openxmlformats.org/officeDocument/2006/relationships/tableStyles" Target="source_tableStyles.xml" Id="R02321799aef248d6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extra_slideMaster1.xml"/><Relationship Id="rId13" Type="http://schemas.openxmlformats.org/officeDocument/2006/relationships/notesMaster" Target="notesMasters/extra_notesMaster1.xml"/></Relationships>
</file>

<file path=ppt/notesMasters/_rels/extra_notesMaster1.xml.rels><?xml version='1.0' encoding='UTF-8' standalone='yes'?>
<Relationships xmlns="http://schemas.openxmlformats.org/package/2006/relationships"><Relationship Type="http://schemas.openxmlformats.org/officeDocument/2006/relationships/theme" Target="theme/extra_theme3.xml" Id="R201cf8d9ed664539"/></Relationships>
</file>

<file path=ppt/notesMasters/_rels/source_notesMaster1.xml.rels><?xml version='1.0' encoding='UTF-8' standalone='yes'?>
<Relationships xmlns="http://schemas.openxmlformats.org/package/2006/relationships"><Relationship Type="http://schemas.openxmlformats.org/officeDocument/2006/relationships/theme" Target="theme/source_theme3.xml" Id="R7f8d146e9f2b48fd"/></Relationships>
</file>

<file path=ppt/notesMasters/extra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ource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extra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ource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extra_notesSlide19.xml.rels><?xml version='1.0' encoding='UTF-8' standalone='yes'?>
<Relationships xmlns="http://schemas.openxmlformats.org/package/2006/relationships"><Relationship Type="http://schemas.openxmlformats.org/officeDocument/2006/relationships/slide" Target="../slides/slide1.xml" Id="R1cf31822aa9a49a0"/><Relationship Type="http://schemas.openxmlformats.org/officeDocument/2006/relationships/notesMaster" Target="../notesMasters/extra_notesMaster1.xml" Id="R07a6cf937df2434e"/></Relationships>
</file>

<file path=ppt/notesSlides/_rels/extra_notesSlide20.xml.rels><?xml version='1.0' encoding='UTF-8' standalone='yes'?>
<Relationships xmlns="http://schemas.openxmlformats.org/package/2006/relationships"><Relationship Type="http://schemas.openxmlformats.org/officeDocument/2006/relationships/slide" Target="../slides/slide2.xml" Id="R01614070e57b4adf"/><Relationship Type="http://schemas.openxmlformats.org/officeDocument/2006/relationships/notesMaster" Target="../notesMasters/extra_notesMaster1.xml" Id="R117998ea830a4e3c"/></Relationships>
</file>

<file path=ppt/notesSlides/_rels/extra_notesSlide21.xml.rels><?xml version='1.0' encoding='UTF-8' standalone='yes'?>
<Relationships xmlns="http://schemas.openxmlformats.org/package/2006/relationships"><Relationship Type="http://schemas.openxmlformats.org/officeDocument/2006/relationships/slide" Target="../slides/slide11.xml" Id="R936db56d432b430b"/><Relationship Type="http://schemas.openxmlformats.org/officeDocument/2006/relationships/notesMaster" Target="../notesMasters/extra_notesMaster1.xml" Id="Rff132e5fbbae4e0c"/></Relationships>
</file>

<file path=ppt/notesSlides/_rels/source_notesSlide46.xml.rels><?xml version='1.0' encoding='UTF-8' standalone='yes'?>
<Relationships xmlns="http://schemas.openxmlformats.org/package/2006/relationships"><Relationship Type="http://schemas.openxmlformats.org/officeDocument/2006/relationships/slide" Target="../slides/slide3.xml" Id="R2f2a1f42021d442b"/><Relationship Type="http://schemas.openxmlformats.org/officeDocument/2006/relationships/notesMaster" Target="../notesMasters/source_notesMaster1.xml" Id="R8bc76211b86546e7"/></Relationships>
</file>

<file path=ppt/notesSlides/_rels/source_notesSlide47.xml.rels><?xml version='1.0' encoding='UTF-8' standalone='yes'?>
<Relationships xmlns="http://schemas.openxmlformats.org/package/2006/relationships"><Relationship Type="http://schemas.openxmlformats.org/officeDocument/2006/relationships/slide" Target="../slides/slide4.xml" Id="Rfb64251c518042e2"/><Relationship Type="http://schemas.openxmlformats.org/officeDocument/2006/relationships/notesMaster" Target="../notesMasters/source_notesMaster1.xml" Id="R0c4b5ea913984d34"/></Relationships>
</file>

<file path=ppt/notesSlides/_rels/source_notesSlide48.xml.rels><?xml version='1.0' encoding='UTF-8' standalone='yes'?>
<Relationships xmlns="http://schemas.openxmlformats.org/package/2006/relationships"><Relationship Type="http://schemas.openxmlformats.org/officeDocument/2006/relationships/slide" Target="../slides/slide5.xml" Id="Rc5900249368e4552"/><Relationship Type="http://schemas.openxmlformats.org/officeDocument/2006/relationships/notesMaster" Target="../notesMasters/source_notesMaster1.xml" Id="R64d66bb76cef4dc5"/></Relationships>
</file>

<file path=ppt/notesSlides/_rels/source_notesSlide49.xml.rels><?xml version='1.0' encoding='UTF-8' standalone='yes'?>
<Relationships xmlns="http://schemas.openxmlformats.org/package/2006/relationships"><Relationship Type="http://schemas.openxmlformats.org/officeDocument/2006/relationships/slide" Target="../slides/slide6.xml" Id="Rf7c86b33801044da"/><Relationship Type="http://schemas.openxmlformats.org/officeDocument/2006/relationships/notesMaster" Target="../notesMasters/source_notesMaster1.xml" Id="R9cf261ee4e6648de"/></Relationships>
</file>

<file path=ppt/notesSlides/_rels/source_notesSlide50.xml.rels><?xml version='1.0' encoding='UTF-8' standalone='yes'?>
<Relationships xmlns="http://schemas.openxmlformats.org/package/2006/relationships"><Relationship Type="http://schemas.openxmlformats.org/officeDocument/2006/relationships/slide" Target="../slides/slide7.xml" Id="Ra10e30f6859b4ac9"/><Relationship Type="http://schemas.openxmlformats.org/officeDocument/2006/relationships/notesMaster" Target="../notesMasters/source_notesMaster1.xml" Id="R8d625020ad6742c3"/></Relationships>
</file>

<file path=ppt/notesSlides/_rels/source_notesSlide51.xml.rels><?xml version='1.0' encoding='UTF-8' standalone='yes'?>
<Relationships xmlns="http://schemas.openxmlformats.org/package/2006/relationships"><Relationship Type="http://schemas.openxmlformats.org/officeDocument/2006/relationships/slide" Target="../slides/slide8.xml" Id="R352d3c372c884160"/><Relationship Type="http://schemas.openxmlformats.org/officeDocument/2006/relationships/notesMaster" Target="../notesMasters/source_notesMaster1.xml" Id="Rd9fa9c394d6e4727"/></Relationships>
</file>

<file path=ppt/notesSlides/_rels/source_notesSlide52.xml.rels><?xml version='1.0' encoding='UTF-8' standalone='yes'?>
<Relationships xmlns="http://schemas.openxmlformats.org/package/2006/relationships"><Relationship Type="http://schemas.openxmlformats.org/officeDocument/2006/relationships/slide" Target="../slides/slide9.xml" Id="Rbdd6c77db2c44e12"/><Relationship Type="http://schemas.openxmlformats.org/officeDocument/2006/relationships/notesMaster" Target="../notesMasters/source_notesMaster1.xml" Id="Reabe61f0e21242aa"/></Relationships>
</file>

<file path=ppt/notesSlides/_rels/source_notesSlide53.xml.rels><?xml version='1.0' encoding='UTF-8' standalone='yes'?>
<Relationships xmlns="http://schemas.openxmlformats.org/package/2006/relationships"><Relationship Type="http://schemas.openxmlformats.org/officeDocument/2006/relationships/slide" Target="../slides/slide10.xml" Id="R3f3ad9f1568442b5"/><Relationship Type="http://schemas.openxmlformats.org/officeDocument/2006/relationships/notesMaster" Target="../notesMasters/source_notesMaster1.xml" Id="R2759d5a6033d4a38"/></Relationships>
</file>

<file path=ppt/notesSlides/extra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"data/07-assethub.json",</a:t>
            </a:r>
          </a:p>
          <a:p xmlns:a="http://schemas.openxmlformats.org/drawingml/2006/main">
            <a:r>
              <a:t>  "scope": "local-workbench / fixture-lab의 모의 초안과 로컬 의미 연결. 운영 승인, AAS 게시, 실제 설비 제어는 제공하지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"Workbench를 활성화한 로컬 Host가 실행 중이어야 합니다.",</a:t>
            </a:r>
          </a:p>
          <a:p xmlns:a="http://schemas.openxmlformats.org/drawingml/2006/main">
            <a:r>
              <a:t>    "실습 예제는 원본 설비와 분리된 모의 초안으로 등록합니다."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"sourceCapturePreserved": true,</a:t>
            </a:r>
          </a:p>
          <a:p xmlns:a="http://schemas.openxmlformats.org/drawingml/2006/main">
            <a:r>
              <a:t>  "edition": "2026-10-25"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"data/07-assethub.json",</a:t>
            </a:r>
          </a:p>
          <a:p xmlns:a="http://schemas.openxmlformats.org/drawingml/2006/main">
            <a:r>
              <a:t>  "scope": "local-workbench / fixture-lab의 모의 초안과 로컬 의미 연결. 운영 승인, AAS 게시, 실제 설비 제어는 제공하지 않습니다.",</a:t>
            </a:r>
          </a:p>
          <a:p xmlns:a="http://schemas.openxmlformats.org/drawingml/2006/main">
            <a:r>
              <a:t>  "prerequisites": [</a:t>
            </a:r>
          </a:p>
          <a:p xmlns:a="http://schemas.openxmlformats.org/drawingml/2006/main">
            <a:r>
              <a:t>    "Workbench를 활성화한 로컬 Host가 실행 중이어야 합니다.",</a:t>
            </a:r>
          </a:p>
          <a:p xmlns:a="http://schemas.openxmlformats.org/drawingml/2006/main">
            <a:r>
              <a:t>    "실습 예제는 원본 설비와 분리된 모의 초안으로 등록합니다."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"url": "http://127.0.0.1:5189/workbench"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extra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"source": "data/07-assethub.json",</a:t>
            </a:r>
          </a:p>
          <a:p xmlns:a="http://schemas.openxmlformats.org/drawingml/2006/main">
            <a:r>
              <a:t>  "scope": "local-workbench / fixture-lab의 모의 초안과 로컬 의미 연결. 운영 승인, AAS 게시, 실제 설비 제어는 제공하지 않습니다.",</a:t>
            </a:r>
          </a:p>
          <a:p xmlns:a="http://schemas.openxmlformats.org/drawingml/2006/main">
            <a:r>
              <a:t>  "sources": [</a:t>
            </a:r>
          </a:p>
          <a:p xmlns:a="http://schemas.openxmlformats.org/drawingml/2006/main">
            <a:r>
              <a:t>    "Industrial.AssetHub/README.md",</a:t>
            </a:r>
          </a:p>
          <a:p xmlns:a="http://schemas.openxmlformats.org/drawingml/2006/main">
            <a:r>
              <a:t>    "Industrial.AssetHub/src/AssetHub.Host/Pages/Workbench/Index.cshtml",</a:t>
            </a:r>
          </a:p>
          <a:p xmlns:a="http://schemas.openxmlformats.org/drawingml/2006/main">
            <a:r>
              <a:t>    "Industrial.AssetHub/src/AssetHub.Host/Pages/Workbench/_Ontology.cshtml",</a:t>
            </a:r>
          </a:p>
          <a:p xmlns:a="http://schemas.openxmlformats.org/drawingml/2006/main">
            <a:r>
              <a:t>    "Industrial.AssetHub/src/AssetHub.Host/Workbench/SuiteMonitor.cs"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"iconLicense": "assets/design/LICENSE-Lucide.txt",</a:t>
            </a:r>
          </a:p>
          <a:p xmlns:a="http://schemas.openxmlformats.org/drawingml/2006/main">
            <a:r>
              <a:t>  "onlineGuide": "https://dubukimch.github.io/manual-assethub.html",</a:t>
            </a:r>
          </a:p>
          <a:p xmlns:a="http://schemas.openxmlformats.org/drawingml/2006/main">
            <a:r>
              <a:t>  "onlineStatus": "Publication is verified separately"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"assethub-overview",</a:t>
            </a:r>
          </a:p>
          <a:p xmlns:a="http://schemas.openxmlformats.org/drawingml/2006/main">
            <a:r>
              <a:t>  "title": "온톨로지 스튜디오 확인",</a:t>
            </a:r>
          </a:p>
          <a:p xmlns:a="http://schemas.openxmlformats.org/drawingml/2006/main">
            <a:r>
              <a:t>  "goal": "초안, 의미 연결, 개념 사전의 위치를 파악합니다.",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스튜디오를 엽니다.",</a:t>
            </a:r>
          </a:p>
          <a:p xmlns:a="http://schemas.openxmlformats.org/drawingml/2006/main">
            <a:r>
              <a:t>    "연결할 자산 목록과 의미 연결 작업공간을 확인합니다.",</a:t>
            </a:r>
          </a:p>
          <a:p xmlns:a="http://schemas.openxmlformats.org/drawingml/2006/main">
            <a:r>
              <a:t>    "공통 개념 사전과 로컬 검토 환경 안내를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"초안 수와 연결 진행률이 표시됩니다. 기존 예제가 있으면 첫 자산을 선택합니다.",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"404이면 Workbench 활성화 프로필과 로컬 주소를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"assets/screenshots/assethub-overview.jpg",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"2026-10-23T17:15:02.511Z",</a:t>
            </a:r>
          </a:p>
          <a:p xmlns:a="http://schemas.openxmlformats.org/drawingml/2006/main">
            <a:r>
              <a:t>    "url": "http://127.0.0.1:5189/workbench",</a:t>
            </a:r>
          </a:p>
          <a:p xmlns:a="http://schemas.openxmlformats.org/drawingml/2006/main">
            <a:r>
              <a:t>    "observed": "로컬 모의 자산 환경 및 운영 인증·게시·제어 미연결 배너 확인.",</a:t>
            </a:r>
          </a:p>
          <a:p xmlns:a="http://schemas.openxmlformats.org/drawingml/2006/main">
            <a:r>
              <a:t>    "sha256": "bb87ab2d2fe1eb14de0e687ac72b08dbf3cdbb4cd7b8407448602288ddc9cd90"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"assethub-create",</a:t>
            </a:r>
          </a:p>
          <a:p xmlns:a="http://schemas.openxmlformats.org/drawingml/2006/main">
            <a:r>
              <a:t>  "title": "모의 자산 초안 입력",</a:t>
            </a:r>
          </a:p>
          <a:p xmlns:a="http://schemas.openxmlformats.org/drawingml/2006/main">
            <a:r>
              <a:t>  "goal": "새 자산의 소스 정보를 선언합니다.",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"새 자산 초안을 누릅니다.",</a:t>
            </a:r>
          </a:p>
          <a:p xmlns:a="http://schemas.openxmlformats.org/drawingml/2006/main">
            <a:r>
              <a:t>    "자산명은 매뉴얼 예제 온도, 소스 소유자는 Gateway로 입력합니다.",</a:t>
            </a:r>
          </a:p>
          <a:p xmlns:a="http://schemas.openxmlformats.org/drawingml/2006/main">
            <a:r>
              <a:t>    "원본 모드 Simulation, 소스 인스턴스 manual-local, 원본 소스 키 DataAccess.Manual.Temp_PV를 입력합니다.",</a:t>
            </a:r>
          </a:p>
          <a:p xmlns:a="http://schemas.openxmlformats.org/drawingml/2006/main">
            <a:r>
              <a:t>    "유효 시작 UTC와 모의 예제라는 메모를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"입력 창에 자산명, 소유자, 소스 범위가 표시됩니다. 입력만으로 원본 연결이 생성되지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"등록을 취소하려면 취소나 닫기를 누릅니다.",</a:t>
            </a:r>
          </a:p>
          <a:p xmlns:a="http://schemas.openxmlformats.org/drawingml/2006/main">
            <a:r>
              <a:t>    "시간은 UTC로 입력하고 종료는 시작보다 뒤로 지정합니다."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"assets/screenshots/assethub-create.jpg",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"2026-10-23T17:15:12.004Z",</a:t>
            </a:r>
          </a:p>
          <a:p xmlns:a="http://schemas.openxmlformats.org/drawingml/2006/main">
            <a:r>
              <a:t>    "url": "http://127.0.0.1:5189/workbench",</a:t>
            </a:r>
          </a:p>
          <a:p xmlns:a="http://schemas.openxmlformats.org/drawingml/2006/main">
            <a:r>
              <a:t>    "observed": "교육용 로컬 자산 필수 필드를 입력한 생성 화면.",</a:t>
            </a:r>
          </a:p>
          <a:p xmlns:a="http://schemas.openxmlformats.org/drawingml/2006/main">
            <a:r>
              <a:t>    "sha256": "c84966501d2379e1f2f01b39942e1a5d7c1a5f6d4292e76426af39510278d8d1"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"assethub-asset",</a:t>
            </a:r>
          </a:p>
          <a:p xmlns:a="http://schemas.openxmlformats.org/drawingml/2006/main">
            <a:r>
              <a:t>  "title": "초안 저장과 식별자 확인",</a:t>
            </a:r>
          </a:p>
          <a:p xmlns:a="http://schemas.openxmlformats.org/drawingml/2006/main">
            <a:r>
              <a:t>  "goal": "초안을 저장하고 발급된 ID를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"입력값을 확인한 뒤 초안 만들기를 누릅니다.",</a:t>
            </a:r>
          </a:p>
          <a:p xmlns:a="http://schemas.openxmlformats.org/drawingml/2006/main">
            <a:r>
              <a:t>    "자산 작업공간의 새 행과 선택한 자산 상세를 확인합니다.",</a:t>
            </a:r>
          </a:p>
          <a:p xmlns:a="http://schemas.openxmlformats.org/drawingml/2006/main">
            <a:r>
              <a:t>    "Global Asset ID와 편집 버전을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"초안과 식별자를 로컬 파일에 저장합니다. 승인 및 게시 revision은 미제공으로 남습니다.",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"오래된 편집의 412 응답은 최신 초안을 다시 읽고 변경 내용을 비교합니다.",</a:t>
            </a:r>
          </a:p>
          <a:p xmlns:a="http://schemas.openxmlformats.org/drawingml/2006/main">
            <a:r>
              <a:t>    "같은 저장 경로를 여러 Host가 동시에 열지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"assets/screenshots/assethub-asset.jpg",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"2026-10-23T17:15:12.288Z",</a:t>
            </a:r>
          </a:p>
          <a:p xmlns:a="http://schemas.openxmlformats.org/drawingml/2006/main">
            <a:r>
              <a:t>    "url": "http://127.0.0.1:5189/workbench?SelectedId=10919d37-66a3-4d58-8395-f568f13c7aa5&amp;View=assets&amp;Filter=all&amp;notice=saved",</a:t>
            </a:r>
          </a:p>
          <a:p xmlns:a="http://schemas.openxmlformats.org/drawingml/2006/main">
            <a:r>
              <a:t>    "observed": "매뉴얼 예제 온도 초안 생성 성공, 원본 소스와 저장된 자산 확인.",</a:t>
            </a:r>
          </a:p>
          <a:p xmlns:a="http://schemas.openxmlformats.org/drawingml/2006/main">
            <a:r>
              <a:t>    "sha256": "8b99938b7508b00f876431b988645129a7858c02700f9a50541f4f118b42f918"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"assethub-matching",</a:t>
            </a:r>
          </a:p>
          <a:p xmlns:a="http://schemas.openxmlformats.org/drawingml/2006/main">
            <a:r>
              <a:t>  "title": "개념 후보 선택",</a:t>
            </a:r>
          </a:p>
          <a:p xmlns:a="http://schemas.openxmlformats.org/drawingml/2006/main">
            <a:r>
              <a:t>  "goal": "이름과 소스 키의 문자열 근거를 검토합니다.",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스튜디오에서 매뉴얼 예제 온도를 선택합니다.",</a:t>
            </a:r>
          </a:p>
          <a:p xmlns:a="http://schemas.openxmlformats.org/drawingml/2006/main">
            <a:r>
              <a:t>    "자동 매칭 후보의 온도와 일치 근거를 읽습니다.",</a:t>
            </a:r>
          </a:p>
          <a:p xmlns:a="http://schemas.openxmlformats.org/drawingml/2006/main">
            <a:r>
              <a:t>    "선택을 눌러 개념을 채우고 원 단위와 계측 위치를 직접 입력합니다."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"선택한 개념이 의미 연결 폼에 반영됩니다. 점수는 문자열 순위이며 승인 확률이 아닙니다.",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"후보가 없으면 개념 사전에서 직접 고릅니다.",</a:t>
            </a:r>
          </a:p>
          <a:p xmlns:a="http://schemas.openxmlformats.org/drawingml/2006/main">
            <a:r>
              <a:t>    "이름 일치만으로 서로 다른 계측 지점을 같은 자산으로 병합하지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"assets/screenshots/assethub-matching.jpg",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"2026-10-23T17:15:29.887Z",</a:t>
            </a:r>
          </a:p>
          <a:p xmlns:a="http://schemas.openxmlformats.org/drawingml/2006/main">
            <a:r>
              <a:t>    "url": "http://127.0.0.1:5189/workbench?View=ontology",</a:t>
            </a:r>
          </a:p>
          <a:p xmlns:a="http://schemas.openxmlformats.org/drawingml/2006/main">
            <a:r>
              <a:t>    "observed": "온도 후보의 문자열 근거 확인 후 선택, 원 단위°C 및 교육용 위치 입력.",</a:t>
            </a:r>
          </a:p>
          <a:p xmlns:a="http://schemas.openxmlformats.org/drawingml/2006/main">
            <a:r>
              <a:t>    "sha256": "044bd05dd31353fceb69a0e4b7478ae659fc1c767ed592818a853245f63de899"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"assethub-semantic",</a:t>
            </a:r>
          </a:p>
          <a:p xmlns:a="http://schemas.openxmlformats.org/drawingml/2006/main">
            <a:r>
              <a:t>  "title": "의미 연결 저장",</a:t>
            </a:r>
          </a:p>
          <a:p xmlns:a="http://schemas.openxmlformats.org/drawingml/2006/main">
            <a:r>
              <a:t>  "goal": "계측 지점의 개념, 단위와 위치를 저장합니다.",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"클래스는 계측 지점, 의미 개념은 온도로 둡니다.",</a:t>
            </a:r>
          </a:p>
          <a:p xmlns:a="http://schemas.openxmlformats.org/drawingml/2006/main">
            <a:r>
              <a:t>    "원 단위 °C, 계측 위치는 실습 모의 계측 지점으로 입력합니다.",</a:t>
            </a:r>
          </a:p>
          <a:p xmlns:a="http://schemas.openxmlformats.org/drawingml/2006/main">
            <a:r>
              <a:t>    "의미 연결 저장을 누르고 저장된 observes 관계를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"의미 연결과 편집 버전을 저장하며 기존 로컬 검토를 무효화합니다.",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"라인과 설비에는 계측 필드를 비웁니다.",</a:t>
            </a:r>
          </a:p>
          <a:p xmlns:a="http://schemas.openxmlformats.org/drawingml/2006/main">
            <a:r>
              <a:t>    "지원하지 않는 단위나 순환 partOf 관계는 서버가 거부합니다."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"assets/screenshots/assethub-semantic.jpg",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"2026-10-23T17:15:43.839Z",</a:t>
            </a:r>
          </a:p>
          <a:p xmlns:a="http://schemas.openxmlformats.org/drawingml/2006/main">
            <a:r>
              <a:t>    "url": "http://127.0.0.1:5189/workbench?View=ontology&amp;SelectedId=10919d37-66a3-4d58-8395-f568f13c7aa5&amp;Ask=%EB%A7%A4%EB%89%B4%EC%96%BC+%EC%98%A8%EB%8F%84",</a:t>
            </a:r>
          </a:p>
          <a:p xmlns:a="http://schemas.openxmlformats.org/drawingml/2006/main">
            <a:r>
              <a:t>    "observed": "저장된 관계에서 매뉴얼 예제 온도→온도°C, 위치와 소스 연결 확인.",</a:t>
            </a:r>
          </a:p>
          <a:p xmlns:a="http://schemas.openxmlformats.org/drawingml/2006/main">
            <a:r>
              <a:t>    "sha256": "7c8f4fa8599b9ee632064c7a8ab18c0c1334d8facc910095cb2ccae292d9a4fc"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"assethub-assist",</a:t>
            </a:r>
          </a:p>
          <a:p xmlns:a="http://schemas.openxmlformats.org/drawingml/2006/main">
            <a:r>
              <a:t>  "title": "의미 연결 근거 조회",</a:t>
            </a:r>
          </a:p>
          <a:p xmlns:a="http://schemas.openxmlformats.org/drawingml/2006/main">
            <a:r>
              <a:t>  "goal": "키워드로 자산과 원본 소스 선언을 찾습니다.",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"온톨로지 어시스트에 매뉴얼 온도를 입력합니다.",</a:t>
            </a:r>
          </a:p>
          <a:p xmlns:a="http://schemas.openxmlformats.org/drawingml/2006/main">
            <a:r>
              <a:t>    "근거 조회를 누릅니다.",</a:t>
            </a:r>
          </a:p>
          <a:p xmlns:a="http://schemas.openxmlformats.org/drawingml/2006/main">
            <a:r>
              <a:t>    "자산, 개념, 위치, 소스 tuple과 편집 버전을 함께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"로컬 초안 snapshot의 근거를 표시합니다. 실제 값, 품질과 원본 시각은 미제공입니다.",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"검색 결과가 없으면 키워드를 줄이고 먼저 의미 연결을 저장합니다.",</a:t>
            </a:r>
          </a:p>
          <a:p xmlns:a="http://schemas.openxmlformats.org/drawingml/2006/main">
            <a:r>
              <a:t>    "이 어시스트는 규칙 기반 검색이며 외부 AI를 호출하지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"assets/screenshots/assethub-assist.jpg",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"2026-10-23T17:16:26.424Z",</a:t>
            </a:r>
          </a:p>
          <a:p xmlns:a="http://schemas.openxmlformats.org/drawingml/2006/main">
            <a:r>
              <a:t>    "url": "http://127.0.0.1:5189/workbench?View=ontology&amp;SelectedId=10919d37-66a3-4d58-8395-f568f13c7aa5&amp;Ask=%EB%A7%A4%EB%89%B4%EC%96%BC+%EC%98%A8%EB%8F%84",</a:t>
            </a:r>
          </a:p>
          <a:p xmlns:a="http://schemas.openxmlformats.org/drawingml/2006/main">
            <a:r>
              <a:t>    "observed": "매뉴얼 온도 검색1건: source owner/key/instance/version/validity 확인, 실제 값·품질·원본 시각 미제공 표시.",</a:t>
            </a:r>
          </a:p>
          <a:p xmlns:a="http://schemas.openxmlformats.org/drawingml/2006/main">
            <a:r>
              <a:t>    "sha256": "becaf0d81b00b2c00b9d5ced7ff68f56e40247b3e05db064a702dab6a59e66cb"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"assethub-monitor",</a:t>
            </a:r>
          </a:p>
          <a:p xmlns:a="http://schemas.openxmlformats.org/drawingml/2006/main">
            <a:r>
              <a:t>  "title": "Host 상태와 준비 상태 확인",</a:t>
            </a:r>
          </a:p>
          <a:p xmlns:a="http://schemas.openxmlformats.org/drawingml/2006/main">
            <a:r>
              <a:t>  "goal": "실행 중인 Host와 운영 준비 상태를 구분합니다.",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"시스템 모니터링을 엽니다.",</a:t>
            </a:r>
          </a:p>
          <a:p xmlns:a="http://schemas.openxmlformats.org/drawingml/2006/main">
            <a:r>
              <a:t>    "상태 새로고침을 누릅니다.",</a:t>
            </a:r>
          </a:p>
          <a:p xmlns:a="http://schemas.openxmlformats.org/drawingml/2006/main">
            <a:r>
              <a:t>    "메모리, 가동 시간과 관측 시각을 확인하고 준비 상태 체크리스트를 읽습니다."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"Host 실행과 서비스 미준비를 별도로 표시합니다. 현재 운영 원장, 인증과 표준 runtime은 준비 중입니다.",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"상태 요청 실패 시 최근 성공값을 현재 관측으로 해석하지 않습니다."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"assets/screenshots/assethub-monitor.jpg",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"2026-10-23T17:15:44.385Z",</a:t>
            </a:r>
          </a:p>
          <a:p xmlns:a="http://schemas.openxmlformats.org/drawingml/2006/main">
            <a:r>
              <a:t>    "url": "http://127.0.0.1:5189/workbench?View=monitor",</a:t>
            </a:r>
          </a:p>
          <a:p xmlns:a="http://schemas.openxmlformats.org/drawingml/2006/main">
            <a:r>
              <a:t>    "observed": "시스템 모니터링의 Gateway/OEE/AAS 상태와 미연결 정보 확인.",</a:t>
            </a:r>
          </a:p>
          <a:p xmlns:a="http://schemas.openxmlformats.org/drawingml/2006/main">
            <a:r>
              <a:t>    "sha256": "77df0ec312a0fccc7fd1cff3e5cd0440c836896341e8518fd0479e8528bf7189"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ource_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원본: data/07-assethub.json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시작 주소: http://127.0.0.1:5189/workbench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"operationId": "assethub-suite",</a:t>
            </a:r>
          </a:p>
          <a:p xmlns:a="http://schemas.openxmlformats.org/drawingml/2006/main">
            <a:r>
              <a:t>  "title": "일곱 솔루션 연결 상태 확인",</a:t>
            </a:r>
          </a:p>
          <a:p xmlns:a="http://schemas.openxmlformats.org/drawingml/2006/main">
            <a:r>
              <a:t>  "goal": "로컬 솔루션으로 이동하고 HTTP 응답을 확인합니다.",</a:t>
            </a:r>
          </a:p>
          <a:p xmlns:a="http://schemas.openxmlformats.org/drawingml/2006/main">
            <a:r>
              <a:t>  "steps": [</a:t>
            </a:r>
          </a:p>
          <a:p xmlns:a="http://schemas.openxmlformats.org/drawingml/2006/main">
            <a:r>
              <a:t>    "솔루션 연결을 엽니다.",</a:t>
            </a:r>
          </a:p>
          <a:p xmlns:a="http://schemas.openxmlformats.org/drawingml/2006/main">
            <a:r>
              <a:t>    "연결 상태 확인을 누릅니다.",</a:t>
            </a:r>
          </a:p>
          <a:p xmlns:a="http://schemas.openxmlformats.org/drawingml/2006/main">
            <a:r>
              <a:t>    "HTTP 응답 코드, 지연과 UTC 관측 시각을 읽고 작업공간 열기로 이동합니다."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"expected": "고정된 loopback 경로를 최대 2초씩 조회합니다. HTTP 응답만으로 데이터 전송이나 운영 승인을 입증하지 않습니다.",</a:t>
            </a:r>
          </a:p>
          <a:p xmlns:a="http://schemas.openxmlformats.org/drawingml/2006/main">
            <a:r>
              <a:t>  "troubleshooting": [</a:t>
            </a:r>
          </a:p>
          <a:p xmlns:a="http://schemas.openxmlformats.org/drawingml/2006/main">
            <a:r>
              <a:t>    "Gateway와 OEE API가 중지된 현재 환경에서는 응답 없음이 정상 진단입니다.",</a:t>
            </a:r>
          </a:p>
          <a:p xmlns:a="http://schemas.openxmlformats.org/drawingml/2006/main">
            <a:r>
              <a:t>    "각 UI가 열리는지와 해당 backend의 수집 상태를 별도로 확인합니다."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"verified": true,</a:t>
            </a:r>
          </a:p>
          <a:p xmlns:a="http://schemas.openxmlformats.org/drawingml/2006/main">
            <a:r>
              <a:t>  "available": true,</a:t>
            </a:r>
          </a:p>
          <a:p xmlns:a="http://schemas.openxmlformats.org/drawingml/2006/main">
            <a:r>
              <a:t>  "screenshot": "assets/screenshots/assethub-suite.jpg",</a:t>
            </a:r>
          </a:p>
          <a:p xmlns:a="http://schemas.openxmlformats.org/drawingml/2006/main">
            <a:r>
              <a:t>  "evidence": {</a:t>
            </a:r>
          </a:p>
          <a:p xmlns:a="http://schemas.openxmlformats.org/drawingml/2006/main">
            <a:r>
              <a:t>    "capturedAtUtc": "2026-10-23T17:16:03.983Z",</a:t>
            </a:r>
          </a:p>
          <a:p xmlns:a="http://schemas.openxmlformats.org/drawingml/2006/main">
            <a:r>
              <a:t>    "url": "http://127.0.0.1:5189/workbench/suite",</a:t>
            </a:r>
          </a:p>
          <a:p xmlns:a="http://schemas.openxmlformats.org/drawingml/2006/main">
            <a:r>
              <a:t>    "observed": "연결 상태 확인 완료:7개 중5개 HTTP응답, Gateway/OEE백엔드 응답없음.",</a:t>
            </a:r>
          </a:p>
          <a:p xmlns:a="http://schemas.openxmlformats.org/drawingml/2006/main">
            <a:r>
              <a:t>    "sha256": "e284de7207d3026cf6f87366c781f52884163bf70830c5a64cc4b9a608616dd6"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아이콘: Lucide. 원본 및 라이선스 assets/design/icon-provenance.json, LICENSE-Lucide.txt.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Industrial.AssetHub/src/AssetHub.Host/Pages/Workbench/Index.cshtml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Industrial.AssetHub/src/AssetHub.Host/Pages/Workbench/_Ontology.cshtml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Industrial.AssetHub/src/AssetHub.Host/Workbench/SuiteMonitor.cs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extra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8597da05fcbe40d5"/></Relationships>
</file>

<file path=ppt/slideLayouts/_rels/extra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622615551f7d4ad3"/></Relationships>
</file>

<file path=ppt/slideLayouts/_rels/extra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36f5bdc1e8354599"/></Relationships>
</file>

<file path=ppt/slideLayouts/_rels/extra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9eb685b6598e488d"/></Relationships>
</file>

<file path=ppt/slideLayouts/_rels/extra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7b0b1f3d91ad4faf"/></Relationships>
</file>

<file path=ppt/slideLayouts/_rels/extra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extra_slideMaster1.xml" Id="Rf0236b72adda4e4d"/></Relationships>
</file>

<file path=ppt/slideLayouts/_rels/source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dd81561033664dc2"/></Relationships>
</file>

<file path=ppt/slideLayouts/_rels/source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8b28ce4dfbcb42be"/></Relationships>
</file>

<file path=ppt/slideLayouts/_rels/source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1e39505d70294388"/></Relationships>
</file>

<file path=ppt/slideLayouts/_rels/source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914b5cb7d9b84efe"/></Relationships>
</file>

<file path=ppt/slideLayouts/_rels/source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029b820b72fa4fe8"/></Relationships>
</file>

<file path=ppt/slideLayouts/_rels/source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ource_slideMaster1.xml" Id="R548e995d96bb48da"/></Relationships>
</file>

<file path=ppt/slideLayouts/extra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54B2C-EB82-499B-8F64-A7DAE4527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E322B7-1C60-4520-8AD1-928E137B61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09A28C-B864-42CD-93D5-6A8E4549E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9A049A-06BD-454D-A05D-0B350ED74D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0D38F-A088-456B-9E89-45D1BC3A4F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00C237-0F70-4BA4-A4D1-3CDBB429D1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744292-5663-4A84-93DC-E08B638EA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F99EF9-7589-4986-B1C0-F1F6AB2A4B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20F75-4F4C-4C1D-BFB8-D20A5D776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77069-356E-49D5-BB4B-E93CF6DCC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extra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ource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18D0-0BE1-4D3B-9495-6D2A8C6FF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D51148-77CC-4350-8C36-23DCDFB4B1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DA3227-AD06-4DAE-BD1E-F5857D90D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7458B2-C825-462D-9520-1C5109FF06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1FA52-AADA-4A86-8347-4E921105B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903506-F4C1-4043-B81B-3A28BCC4F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6C72FD-7001-4E24-8CD2-D409767C36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BFF9CB-F1DA-4659-9ECB-EDBC8D1A9F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EF09AA-EF2A-4479-ACC4-2B1E435D4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36849E-F7FD-460C-9A28-AB2811873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ource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extra_slideMaster1.xml.rels><?xml version='1.0' encoding='UTF-8' standalone='yes'?>
<Relationships xmlns="http://schemas.openxmlformats.org/package/2006/relationships"><Relationship Type="http://schemas.openxmlformats.org/officeDocument/2006/relationships/theme" Target="theme/extra_theme2.xml" Id="R9603d00798a746d0"/><Relationship Type="http://schemas.openxmlformats.org/officeDocument/2006/relationships/slideLayout" Target="../slideLayouts/extra_slideLayout1.xml" Id="R47a2295409694b9b"/><Relationship Type="http://schemas.openxmlformats.org/officeDocument/2006/relationships/slideLayout" Target="../slideLayouts/extra_slideLayout2.xml" Id="R87b2ee8d1b984a2a"/><Relationship Type="http://schemas.openxmlformats.org/officeDocument/2006/relationships/slideLayout" Target="../slideLayouts/extra_slideLayout3.xml" Id="Rcf0530b1b8ac4de5"/><Relationship Type="http://schemas.openxmlformats.org/officeDocument/2006/relationships/slideLayout" Target="../slideLayouts/extra_slideLayout4.xml" Id="R8bbb8f591e9d4ba9"/><Relationship Type="http://schemas.openxmlformats.org/officeDocument/2006/relationships/slideLayout" Target="../slideLayouts/extra_slideLayout5.xml" Id="R04d33da6d57f497b"/><Relationship Type="http://schemas.openxmlformats.org/officeDocument/2006/relationships/slideLayout" Target="../slideLayouts/extra_slideLayout6.xml" Id="R6abfb3307f004385"/></Relationships>
</file>

<file path=ppt/slideMasters/_rels/source_slideMaster1.xml.rels><?xml version='1.0' encoding='UTF-8' standalone='yes'?>
<Relationships xmlns="http://schemas.openxmlformats.org/package/2006/relationships"><Relationship Type="http://schemas.openxmlformats.org/officeDocument/2006/relationships/theme" Target="theme/source_theme2.xml" Id="R367bcf752a9749ae"/><Relationship Type="http://schemas.openxmlformats.org/officeDocument/2006/relationships/slideLayout" Target="../slideLayouts/source_slideLayout1.xml" Id="R11b88d14dc1d4219"/><Relationship Type="http://schemas.openxmlformats.org/officeDocument/2006/relationships/slideLayout" Target="../slideLayouts/source_slideLayout2.xml" Id="R87ec6871956e40df"/><Relationship Type="http://schemas.openxmlformats.org/officeDocument/2006/relationships/slideLayout" Target="../slideLayouts/source_slideLayout3.xml" Id="R5f96253e5dea4309"/><Relationship Type="http://schemas.openxmlformats.org/officeDocument/2006/relationships/slideLayout" Target="../slideLayouts/source_slideLayout4.xml" Id="Rab77f0812a874d9d"/><Relationship Type="http://schemas.openxmlformats.org/officeDocument/2006/relationships/slideLayout" Target="../slideLayouts/source_slideLayout5.xml" Id="R75ffc517a4f0405b"/><Relationship Type="http://schemas.openxmlformats.org/officeDocument/2006/relationships/slideLayout" Target="../slideLayouts/source_slideLayout6.xml" Id="Rcbb869a82fa04458"/></Relationships>
</file>

<file path=ppt/slideMasters/extra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2295409694b9b"/>
    <p:sldLayoutId xmlns:r="http://schemas.openxmlformats.org/officeDocument/2006/relationships" id="2147483650" r:id="R87b2ee8d1b984a2a"/>
    <p:sldLayoutId xmlns:r="http://schemas.openxmlformats.org/officeDocument/2006/relationships" id="2147483651" r:id="Rcf0530b1b8ac4de5"/>
    <p:sldLayoutId xmlns:r="http://schemas.openxmlformats.org/officeDocument/2006/relationships" id="2147483652" r:id="R8bbb8f591e9d4ba9"/>
    <p:sldLayoutId xmlns:r="http://schemas.openxmlformats.org/officeDocument/2006/relationships" id="2147483653" r:id="R04d33da6d57f497b"/>
    <p:sldLayoutId xmlns:r="http://schemas.openxmlformats.org/officeDocument/2006/relationships" id="2147483654" r:id="R6abfb3307f00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ource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b88d14dc1d4219"/>
    <p:sldLayoutId xmlns:r="http://schemas.openxmlformats.org/officeDocument/2006/relationships" id="2147483650" r:id="R87ec6871956e40df"/>
    <p:sldLayoutId xmlns:r="http://schemas.openxmlformats.org/officeDocument/2006/relationships" id="2147483651" r:id="R5f96253e5dea4309"/>
    <p:sldLayoutId xmlns:r="http://schemas.openxmlformats.org/officeDocument/2006/relationships" id="2147483652" r:id="Rab77f0812a874d9d"/>
    <p:sldLayoutId xmlns:r="http://schemas.openxmlformats.org/officeDocument/2006/relationships" id="2147483653" r:id="R75ffc517a4f0405b"/>
    <p:sldLayoutId xmlns:r="http://schemas.openxmlformats.org/officeDocument/2006/relationships" id="2147483654" r:id="Rcbb869a82fa0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extra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ource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3d752fa2227b4708"/><Relationship Type="http://schemas.openxmlformats.org/officeDocument/2006/relationships/image" Target="../media/extra_image25.png" Id="R18276fcd94a146f4"/><Relationship Type="http://schemas.openxmlformats.org/officeDocument/2006/relationships/image" Target="../media/extra_image7.jpeg" Id="R1ee70341c85644e2"/><Relationship Type="http://schemas.openxmlformats.org/officeDocument/2006/relationships/hyperlink" Target="http://127.0.0.1:5189/workbench" TargetMode="External" Id="Reeed2d64be6444c4"/><Relationship Type="http://schemas.openxmlformats.org/officeDocument/2006/relationships/notesSlide" Target="../notesSlides/extra_notesSlide19.xml" Id="R394e9b36a4f04976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b7c07df420fb4419"/><Relationship Type="http://schemas.openxmlformats.org/officeDocument/2006/relationships/notesSlide" Target="../notesSlides/extra_notesSlide20.xml" Id="R50127c97fdec4492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52a98174c0c84dce"/><Relationship Type="http://schemas.openxmlformats.org/officeDocument/2006/relationships/image" Target="../media/source_image272.png" Id="R970acbe095574568"/><Relationship Type="http://schemas.openxmlformats.org/officeDocument/2006/relationships/image" Target="../media/source_image273.png" Id="R26477d8bbe0f4dda"/><Relationship Type="http://schemas.openxmlformats.org/officeDocument/2006/relationships/image" Target="../media/source_image274.png" Id="Rca0b54bf41124983"/><Relationship Type="http://schemas.openxmlformats.org/officeDocument/2006/relationships/image" Target="../media/source_image44.jpeg" Id="R3074f9cf638d4337"/><Relationship Type="http://schemas.openxmlformats.org/officeDocument/2006/relationships/image" Target="../media/source_image275.png" Id="R209a81652cd94ce5"/><Relationship Type="http://schemas.openxmlformats.org/officeDocument/2006/relationships/image" Target="../media/source_image276.png" Id="Rd4ab2110f0334be2"/><Relationship Type="http://schemas.openxmlformats.org/officeDocument/2006/relationships/notesSlide" Target="../notesSlides/source_notesSlide46.xml" Id="Ra4dca2d52846471e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f6ade8b6232e4da4"/><Relationship Type="http://schemas.openxmlformats.org/officeDocument/2006/relationships/image" Target="../media/source_image277.png" Id="Rc6613585a3e74498"/><Relationship Type="http://schemas.openxmlformats.org/officeDocument/2006/relationships/image" Target="../media/source_image278.png" Id="Rcab564f7e0f24f6c"/><Relationship Type="http://schemas.openxmlformats.org/officeDocument/2006/relationships/image" Target="../media/source_image279.png" Id="Ra9f67f5003d3471e"/><Relationship Type="http://schemas.openxmlformats.org/officeDocument/2006/relationships/image" Target="../media/source_image280.png" Id="Raa81c276a3f54d1d"/><Relationship Type="http://schemas.openxmlformats.org/officeDocument/2006/relationships/image" Target="../media/source_image45.jpeg" Id="Ree74d68096054bf4"/><Relationship Type="http://schemas.openxmlformats.org/officeDocument/2006/relationships/image" Target="../media/source_image46.jpeg" Id="R9c094ddbb04d48d0"/><Relationship Type="http://schemas.openxmlformats.org/officeDocument/2006/relationships/image" Target="../media/source_image281.png" Id="R50281dc3f54f419c"/><Relationship Type="http://schemas.openxmlformats.org/officeDocument/2006/relationships/image" Target="../media/source_image282.png" Id="R90e118b6cd4f468e"/><Relationship Type="http://schemas.openxmlformats.org/officeDocument/2006/relationships/notesSlide" Target="../notesSlides/source_notesSlide47.xml" Id="R607f393ac7344720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6f81a3a8b5d549b0"/><Relationship Type="http://schemas.openxmlformats.org/officeDocument/2006/relationships/image" Target="../media/source_image283.png" Id="R7bbc1a47db424a9b"/><Relationship Type="http://schemas.openxmlformats.org/officeDocument/2006/relationships/image" Target="../media/source_image284.png" Id="R11c2fa954ad0457e"/><Relationship Type="http://schemas.openxmlformats.org/officeDocument/2006/relationships/image" Target="../media/source_image285.png" Id="Ra50b021db4774559"/><Relationship Type="http://schemas.openxmlformats.org/officeDocument/2006/relationships/image" Target="../media/source_image47.jpeg" Id="R004dd431139f48be"/><Relationship Type="http://schemas.openxmlformats.org/officeDocument/2006/relationships/image" Target="../media/source_image286.png" Id="R8a4589e3b2a54a9e"/><Relationship Type="http://schemas.openxmlformats.org/officeDocument/2006/relationships/image" Target="../media/source_image287.png" Id="R887ee26ef95348c3"/><Relationship Type="http://schemas.openxmlformats.org/officeDocument/2006/relationships/notesSlide" Target="../notesSlides/source_notesSlide48.xml" Id="R266dce95db1e49e7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457428f02350473e"/><Relationship Type="http://schemas.openxmlformats.org/officeDocument/2006/relationships/image" Target="../media/source_image288.png" Id="Ref6fd1ac6c0b41a1"/><Relationship Type="http://schemas.openxmlformats.org/officeDocument/2006/relationships/image" Target="../media/source_image289.png" Id="R98d56c58173d4f10"/><Relationship Type="http://schemas.openxmlformats.org/officeDocument/2006/relationships/image" Target="../media/source_image290.png" Id="Ra12e8d0cc1fa4e8b"/><Relationship Type="http://schemas.openxmlformats.org/officeDocument/2006/relationships/image" Target="../media/source_image291.png" Id="R8ea9a083da9f4769"/><Relationship Type="http://schemas.openxmlformats.org/officeDocument/2006/relationships/image" Target="../media/source_image48.jpeg" Id="R204c1590869247b9"/><Relationship Type="http://schemas.openxmlformats.org/officeDocument/2006/relationships/image" Target="../media/source_image49.jpeg" Id="R665f7f4985f943ae"/><Relationship Type="http://schemas.openxmlformats.org/officeDocument/2006/relationships/image" Target="../media/source_image292.png" Id="R5f6e99df4f0d46e4"/><Relationship Type="http://schemas.openxmlformats.org/officeDocument/2006/relationships/image" Target="../media/source_image293.png" Id="R813e170380a0484e"/><Relationship Type="http://schemas.openxmlformats.org/officeDocument/2006/relationships/notesSlide" Target="../notesSlides/source_notesSlide49.xml" Id="R5ae7aac20b9e4660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0f2285f100694025"/><Relationship Type="http://schemas.openxmlformats.org/officeDocument/2006/relationships/image" Target="../media/source_image294.png" Id="Rfc4c0397bbd7430c"/><Relationship Type="http://schemas.openxmlformats.org/officeDocument/2006/relationships/image" Target="../media/source_image295.png" Id="R9bdd9003f69e416e"/><Relationship Type="http://schemas.openxmlformats.org/officeDocument/2006/relationships/image" Target="../media/source_image296.png" Id="R043b435f731f417e"/><Relationship Type="http://schemas.openxmlformats.org/officeDocument/2006/relationships/image" Target="../media/source_image297.png" Id="Rbe890b19274b4169"/><Relationship Type="http://schemas.openxmlformats.org/officeDocument/2006/relationships/image" Target="../media/source_image50.jpeg" Id="R97dd1a18be6941d0"/><Relationship Type="http://schemas.openxmlformats.org/officeDocument/2006/relationships/image" Target="../media/source_image51.jpeg" Id="R21aa0e02a5f8407d"/><Relationship Type="http://schemas.openxmlformats.org/officeDocument/2006/relationships/image" Target="../media/source_image298.png" Id="R854b336ecfcd4370"/><Relationship Type="http://schemas.openxmlformats.org/officeDocument/2006/relationships/image" Target="../media/source_image299.png" Id="Rce87ce089363465a"/><Relationship Type="http://schemas.openxmlformats.org/officeDocument/2006/relationships/notesSlide" Target="../notesSlides/source_notesSlide50.xml" Id="Rdc24499fd3ec42e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ee1b1d0015704c53"/><Relationship Type="http://schemas.openxmlformats.org/officeDocument/2006/relationships/image" Target="../media/source_image300.png" Id="R7c005a229aae486f"/><Relationship Type="http://schemas.openxmlformats.org/officeDocument/2006/relationships/image" Target="../media/source_image301.png" Id="R913b22d989464555"/><Relationship Type="http://schemas.openxmlformats.org/officeDocument/2006/relationships/image" Target="../media/source_image302.png" Id="R682c2663a4234a58"/><Relationship Type="http://schemas.openxmlformats.org/officeDocument/2006/relationships/image" Target="../media/source_image52.jpeg" Id="R7119cf3289fa429b"/><Relationship Type="http://schemas.openxmlformats.org/officeDocument/2006/relationships/image" Target="../media/source_image303.png" Id="R97b6d0e20e98440e"/><Relationship Type="http://schemas.openxmlformats.org/officeDocument/2006/relationships/image" Target="../media/source_image304.png" Id="R8b052f8cf80a4f91"/><Relationship Type="http://schemas.openxmlformats.org/officeDocument/2006/relationships/notesSlide" Target="../notesSlides/source_notesSlide51.xml" Id="Ra6ca5f8b3f8b4dca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066e181c3cab4de5"/><Relationship Type="http://schemas.openxmlformats.org/officeDocument/2006/relationships/image" Target="../media/source_image305.png" Id="Rfc52a687bd354755"/><Relationship Type="http://schemas.openxmlformats.org/officeDocument/2006/relationships/image" Target="../media/source_image306.png" Id="R2ebec5bde4374dbe"/><Relationship Type="http://schemas.openxmlformats.org/officeDocument/2006/relationships/image" Target="../media/source_image307.png" Id="Rb0c6c8aefcba4c4f"/><Relationship Type="http://schemas.openxmlformats.org/officeDocument/2006/relationships/image" Target="../media/source_image53.jpeg" Id="R34c265cb49884590"/><Relationship Type="http://schemas.openxmlformats.org/officeDocument/2006/relationships/image" Target="../media/source_image308.png" Id="R8f288eb9ff6a49c7"/><Relationship Type="http://schemas.openxmlformats.org/officeDocument/2006/relationships/image" Target="../media/source_image309.png" Id="R572ebf377e9a4741"/><Relationship Type="http://schemas.openxmlformats.org/officeDocument/2006/relationships/notesSlide" Target="../notesSlides/source_notesSlide52.xml" Id="Ra1063a6c2d2c45f8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../slideLayouts/source_slideLayout6.xml" Id="R0fd0c321d0d04769"/><Relationship Type="http://schemas.openxmlformats.org/officeDocument/2006/relationships/image" Target="../media/source_image310.png" Id="Rbf6e58c439554cf6"/><Relationship Type="http://schemas.openxmlformats.org/officeDocument/2006/relationships/image" Target="../media/source_image311.png" Id="R3527d3a88eb2471f"/><Relationship Type="http://schemas.openxmlformats.org/officeDocument/2006/relationships/image" Target="../media/source_image312.png" Id="R1efb0ae5ec954c40"/><Relationship Type="http://schemas.openxmlformats.org/officeDocument/2006/relationships/image" Target="../media/source_image313.png" Id="Rb16b9be159784082"/><Relationship Type="http://schemas.openxmlformats.org/officeDocument/2006/relationships/image" Target="../media/source_image54.jpeg" Id="Rbca282cd79e045a1"/><Relationship Type="http://schemas.openxmlformats.org/officeDocument/2006/relationships/image" Target="../media/source_image314.png" Id="R95041e9ae48b4a10"/><Relationship Type="http://schemas.openxmlformats.org/officeDocument/2006/relationships/image" Target="../media/source_image315.png" Id="R44bef26edec04339"/><Relationship Type="http://schemas.openxmlformats.org/officeDocument/2006/relationships/notesSlide" Target="../notesSlides/source_notesSlide53.xml" Id="R93b347ee4c2d403d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../slideLayouts/extra_slideLayout6.xml" Id="R6c934f9785f240bb"/><Relationship Type="http://schemas.openxmlformats.org/officeDocument/2006/relationships/image" Target="../media/extra_image26.png" Id="R111c5b5562b045b2"/><Relationship Type="http://schemas.openxmlformats.org/officeDocument/2006/relationships/image" Target="../media/extra_image27.png" Id="Red49e70ec08f4b33"/><Relationship Type="http://schemas.openxmlformats.org/officeDocument/2006/relationships/image" Target="../media/extra_image28.png" Id="Reb94f45447f4419e"/><Relationship Type="http://schemas.openxmlformats.org/officeDocument/2006/relationships/hyperlink" Target="https://dubukimch.github.io/manual-assethub.html" TargetMode="External" Id="R177f2901ef074da0"/><Relationship Type="http://schemas.openxmlformats.org/officeDocument/2006/relationships/notesSlide" Target="../notesSlides/extra_notesSlide21.xml" Id="R447b8144287d4d2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52152E67-0133-40B8-A8BB-9B98DBF0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A33FCE78-7B76-4BFB-ABCD-F741F375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07DEB-A26E-4B96-94B2-C35C0F8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CC37EC52-838A-4BD4-9D48-05D229DD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C4F7E-12D9-49AE-8D1D-9CB6729F9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76fcd94a146f4"/>
          <a:stretch xmlns:a="http://schemas.openxmlformats.org/drawingml/2006/main"/>
        </p:blipFill>
        <p:spPr>
          <a:xfrm xmlns:a="http://schemas.openxmlformats.org/drawingml/2006/main">
            <a:off x="685800" y="13620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1B9DBC94-907C-4E50-8333-B096D0EE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457325"/>
            <a:ext cx="1257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Industrial AssetHub</a:t>
            </a:r>
          </a:p>
        </p:txBody>
      </p:sp>
      <p:sp>
        <p:nvSpPr>
          <p:cNvPr id="7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76588607-2EA6-4671-BC8B-E909CECF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사용 매뉴얼</a:t>
            </a:r>
          </a:p>
        </p:txBody>
      </p:sp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D05AD796-2839-448D-8977-50B5F45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95775"/>
            <a:ext cx="619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자산의 소스와 의미를 연결하고 로컬 상태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확인하기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AB85295D-8367-4118-95E0-2E06F828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8개 동작 · 실제 캡처 8장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FAB66-852D-48A6-B2D8-D542A0B4E8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70341c85644e2"/>
          <a:stretch xmlns:a="http://schemas.openxmlformats.org/drawingml/2006/main"/>
        </p:blipFill>
        <p:spPr>
          <a:xfrm xmlns:a="http://schemas.openxmlformats.org/drawingml/2006/main">
            <a:off x="8452896" y="2762250"/>
            <a:ext cx="5192207" cy="400050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4A3FE69F-2506-45A2-BBAC-17A3753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5125"/>
            <a:ext cx="1352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화면, 순서와 확인할 결과를 함께 읽습니다.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4AE75B61-47E2-443D-A2A1-E16F815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4750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86886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eeed2d64be6444c4"/>
              </a:rPr>
              <a:t>http://127.0.0.1:5189/workbench</a:t>
            </a:r>
          </a:p>
        </p:txBody>
      </p:sp>
    </p:spTree>
    <p:extLst>
      <p:ext uri="{BB962C8B-B14F-4D97-AF65-F5344CB8AC3E}">
        <p14:creationId xmlns:p14="http://schemas.microsoft.com/office/powerpoint/2010/main" val="1267180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F066BDC3-21C8-41DA-8A31-2740777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809C3D1A-167F-4C82-A89B-BA02C000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B81D3-46A6-42E6-8B3D-CC1477F1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3FDE167D-E48F-4D5A-9554-0E04DF81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9D34BD28-E668-41D2-BDBB-A30FFB09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시작 조건과 실습 범위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A9C9C7C2-4B60-49BB-B7FD-4911049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381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환경을 확인한 뒤 첫 동작으로 이동합니다.</a:t>
            </a:r>
          </a:p>
        </p:txBody>
      </p:sp>
      <p:sp>
        <p:nvSpPr>
          <p:cNvPr id="7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86D6602B-DDC6-4EA4-B082-EFADB67B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A05245D5-8884-4E6A-BE88-D3438828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Workbench를 활성화한 로컬 Host가 실행 중이어야 합니다.</a:t>
            </a:r>
          </a:p>
        </p:txBody>
      </p:sp>
      <p:sp>
        <p:nvSpPr>
          <p:cNvPr id="9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977991C6-17DF-4726-A408-49CB1F1E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B9F37C1C-D32C-4BD0-8295-38B62712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실습 예제는 원본 설비와 분리된 모의 초안으로 등록합니다.</a:t>
            </a:r>
          </a:p>
        </p:txBody>
      </p:sp>
      <p:sp>
        <p:nvSpPr>
          <p:cNvPr id="11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06BF98EC-E7B0-4263-98FB-7A866C3F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실습에서 확인하는 범위</a:t>
            </a:r>
          </a:p>
        </p:txBody>
      </p:sp>
      <p:sp>
        <p:nvSpPr>
          <p:cNvPr id="12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C751D156-BD0F-4732-883B-9EC3E05C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381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local-workbench / fixture-lab의 모의 초안과 로컬 의미 연결. 운영 승인, AAS 게시, 실제 설비 제어는 제공하지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8895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BE508EDB-B681-4655-844B-1443D104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890A517-816C-47BB-8982-0AFEB8EB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79B5-47AA-4BAF-A01A-2D762B66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80D0450-523E-4192-85B6-DD7DE3D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DF91C51-8DB3-4561-BA43-9C12055B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온톨로지 작업공간 둘러보기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43D2C7-F1CF-4CA4-9FC1-B64E6DB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초안, 의미 연결, 개념 사전의 위치를 파악합니다.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DC5BA-8D00-4C03-BC19-4A397ADA5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cbe095574568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2243ACE-C701-431C-AC6A-B2F3E97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ED072E7-0F96-4ED3-ADE9-8ABE477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스튜디오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C84F9255-74DE-4066-ACD9-673E57B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온톨로지 스튜디오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7B5B8-7114-4C92-8C5F-4F8FD4C55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77d8bbe0f4dda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D4BBFAB0-3AC9-4574-AE94-9194AA9B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677E4F75-F7FD-48E5-AEC5-6787423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자산과 연결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2D59231-74E5-4684-85DC-64932E1F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초안 목록 · 의미 연결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62C87-B8BB-49FB-9ACB-0C11D3634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b54bf41124983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BA95DD6B-A928-43C3-BB5C-AEFFED4F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EAD97DC9-9142-4190-A559-FA32B36D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공통 개념 사전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538BDB7-E024-47E2-827D-3C40032A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공통 개념 사전 · 로컬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검토 안내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8F2F1-5F2C-471D-ADAD-5C6A2C57C6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4f9cf638d4337"/>
          <a:srcRect xmlns:a="http://schemas.openxmlformats.org/drawingml/2006/main" l="16260" t="7630" r="2439" b="32954"/>
          <a:stretch xmlns:a="http://schemas.openxmlformats.org/drawingml/2006/main"/>
        </p:blipFill>
        <p:spPr>
          <a:xfrm xmlns:a="http://schemas.openxmlformats.org/drawingml/2006/main">
            <a:off x="5570790" y="2305050"/>
            <a:ext cx="7679821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C50EFD25-3B0D-4161-8814-F2D7FBB0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69FA6-4B16-464D-9A41-710141B46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a81652cd94ce5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A5CA94AF-AC71-496C-BA3C-9939D87B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현재는 로컬 검토 환경입니다. 404이면 Workbench 활성화 프로필과 주소를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E7B0F-0558-4D89-BA50-5260A97CEC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b2110f0334be2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7ABAEC17-0BB7-4E0A-8389-4D1A36D7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수와 연결 진행률이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기존 예제가 있으면 첫 자산을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993730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E05E8CB7-81ED-4AC9-888E-12D1239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02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6FFADF0-EE96-43E5-BC0D-48DB85CA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B6F53-FE91-4AF1-B9E7-C17876D4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7DFC91B-9A44-4836-A130-76E5F30F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7698AC1-1D2F-46C2-A81B-256D6B79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자산의 원본 선언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44EBD29-503A-4C96-B971-C942BBE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이름과 소스 범위를 초안에 입력합니다.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C13C-76EC-4353-A651-776091723C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13585a3e74498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C6D2561-CF3F-4BCB-B38B-D128084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17AB9B7-157A-49B3-8D6A-106F143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자산 초안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B54172-604A-4679-A421-0BA3D7C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자산 초안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BB3C3-4144-4C87-9B45-403C2CB21E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564f7e0f24f6c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22C127E-FE21-416B-ABE9-E3B2B8B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17C18F91-44B1-44FF-880C-5186BB2D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이름과 소유자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6DEA5440-75CD-4EE2-8B7A-97ABE92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예제 온도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Gateway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E65E-9E61-4FD5-A67C-83A6F4B82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67f5003d3471e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88F598D0-2679-4291-A1E0-738CAD66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4C7C1CB1-69C0-47B2-B588-AC5398BE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소스 범위 지정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E4044B4-7792-4D28-9A5D-03C78012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Simulation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manual-local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67B1F-2804-49A3-BA52-ED90EFD70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1c276a3f54d1d"/>
          <a:stretch xmlns:a="http://schemas.openxmlformats.org/drawingml/2006/main"/>
        </p:blipFill>
        <p:spPr>
          <a:xfrm xmlns:a="http://schemas.openxmlformats.org/drawingml/2006/main">
            <a:off x="638175" y="58578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BB488BB-99DE-461E-BD12-BB6C34FD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2769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2BA9B23F-25CC-41A6-AD1B-FA518312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8293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유효 시간과 메모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43025BF9-DEC4-496D-8F36-4993C944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388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유효 시작 UTC · 모의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예제 메모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E9235-827B-44D2-B112-EF662473BB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4d68096054bf4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FD629860-4180-4F2E-BA53-E7873FD6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D7D21-37EA-42B4-B684-855F8BD17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94ddbb04d48d0"/>
          <a:srcRect xmlns:a="http://schemas.openxmlformats.org/drawingml/2006/main" l="32208" t="17776" r="32895" b="17614"/>
          <a:stretch xmlns:a="http://schemas.openxmlformats.org/drawingml/2006/main"/>
        </p:blipFill>
        <p:spPr>
          <a:xfrm xmlns:a="http://schemas.openxmlformats.org/drawingml/2006/main">
            <a:off x="9514237" y="2305050"/>
            <a:ext cx="3031426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CE54466A-105A-4ABB-A1B8-0A3407A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E78B4E-781C-483E-859A-35C7F3078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81dc3f54f419c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5E2597A5-C662-4040-BABC-BFEAA5FC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이것은 소스 선언입니다. 입력만으로 원본 연결이 생기지 않으며 취소·닫기로 등록 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취소할 수 있습니다.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597ECB-88DD-43C4-8853-92137EC0E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118b6cd4f468e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35C62F13-D55D-4D9D-B345-757AC94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자산명과 소스 범위가 입력 창에 표시됩니다.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키: DataAccess.Manual.Temp_PV</a:t>
            </a:r>
          </a:p>
        </p:txBody>
      </p:sp>
    </p:spTree>
    <p:extLst>
      <p:ext uri="{BB962C8B-B14F-4D97-AF65-F5344CB8AC3E}">
        <p14:creationId xmlns:p14="http://schemas.microsoft.com/office/powerpoint/2010/main" val="979343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64F5CE4F-BCD3-4199-9078-1BA1A690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C725CBA-0123-43DE-A1FA-752E8CD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3D808-565E-4295-872F-3BB58F0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4AC04AA-A3E5-489C-9593-DFDF72B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44D76A9-7D07-4E9D-9A1A-113C6846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저장과 식별자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120A15-D80E-4711-B16B-9508F5C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초안을 저장하고 고유 ID와 편집 버전을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92250-BCFF-4D3B-86FA-1BA45F99D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c1a47db424a9b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9FC8831-ABCB-44FE-8DD8-AF19FE5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625BC31-4F93-4AF8-8443-E8024E16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 만들기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573D24E-B18B-4827-8139-C3C48FA5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 확인 → 초안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만들기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77210-8DEE-4FBA-B1E8-DDB11022D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2fa954ad0457e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C13ED1F0-2613-454B-9D24-94BBC52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B186A11-4DE1-41CE-8726-666C4A1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새 자산 행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1C09F61B-E0B2-45E2-99F2-5BF1534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새 행 · 선택한 자산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73949-BA79-4B1B-B42B-AF9D12C81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b021db4774559"/>
          <a:stretch xmlns:a="http://schemas.openxmlformats.org/drawingml/2006/main"/>
        </p:blipFill>
        <p:spPr>
          <a:xfrm xmlns:a="http://schemas.openxmlformats.org/drawingml/2006/main">
            <a:off x="638175" y="4905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33685881-29E4-4C4E-9111-EC5B1130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244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5859A62E-ECF5-40EB-B6D4-E90BB7C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768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ID와 버전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7618C701-B836-43F8-AB84-D4F7AAD6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863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Global Asset ID · 편집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버전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9D1A4C-200B-4F02-928D-BF9A4B4724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dd431139f48be"/>
          <a:srcRect xmlns:a="http://schemas.openxmlformats.org/drawingml/2006/main" l="16260" t="41153" r="2439" b="12581"/>
          <a:stretch xmlns:a="http://schemas.openxmlformats.org/drawingml/2006/main"/>
        </p:blipFill>
        <p:spPr>
          <a:xfrm xmlns:a="http://schemas.openxmlformats.org/drawingml/2006/main">
            <a:off x="4479387" y="2305050"/>
            <a:ext cx="986262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CC0A147-3732-4CAD-9EE9-DF74D79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5F4F7-45F9-45C6-93DC-8F4F3743E5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589e3b2a54a9e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C21270CF-40A6-4095-82DB-C28B96A2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오래된 편집의 412 응답은 최신 초안과 비교합니다. 같은 저장 경로를 여러 Host가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동시에 열지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C732E-983E-4A66-8D93-D302DEFF8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ee26ef95348c3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BF378EFA-5CD8-4196-A025-BCFDCB1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초안과 발급된 식별자가 로컬 파일에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승인·게시 revision은 미제공 상태입니다.</a:t>
            </a:r>
          </a:p>
        </p:txBody>
      </p:sp>
    </p:spTree>
    <p:extLst>
      <p:ext uri="{BB962C8B-B14F-4D97-AF65-F5344CB8AC3E}">
        <p14:creationId xmlns:p14="http://schemas.microsoft.com/office/powerpoint/2010/main" val="97955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B04CBD34-0CAF-444A-8403-7441117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04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D71D1F1-88A4-485E-B727-193B035D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BCFC5-E5F9-429D-B178-3635E97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D5802D-3A8E-4496-B585-F7226277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7D6E680-ABD6-4382-8C1C-7EBD2630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온도 개념 후보 검토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805DFA-8A6D-491E-98DB-18531AB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이름·소스 키의 일치 근거를 보고 개념을 선택합니다.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4F947-986D-4EFF-B493-610B9024F0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fd1ac6c0b41a1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BC23D24-CA05-4CB5-9863-28052372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2309AAD-AA88-4209-B111-D1683F2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교육용 자산 선택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7CAF83D-C8F0-48F2-84DB-C6C78791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예제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A5156-D491-43C2-966D-EE139E55A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56c58173d4f10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F90E3F5-5200-44A0-A700-84432E97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0B4A9D1-8477-4599-9C51-E76B6BCA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후보와 일치 근거 읽기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C6F8E79-8DB2-4881-A41E-F3A22AF3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자동 매칭 후보 · 온도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829AD-3A9D-4F42-8FEA-25D08CD3EA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e8d0cc1fa4e8b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680F320F-62D0-4956-BE20-BE12793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B9BF6E82-F15B-4073-9333-352D0A03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개념 후보 반영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2FD247B1-2B23-41B7-A66B-DCAC17FC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선택 → 의미 개념 반영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B14A9-C750-4663-985D-A7B1E5CA5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9a083da9f4769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4B5E281D-3895-4591-8773-CABF526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73757433-429F-4210-829E-AFCAE39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단위와 위치 직접 입력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53C4CFB5-5E98-421D-B238-7E3A0114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원 단위 · 계측 위치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9DEAD7-622F-450A-8400-CD6B48360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c1590869247b9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267ACC73-5094-480C-899B-2149F00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15E45-A0B9-4EEE-85FD-0F99810CC5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5f7f4985f943ae"/>
          <a:srcRect xmlns:a="http://schemas.openxmlformats.org/drawingml/2006/main" l="41588" t="6656" r="3628" b="39448"/>
          <a:stretch xmlns:a="http://schemas.openxmlformats.org/drawingml/2006/main"/>
        </p:blipFill>
        <p:spPr>
          <a:xfrm xmlns:a="http://schemas.openxmlformats.org/drawingml/2006/main">
            <a:off x="8177449" y="2305050"/>
            <a:ext cx="5705002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B3C3A696-314E-443D-B5B0-29D074C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1F5899-FC2A-4F6E-8A63-CABDCCE34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e99df4f0d46e4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860073C9-F620-4AAD-BDF2-6454D90F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점수는 승인 확률이 아닙니다. 이름만 같다고 다른 계측 지점을 같은 자산으로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병합하지 않습니다.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FE6B3-8164-4A0E-983A-AB4F59E00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170380a0484e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41DE3F54-930E-4A37-BB10-765D9953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선택한 개념이 의미 연결 폼에 반영됩니다.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후보 점수는 문자열 일치 순위입니다.</a:t>
            </a:r>
          </a:p>
        </p:txBody>
      </p:sp>
    </p:spTree>
    <p:extLst>
      <p:ext uri="{BB962C8B-B14F-4D97-AF65-F5344CB8AC3E}">
        <p14:creationId xmlns:p14="http://schemas.microsoft.com/office/powerpoint/2010/main" val="1892573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">
            <a:extLst xmlns:a="http://schemas.openxmlformats.org/drawingml/2006/main">
              <a:ext uri="{FF2B5EF4-FFF2-40B4-BE49-F238E27FC236}">
                <a16:creationId xmlns:a16="http://schemas.microsoft.com/office/drawing/2014/main" id="{8BC34F48-7FC5-49BF-B19C-2CA90FC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05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9D032B3-2920-4205-BD19-AE3A88C5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7672-E292-434B-A8C7-C29F8339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4F8BE1B-A5DD-4B31-BED6-0076FD5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8472040-EA31-40F4-9539-805D7137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개념·단위·계측 위치 연결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4BEC96F-FB37-4185-B3E4-B21606E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계측 지점의 의미와 단위를 함께 저장합니다.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3F50D-10E1-470F-9F77-BD7B97616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0397bbd7430c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7F7E66F-1561-4F41-AC40-3708E67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DDC4586-44F2-4C55-9EB1-924E492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클래스와 개념 지정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8DA0A49-347E-4EF5-8216-A32D68BF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계측 지점 ·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2B03B-782D-49E0-874C-C83FE5CBD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d9003f69e416e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083DF324-6A37-4951-B8DD-1092DAFE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C62BA3F3-2B1D-42BC-87BC-5DC65B8A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단위와 위치 입력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036A8018-8424-4AA6-B782-E003E95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°C · 실습 모의 계측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지점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8E6E5-70C6-408E-952B-C5BC328E02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b435f731f417e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C0B449E7-3635-4417-B46D-974A3F2E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26CFE05D-A504-47C2-BE56-14CF4329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의미 연결 저장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E5C595F-5A5F-4144-B9E4-C5477D33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의미 연결 저장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3A085-9011-4507-B2B5-03208FC75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90b19274b4169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FCDDD7E3-1DD0-4107-835D-48B108BE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5B2767D6-49FC-4BC8-99ED-0E1E9C3E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저장된 관계 확인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1BC454DB-1061-4A4B-B463-12C72E8B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observes · 편집 버전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8CF8E-15FB-4287-A998-D6DE55437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d1a18be6941d0"/>
          <a:stretch xmlns:a="http://schemas.openxmlformats.org/drawingml/2006/main"/>
        </p:blipFill>
        <p:spPr>
          <a:xfrm xmlns:a="http://schemas.openxmlformats.org/drawingml/2006/main">
            <a:off x="4191000" y="2309124"/>
            <a:ext cx="2857500" cy="2201651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72B93EE1-7DEB-4392-809D-81A053E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482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전체 화면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67707-F2A4-408B-9BF1-11F0C217DC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a0e02a5f8407d"/>
          <a:srcRect xmlns:a="http://schemas.openxmlformats.org/drawingml/2006/main" l="41588" t="6656" r="3628" b="33685"/>
          <a:stretch xmlns:a="http://schemas.openxmlformats.org/drawingml/2006/main"/>
        </p:blipFill>
        <p:spPr>
          <a:xfrm xmlns:a="http://schemas.openxmlformats.org/drawingml/2006/main">
            <a:off x="8452998" y="2305050"/>
            <a:ext cx="5153904" cy="4324350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C26BA79-2655-4D40-B0CB-B5403370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3A325-3130-420B-8884-28940447B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b336ecfcd4370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AF51B253-6618-40FA-A03C-4513274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라인·설비에는 계측 필드를 비웁니다. 미지원 단위나 순환 partOf 관계는 거부됩니다.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4AEE5B-62D3-49E4-A28D-66541D106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7ce089363465a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0" name="text-21">
            <a:extLst xmlns:a="http://schemas.openxmlformats.org/drawingml/2006/main">
              <a:ext uri="{FF2B5EF4-FFF2-40B4-BE49-F238E27FC236}">
                <a16:creationId xmlns:a16="http://schemas.microsoft.com/office/drawing/2014/main" id="{8EDB6C55-F7CB-4049-BAE3-FB2BC506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의미 연결과 편집 버전이 저장됩니다.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기존 로컬 검토 결과는 무효화됩니다.</a:t>
            </a:r>
          </a:p>
        </p:txBody>
      </p:sp>
    </p:spTree>
    <p:extLst>
      <p:ext uri="{BB962C8B-B14F-4D97-AF65-F5344CB8AC3E}">
        <p14:creationId xmlns:p14="http://schemas.microsoft.com/office/powerpoint/2010/main" val="230488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9E5CF8B8-8AA7-4683-BF44-EAD658DB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06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5830CE6-5461-43F6-8E1D-AE16D1B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E8FD-4CF9-4161-ADFF-A267215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1684AD4-C1B2-48D4-AED4-4995C096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EBD4A2-215C-4A6E-930B-7352DF1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키워드로 의미 연결 근거 찾기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2EF582-06B2-4549-80C0-DE49A71B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초안에 선언한 자산과 소스를 검색합니다.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BFA6F-131A-4136-8613-0888D63FA3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05a229aae486f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B27D2A07-EACA-4F65-8293-E1698F6F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2B5E920-A33E-4E0D-8EF7-6B5A1205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키워드 입력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9153571-9F39-438E-A358-102DB91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온톨로지 어시스트: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매뉴얼 온도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2A156-E39F-4F94-B703-73EFEB366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b22d989464555"/>
          <a:stretch xmlns:a="http://schemas.openxmlformats.org/drawingml/2006/main"/>
        </p:blipFill>
        <p:spPr>
          <a:xfrm xmlns:a="http://schemas.openxmlformats.org/drawingml/2006/main">
            <a:off x="638175" y="3629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46E58598-A10A-4EE1-AC37-996CBFA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48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2BFDE6F5-F65E-4192-A1F6-F49D16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00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근거 조회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AEE228F-E6A2-4DAD-B670-6AB67F0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10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근거 조회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89DB4-2CC9-4311-94AB-50D358D14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c2663a4234a58"/>
          <a:stretch xmlns:a="http://schemas.openxmlformats.org/drawingml/2006/main"/>
        </p:blipFill>
        <p:spPr>
          <a:xfrm xmlns:a="http://schemas.openxmlformats.org/drawingml/2006/main">
            <a:off x="638175" y="45815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37387AD9-CC0C-4BD5-81D1-7782435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5C28ED8-7A81-4905-81F4-1E6FC10D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529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선언 근거 대조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DAC1AB6F-5918-4B39-BD89-9CD80A2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6252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자산 · 개념 · 소스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tuple · 버전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E6582-5F2A-4EEE-B8EC-350B8FEB87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9cf3289fa429b"/>
          <a:srcRect xmlns:a="http://schemas.openxmlformats.org/drawingml/2006/main" l="16260" t="22727" r="2439" b="40747"/>
          <a:stretch xmlns:a="http://schemas.openxmlformats.org/drawingml/2006/main"/>
        </p:blipFill>
        <p:spPr>
          <a:xfrm xmlns:a="http://schemas.openxmlformats.org/drawingml/2006/main">
            <a:off x="4191000" y="2660409"/>
            <a:ext cx="10439400" cy="3613633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30C45B2E-EF27-40CF-98D0-F6C96705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1A231-272D-49F8-9966-310059A1D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6d0e20e98440e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17E82DC8-3E9D-49F2-A5DC-11D42EC1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규칙 기반 검색이며 외부 AI를 호출하지 않습니다. 결과가 없으면 키워드를 줄이고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의미 연결 저장을 확인합니다.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E5F38-7DAE-44D2-A523-5D687299F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52f8cf80a4f91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982909A4-7121-454A-B26A-1CD9C296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로컬 초안 snapshot의 선언 근거를 보여줍니다.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실제 값·품질·원본 시각은 미제공입니다.</a:t>
            </a:r>
          </a:p>
        </p:txBody>
      </p:sp>
    </p:spTree>
    <p:extLst>
      <p:ext uri="{BB962C8B-B14F-4D97-AF65-F5344CB8AC3E}">
        <p14:creationId xmlns:p14="http://schemas.microsoft.com/office/powerpoint/2010/main" val="444743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1">
            <a:extLst xmlns:a="http://schemas.openxmlformats.org/drawingml/2006/main">
              <a:ext uri="{FF2B5EF4-FFF2-40B4-BE49-F238E27FC236}">
                <a16:creationId xmlns:a16="http://schemas.microsoft.com/office/drawing/2014/main" id="{73779920-90DB-4C4C-B207-0EAFE67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07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252C9F6-A319-48A1-8812-645C244C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2A10A-7FEA-4FD8-B186-65DE9F4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BEB1F3E-712D-47A5-A4A1-5E264CD7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6545F75-7358-4DC5-8207-C4A182C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상태와 운영 준비 구분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10AFD8-1AE8-49C4-9322-8B2CB22E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실행 상태와 운영에 필요한 준비 항목을 따로 읽습니다.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25D53-6C88-472F-91B2-EA64B1A71C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2a687bd354755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426C0A84-7D40-46AF-A4DC-3D34B25B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33F022A-B1E9-44D8-9C45-1857049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시스템 모니터링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594F58B-23D4-4AC0-A2D9-0904FEB7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시스템 모니터링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A1251-2861-467F-9CA3-A964D6A65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c5bde4374dbe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895C1A56-447E-4DA2-9367-275A5BD9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516C8C54-9EC7-4889-A797-DE9B0EBB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상태 새로고침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A1274E95-49DF-447F-BA61-5DA1EB2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새로고침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67951-E264-48E4-9116-94EE67931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6c8aefcba4c4f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0DFD5074-7CAE-45C8-9A8B-083BED87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3D12C0ED-D244-427A-9081-E370C333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관측값과 준비 항목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EF78CAFE-D82B-4A38-B22E-8A5CD17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72050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메모리 · 가동 시간 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체크리스트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0457C-607E-4B9A-987F-26DFE96802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265cb49884590"/>
          <a:srcRect xmlns:a="http://schemas.openxmlformats.org/drawingml/2006/main" l="16233" t="35531" r="1363" b="6270"/>
          <a:stretch xmlns:a="http://schemas.openxmlformats.org/drawingml/2006/main"/>
        </p:blipFill>
        <p:spPr>
          <a:xfrm xmlns:a="http://schemas.openxmlformats.org/drawingml/2006/main">
            <a:off x="5438723" y="2305050"/>
            <a:ext cx="7943955" cy="432435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A7A5F770-019B-432A-92D6-838FFA38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1FC33-2FAE-4C10-8FC8-0DA36DE7D6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88eb9ff6a49c7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2" name="text-16">
            <a:extLst xmlns:a="http://schemas.openxmlformats.org/drawingml/2006/main">
              <a:ext uri="{FF2B5EF4-FFF2-40B4-BE49-F238E27FC236}">
                <a16:creationId xmlns:a16="http://schemas.microsoft.com/office/drawing/2014/main" id="{D14489C8-B7C4-4E72-81ED-DF2F5B8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상태 요청에 실패하면 최근 성공값을 현재 관측값으로 해석하지 않습니다.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A9F6C-9CE7-4411-94D9-BA44E7048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ebf377e9a4741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4" name="text-17">
            <a:extLst xmlns:a="http://schemas.openxmlformats.org/drawingml/2006/main">
              <a:ext uri="{FF2B5EF4-FFF2-40B4-BE49-F238E27FC236}">
                <a16:creationId xmlns:a16="http://schemas.microsoft.com/office/drawing/2014/main" id="{6C5E89BB-E522-4B80-BE03-D8BB78D7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Host 실행과 서비스 준비 상태가 따로 보입니다.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운영 원장·인증·표준 runtime은 준비 중입니다.</a:t>
            </a:r>
          </a:p>
        </p:txBody>
      </p:sp>
    </p:spTree>
    <p:extLst>
      <p:ext uri="{BB962C8B-B14F-4D97-AF65-F5344CB8AC3E}">
        <p14:creationId xmlns:p14="http://schemas.microsoft.com/office/powerpoint/2010/main" val="3890864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ext-1">
            <a:extLst xmlns:a="http://schemas.openxmlformats.org/drawingml/2006/main">
              <a:ext uri="{FF2B5EF4-FFF2-40B4-BE49-F238E27FC236}">
                <a16:creationId xmlns:a16="http://schemas.microsoft.com/office/drawing/2014/main" id="{B4AB15F3-4D94-44DF-AAA3-D93E66B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323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08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91478BE-52FE-467D-BF1E-DD22C739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6416-AD02-4F8A-820A-CBEAC894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088C8-FDCA-4154-8175-082AB43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268BDD-6EC7-4985-BD50-137D91A3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일곱 솔루션의 HTTP 상태 확인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875B556-E9B0-4EB2-97B3-EDB8950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13887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로컬 작업공간으로 이동하며 응답 근거를 확인합니다.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E067B-6D08-49B5-A026-832122F6B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e58c439554cf6"/>
          <a:stretch xmlns:a="http://schemas.openxmlformats.org/drawingml/2006/main"/>
        </p:blipFill>
        <p:spPr>
          <a:xfrm xmlns:a="http://schemas.openxmlformats.org/drawingml/2006/main">
            <a:off x="638175" y="2352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9757A859-E47A-470B-A1F5-D3C9B85F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771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817E6622-5F03-45A9-B9AA-7A201152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 연결 열기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948D4F7-8858-4003-B60A-DB7E676E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7336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솔루션 연결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352A5-1948-4275-B3FC-1C117D9AE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27d3a88eb2471f"/>
          <a:stretch xmlns:a="http://schemas.openxmlformats.org/drawingml/2006/main"/>
        </p:blipFill>
        <p:spPr>
          <a:xfrm xmlns:a="http://schemas.openxmlformats.org/drawingml/2006/main">
            <a:off x="638175" y="3305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1A55D895-792B-466D-95AC-BB0679E6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242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70E97659-0AC0-4495-8EE2-BB1DBCDC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766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연결 상태 확인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F4266A33-25F1-47A1-91EC-C6844C0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68617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연결 상태 확인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AD9F5-AA07-4D19-81B2-9344F5756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b0ae5ec954c40"/>
          <a:stretch xmlns:a="http://schemas.openxmlformats.org/drawingml/2006/main"/>
        </p:blipFill>
        <p:spPr>
          <a:xfrm xmlns:a="http://schemas.openxmlformats.org/drawingml/2006/main">
            <a:off x="638175" y="42576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BDC4A63-1303-4CE3-8ABE-89DEF76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7677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F01455B1-A68E-444A-A2DD-92AB103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2910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응답과 관측 시각 읽기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F0EEE250-D56C-4627-980F-A2C475CE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38675"/>
            <a:ext cx="2714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HTTP · 지연 · UTC 관측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시각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17BDC-87D1-4077-9763-1291A5D651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b9be159784082"/>
          <a:stretch xmlns:a="http://schemas.openxmlformats.org/drawingml/2006/main"/>
        </p:blipFill>
        <p:spPr>
          <a:xfrm xmlns:a="http://schemas.openxmlformats.org/drawingml/2006/main">
            <a:off x="638175" y="55340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EDBD1F31-15A0-4E66-B2DB-9F803C5C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9531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-16">
            <a:extLst xmlns:a="http://schemas.openxmlformats.org/drawingml/2006/main">
              <a:ext uri="{FF2B5EF4-FFF2-40B4-BE49-F238E27FC236}">
                <a16:creationId xmlns:a16="http://schemas.microsoft.com/office/drawing/2014/main" id="{F6449552-AA6C-4584-9798-DEE50B6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505450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작업공간으로 이동</a:t>
            </a:r>
          </a:p>
        </p:txBody>
      </p:sp>
      <p:sp>
        <p:nvSpPr>
          <p:cNvPr id="22" name="text-17">
            <a:extLst xmlns:a="http://schemas.openxmlformats.org/drawingml/2006/main">
              <a:ext uri="{FF2B5EF4-FFF2-40B4-BE49-F238E27FC236}">
                <a16:creationId xmlns:a16="http://schemas.microsoft.com/office/drawing/2014/main" id="{E4461095-063B-40D5-A582-F737B6A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15025"/>
            <a:ext cx="2714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작업공간 열기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75B8C-F6C7-4939-ABC1-F0C627061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282cd79e045a1"/>
          <a:srcRect xmlns:a="http://schemas.openxmlformats.org/drawingml/2006/main" l="4709" t="34727" r="4585" b="9646"/>
          <a:stretch xmlns:a="http://schemas.openxmlformats.org/drawingml/2006/main"/>
        </p:blipFill>
        <p:spPr>
          <a:xfrm xmlns:a="http://schemas.openxmlformats.org/drawingml/2006/main">
            <a:off x="4836403" y="2305050"/>
            <a:ext cx="9148594" cy="4324350"/>
          </a:xfrm>
          <a:prstGeom xmlns:a="http://schemas.openxmlformats.org/drawingml/2006/main" prst="rect">
            <a:avLst/>
          </a:prstGeom>
        </p:spPr>
      </p:pic>
      <p:sp>
        <p:nvSpPr>
          <p:cNvPr id="24" name="text-18">
            <a:extLst xmlns:a="http://schemas.openxmlformats.org/drawingml/2006/main">
              <a:ext uri="{FF2B5EF4-FFF2-40B4-BE49-F238E27FC236}">
                <a16:creationId xmlns:a16="http://schemas.microsoft.com/office/drawing/2014/main" id="{47D88DFE-D4B1-46A4-9BD3-E0A739FA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실제 화면 확대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B3EA8F-7F56-409A-9089-2F9BEA2BE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41e9ae48b4a10"/>
          <a:stretch xmlns:a="http://schemas.openxmlformats.org/drawingml/2006/main"/>
        </p:blipFill>
        <p:spPr>
          <a:xfrm xmlns:a="http://schemas.openxmlformats.org/drawingml/2006/main">
            <a:off x="4219575" y="678180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26" name="text-19">
            <a:extLst xmlns:a="http://schemas.openxmlformats.org/drawingml/2006/main">
              <a:ext uri="{FF2B5EF4-FFF2-40B4-BE49-F238E27FC236}">
                <a16:creationId xmlns:a16="http://schemas.microsoft.com/office/drawing/2014/main" id="{D533795E-0462-4A06-A61E-53758EAD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772275"/>
            <a:ext cx="99536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HTTP 응답은 데이터 전송·운영 승인 증거가 아닙니다. UI 접근과 backend 수집 상태를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따로 확인합니다.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8521A-460A-4949-877B-82016DBDC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ef26edec04339"/>
          <a:stretch xmlns:a="http://schemas.openxmlformats.org/drawingml/2006/main"/>
        </p:blipFill>
        <p:spPr>
          <a:xfrm xmlns:a="http://schemas.openxmlformats.org/drawingml/2006/main">
            <a:off x="628650" y="75438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text-20">
            <a:extLst xmlns:a="http://schemas.openxmlformats.org/drawingml/2006/main">
              <a:ext uri="{FF2B5EF4-FFF2-40B4-BE49-F238E27FC236}">
                <a16:creationId xmlns:a16="http://schemas.microsoft.com/office/drawing/2014/main" id="{CA462024-2E49-4EF2-AA70-5F3E25A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7515225"/>
            <a:ext cx="1341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고정된 loopback 경로를 최대 2초씩 조회합니다.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현재 Gateway·OEE API는 응답 없음입니다.</a:t>
            </a:r>
          </a:p>
        </p:txBody>
      </p:sp>
    </p:spTree>
    <p:extLst>
      <p:ext uri="{BB962C8B-B14F-4D97-AF65-F5344CB8AC3E}">
        <p14:creationId xmlns:p14="http://schemas.microsoft.com/office/powerpoint/2010/main" val="1402295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xtra-text-0">
            <a:extLst xmlns:a="http://schemas.openxmlformats.org/drawingml/2006/main">
              <a:ext uri="{FF2B5EF4-FFF2-40B4-BE49-F238E27FC236}">
                <a16:creationId xmlns:a16="http://schemas.microsoft.com/office/drawing/2014/main" id="{2CB01A54-66D7-40D8-ABD9-4B9FA36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86886"/>
                </a:solidFill>
                <a:latin typeface="Malgun Gothic"/>
                <a:ea typeface="Malgun Gothic"/>
                <a:cs typeface="Malgun Gothic"/>
              </a:rPr>
              <a:t>Industrial AssetHub  /  사용 매뉴얼</a:t>
            </a:r>
          </a:p>
        </p:txBody>
      </p:sp>
      <p:sp>
        <p:nvSpPr>
          <p:cNvPr id="2" name="compat-page-number">
            <a:extLst xmlns:a="http://schemas.openxmlformats.org/drawingml/2006/main">
              <a:ext uri="{FF2B5EF4-FFF2-40B4-BE49-F238E27FC236}">
                <a16:creationId xmlns:a16="http://schemas.microsoft.com/office/drawing/2014/main" id="{E174D0B5-0E7E-4524-9D83-55A13AC6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23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679A1-B0AC-4271-B50B-1D5CE090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1E7"/>
            </a:solidFill>
          </a:ln>
        </p:spPr>
      </p:sp>
      <p:sp>
        <p:nvSpPr>
          <p:cNvPr id="4" name="compat-footer">
            <a:extLst xmlns:a="http://schemas.openxmlformats.org/drawingml/2006/main">
              <a:ext uri="{FF2B5EF4-FFF2-40B4-BE49-F238E27FC236}">
                <a16:creationId xmlns:a16="http://schemas.microsoft.com/office/drawing/2014/main" id="{BBF213BB-2433-491B-82FA-19A4333A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43900"/>
            <a:ext cx="1238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Industrial AssetHub 사용 매뉴얼  2026.10.25</a:t>
            </a:r>
          </a:p>
        </p:txBody>
      </p:sp>
      <p:sp>
        <p:nvSpPr>
          <p:cNvPr id="5" name="extra-text-3">
            <a:extLst xmlns:a="http://schemas.openxmlformats.org/drawingml/2006/main">
              <a:ext uri="{FF2B5EF4-FFF2-40B4-BE49-F238E27FC236}">
                <a16:creationId xmlns:a16="http://schemas.microsoft.com/office/drawing/2014/main" id="{813A11FE-FCCD-4107-AC18-9C46438A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4020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상세 절차와 다음 확인</a:t>
            </a:r>
          </a:p>
        </p:txBody>
      </p:sp>
      <p:sp>
        <p:nvSpPr>
          <p:cNvPr id="6" name="extra-text-4">
            <a:extLst xmlns:a="http://schemas.openxmlformats.org/drawingml/2006/main">
              <a:ext uri="{FF2B5EF4-FFF2-40B4-BE49-F238E27FC236}">
                <a16:creationId xmlns:a16="http://schemas.microsoft.com/office/drawing/2014/main" id="{75744327-846F-4EC1-B348-27B95DF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381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슬라이드의 조작 순서를 상세 원문과 함께 사용할 수 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7DF2F-A61A-4F55-8B95-20CADBD3BF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c5b5562b045b2"/>
          <a:stretch xmlns:a="http://schemas.openxmlformats.org/drawingml/2006/main"/>
        </p:blipFill>
        <p:spPr>
          <a:xfrm xmlns:a="http://schemas.openxmlformats.org/drawingml/2006/main">
            <a:off x="685800" y="28003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8" name="extra-text-5">
            <a:extLst xmlns:a="http://schemas.openxmlformats.org/drawingml/2006/main">
              <a:ext uri="{FF2B5EF4-FFF2-40B4-BE49-F238E27FC236}">
                <a16:creationId xmlns:a16="http://schemas.microsoft.com/office/drawing/2014/main" id="{FE144C09-40A1-4243-B37A-E3DD2EC0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솔루션별 Markdown</a:t>
            </a:r>
          </a:p>
        </p:txBody>
      </p:sp>
      <p:sp>
        <p:nvSpPr>
          <p:cNvPr id="9" name="extra-text-6">
            <a:extLst xmlns:a="http://schemas.openxmlformats.org/drawingml/2006/main">
              <a:ext uri="{FF2B5EF4-FFF2-40B4-BE49-F238E27FC236}">
                <a16:creationId xmlns:a16="http://schemas.microsoft.com/office/drawing/2014/main" id="{2C4E785A-A49A-4A5F-BAB1-31732088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81375"/>
            <a:ext cx="1276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chapters/07-assethub.md  /  전체 단계·기대 결과·문제 해결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E3917-ABD0-4758-9949-BF23F5799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9e70ec08f4b33"/>
          <a:stretch xmlns:a="http://schemas.openxmlformats.org/drawingml/2006/main"/>
        </p:blipFill>
        <p:spPr>
          <a:xfrm xmlns:a="http://schemas.openxmlformats.org/drawingml/2006/main">
            <a:off x="685800" y="45720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1" name="extra-text-7">
            <a:extLst xmlns:a="http://schemas.openxmlformats.org/drawingml/2006/main">
              <a:ext uri="{FF2B5EF4-FFF2-40B4-BE49-F238E27FC236}">
                <a16:creationId xmlns:a16="http://schemas.microsoft.com/office/drawing/2014/main" id="{A102879E-1972-46DA-948E-B291681D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원본 값과 근거 확인</a:t>
            </a:r>
          </a:p>
        </p:txBody>
      </p:sp>
      <p:sp>
        <p:nvSpPr>
          <p:cNvPr id="12" name="extra-text-8">
            <a:extLst xmlns:a="http://schemas.openxmlformats.org/drawingml/2006/main">
              <a:ext uri="{FF2B5EF4-FFF2-40B4-BE49-F238E27FC236}">
                <a16:creationId xmlns:a16="http://schemas.microsoft.com/office/drawing/2014/main" id="{B08C29CE-503E-4683-B98B-5816EE4C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53025"/>
            <a:ext cx="1276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76D80"/>
                </a:solidFill>
                <a:latin typeface="Malgun Gothic"/>
                <a:ea typeface="Malgun Gothic"/>
                <a:cs typeface="Malgun Gothic"/>
              </a:rPr>
              <a:t>품질·원본 시각·데모 모드와 미연결 상태를 함께 확인합니다.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A8411-D228-40A6-A424-770B4C36C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94f45447f4419e"/>
          <a:stretch xmlns:a="http://schemas.openxmlformats.org/drawingml/2006/main"/>
        </p:blipFill>
        <p:spPr>
          <a:xfrm xmlns:a="http://schemas.openxmlformats.org/drawingml/2006/main">
            <a:off x="685800" y="63341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14" name="extra-text-9">
            <a:extLst xmlns:a="http://schemas.openxmlformats.org/drawingml/2006/main">
              <a:ext uri="{FF2B5EF4-FFF2-40B4-BE49-F238E27FC236}">
                <a16:creationId xmlns:a16="http://schemas.microsoft.com/office/drawing/2014/main" id="{A76FFEF3-2E1F-4015-BF3F-B58E53DE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296025"/>
            <a:ext cx="1285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4283D"/>
                </a:solidFill>
                <a:latin typeface="Malgun Gothic"/>
                <a:ea typeface="Malgun Gothic"/>
                <a:cs typeface="Malgun Gothic"/>
              </a:rPr>
              <a:t>포트폴리오 사용 안내</a:t>
            </a:r>
          </a:p>
        </p:txBody>
      </p:sp>
      <p:sp>
        <p:nvSpPr>
          <p:cNvPr id="15" name="extra-text-10">
            <a:extLst xmlns:a="http://schemas.openxmlformats.org/drawingml/2006/main">
              <a:ext uri="{FF2B5EF4-FFF2-40B4-BE49-F238E27FC236}">
                <a16:creationId xmlns:a16="http://schemas.microsoft.com/office/drawing/2014/main" id="{B9954187-F1D4-4AFB-BCB1-B0F6C28A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15150"/>
            <a:ext cx="1276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lnSpc>
                <a:spcPct val="105000"/>
              </a:lnSpc>
              <a:buNone/>
              <a:def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486886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177f2901ef074da0"/>
              </a:rPr>
              <a:t>https://dubukimch.github.io/manual-assethub.html</a:t>
            </a:r>
          </a:p>
        </p:txBody>
      </p:sp>
    </p:spTree>
    <p:extLst>
      <p:ext uri="{BB962C8B-B14F-4D97-AF65-F5344CB8AC3E}">
        <p14:creationId xmlns:p14="http://schemas.microsoft.com/office/powerpoint/2010/main" val="164272000"/>
      </p:ext>
    </p:extLst>
  </p:cSld>
</p:sld>
</file>

<file path=ppt/theme/source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source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11</ap:Slides>
  <ap:Notes>0</ap:Notes>
  <ap:HiddenSlides>0</ap:HiddenSlides>
  <ap:SharedDoc>false</ap:SharedDoc>
  <ap:DocSecurity>0</ap:DocSecurity>
</ap:Properties>
</file>

<file path=docProps/source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2026-10-24T02:40:07.4580000Z</dcterms:created>
  <dcterms:modified xsi:type="dcterms:W3CDTF">2026-10-24T02:40:07.4580000Z</dcterms:modified>
</coreProperties>
</file>