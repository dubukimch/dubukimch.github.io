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7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8.xml" ContentType="application/vnd.openxmlformats-officedocument.presentationml.notesSlide+xml"/>
  <Override PartName="/ppt/notesSlides/source_notesSlide18.xml" ContentType="application/vnd.openxmlformats-officedocument.presentationml.notesSlide+xml"/>
  <Override PartName="/ppt/notesSlides/source_notesSlide19.xml" ContentType="application/vnd.openxmlformats-officedocument.presentationml.notesSlide+xml"/>
  <Override PartName="/ppt/notesSlides/source_notesSlide20.xml" ContentType="application/vnd.openxmlformats-officedocument.presentationml.notesSlide+xml"/>
  <Override PartName="/ppt/notesSlides/source_notesSlide21.xml" ContentType="application/vnd.openxmlformats-officedocument.presentationml.notesSlide+xml"/>
  <Override PartName="/ppt/notesSlides/source_notesSlide22.xml" ContentType="application/vnd.openxmlformats-officedocument.presentationml.notesSlide+xml"/>
  <Override PartName="/ppt/notesSlides/source_notesSlide23.xml" ContentType="application/vnd.openxmlformats-officedocument.presentationml.notesSlide+xml"/>
  <Override PartName="/ppt/notesSlides/extra_notesSlide9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10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11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  <p:sldId xmlns:ns7="http://schemas.openxmlformats.org/officeDocument/2006/relationships" id="263" ns7:id="rId8"/>
    <p:sldId xmlns:ns8="http://schemas.openxmlformats.org/officeDocument/2006/relationships" id="264" ns8:id="rId9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extra_slideMaster1.xml"/><Relationship Id="rId11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201cf8d9ed664539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7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07464f63838a48df"/><Relationship Type="http://schemas.openxmlformats.org/officeDocument/2006/relationships/notesMaster" Target="../notesMasters/extra_notesMaster1.xml" Id="R7b0c3cee42854a02"/></Relationships>
</file>

<file path=ppt/notesSlides/_rels/extra_notesSlide8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22bea1dfeda24f69"/><Relationship Type="http://schemas.openxmlformats.org/officeDocument/2006/relationships/notesMaster" Target="../notesMasters/extra_notesMaster1.xml" Id="Rbf36b72022614992"/></Relationships>
</file>

<file path=ppt/notesSlides/_rels/extra_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e565e5ee8d3a4de8"/><Relationship Type="http://schemas.openxmlformats.org/officeDocument/2006/relationships/notesMaster" Target="../notesMasters/extra_notesMaster1.xml" Id="Ra7386017615a4fb7"/></Relationships>
</file>

<file path=ppt/notesSlides/_rels/source_notesSlide18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bac421ae64754b92"/><Relationship Type="http://schemas.openxmlformats.org/officeDocument/2006/relationships/notesMaster" Target="../notesMasters/source_notesMaster1.xml" Id="Rb081db260b104b81"/></Relationships>
</file>

<file path=ppt/notesSlides/_rels/source_notesSlide19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de196181e7674d2a"/><Relationship Type="http://schemas.openxmlformats.org/officeDocument/2006/relationships/notesMaster" Target="../notesMasters/source_notesMaster1.xml" Id="R5d5a206fb7dc4531"/></Relationships>
</file>

<file path=ppt/notesSlides/_rels/source_notesSlide20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3687e8b4c4344f72"/><Relationship Type="http://schemas.openxmlformats.org/officeDocument/2006/relationships/notesMaster" Target="../notesMasters/source_notesMaster1.xml" Id="R49468f2cbe9b4a02"/></Relationships>
</file>

<file path=ppt/notesSlides/_rels/source_notesSlide21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e214685cb8d64907"/><Relationship Type="http://schemas.openxmlformats.org/officeDocument/2006/relationships/notesMaster" Target="../notesMasters/source_notesMaster1.xml" Id="Rf17f705f69444ba1"/></Relationships>
</file>

<file path=ppt/notesSlides/_rels/source_notesSlide22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d67a2c39afd04957"/><Relationship Type="http://schemas.openxmlformats.org/officeDocument/2006/relationships/notesMaster" Target="../notesMasters/source_notesMaster1.xml" Id="R7fb4aff2d32641cf"/></Relationships>
</file>

<file path=ppt/notesSlides/_rels/source_notesSlide23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14ff3bd5e7324e5b"/><Relationship Type="http://schemas.openxmlformats.org/officeDocument/2006/relationships/notesMaster" Target="../notesMasters/source_notesMaster1.xml" Id="Rce355e4b494c461d"/></Relationships>
</file>

<file path=ppt/notesSlides/extra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"data/03-twin.json",</a:t>
            </a:r>
          </a:p>
          <a:p xmlns:a="http://schemas.openxmlformats.org/drawingml/2006/main">
            <a:r>
              <a:t>  "scope": "로컬 대규모 공장 시뮬레이션의 연결 상태, 시작·정지, 설비 탐색·제어, 3D 카메라, CSV, 운영 대시보드·워크플로우·매핑 화면을 안내한다. 실제 PLC 제어 또는 외부 OEE 정상 연동을 검증한 문서로 해석하지 않는다.",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"TwinForge API가 http://127.0.0.1:5183, React UI가 http://127.0.0.1:5182에서 실행되어야 한다.",</a:t>
            </a:r>
          </a:p>
          <a:p xmlns:a="http://schemas.openxmlformats.org/drawingml/2006/main">
            <a:r>
              <a:t>    "UI의 /api 및 /hubs 요청은 기본적으로 API 5183으로 프록시된다. 별도 API는 TWIN_API_TARGET 또는 VITE_API_URL 설정을 확인한다.",</a:t>
            </a:r>
          </a:p>
          <a:p xmlns:a="http://schemas.openxmlformats.org/drawingml/2006/main">
            <a:r>
              <a:t>    "이 매뉴얼의 대상은 '로컬 시뮬레이션 · 모의 생산 데이터' 모드다. 1,000대 배치는 UseLargeFactory 설정이 활성화된 경우다.",</a:t>
            </a:r>
          </a:p>
          <a:p xmlns:a="http://schemas.openxmlformats.org/drawingml/2006/main">
            <a:r>
              <a:t>    "화면이 이미 실행 중이면 기존 결과를 먼저 확인한다. 초기화는 공장 상태를 변경하므로 기존 기록이 필요한 작업에서는 누르지 않는다.",</a:t>
            </a:r>
          </a:p>
          <a:p xmlns:a="http://schemas.openxmlformats.org/drawingml/2006/main">
            <a:r>
              <a:t>    "브라우저 다운로드를 허용한다. 원본 수신 경과 시간은 선택 설비 텔레메트리 또는 공장 프레임의 시간 기준이며 데이터 품질 전체를 보증하는 지표는 아니다."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"data/03-twin.json",</a:t>
            </a:r>
          </a:p>
          <a:p xmlns:a="http://schemas.openxmlformats.org/drawingml/2006/main">
            <a:r>
              <a:t>  "scope": "로컬 대규모 공장 시뮬레이션의 연결 상태, 시작·정지, 설비 탐색·제어, 3D 카메라, CSV, 운영 대시보드·워크플로우·매핑 화면을 안내한다. 실제 PLC 제어 또는 외부 OEE 정상 연동을 검증한 문서로 해석하지 않는다.",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"TwinForge API가 http://127.0.0.1:5183, React UI가 http://127.0.0.1:5182에서 실행되어야 한다.",</a:t>
            </a:r>
          </a:p>
          <a:p xmlns:a="http://schemas.openxmlformats.org/drawingml/2006/main">
            <a:r>
              <a:t>    "UI의 /api 및 /hubs 요청은 기본적으로 API 5183으로 프록시된다. 별도 API는 TWIN_API_TARGET 또는 VITE_API_URL 설정을 확인한다.",</a:t>
            </a:r>
          </a:p>
          <a:p xmlns:a="http://schemas.openxmlformats.org/drawingml/2006/main">
            <a:r>
              <a:t>    "이 매뉴얼의 대상은 '로컬 시뮬레이션 · 모의 생산 데이터' 모드다. 1,000대 배치는 UseLargeFactory 설정이 활성화된 경우다.",</a:t>
            </a:r>
          </a:p>
          <a:p xmlns:a="http://schemas.openxmlformats.org/drawingml/2006/main">
            <a:r>
              <a:t>    "화면이 이미 실행 중이면 기존 결과를 먼저 확인한다. 초기화는 공장 상태를 변경하므로 기존 기록이 필요한 작업에서는 누르지 않는다.",</a:t>
            </a:r>
          </a:p>
          <a:p xmlns:a="http://schemas.openxmlformats.org/drawingml/2006/main">
            <a:r>
              <a:t>    "브라우저 다운로드를 허용한다. 원본 수신 경과 시간은 선택 설비 텔레메트리 또는 공장 프레임의 시간 기준이며 데이터 품질 전체를 보증하는 지표는 아니다."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"url": "http://127.0.0.1:5182/"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"data/03-twin.json",</a:t>
            </a:r>
          </a:p>
          <a:p xmlns:a="http://schemas.openxmlformats.org/drawingml/2006/main">
            <a:r>
              <a:t>  "scope": "로컬 대규모 공장 시뮬레이션의 연결 상태, 시작·정지, 설비 탐색·제어, 3D 카메라, CSV, 운영 대시보드·워크플로우·매핑 화면을 안내한다. 실제 PLC 제어 또는 외부 OEE 정상 연동을 검증한 문서로 해석하지 않는다.",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"TwinForge/frontend/forgetwin-web/src/components/FactoryWorkspace.tsx",</a:t>
            </a:r>
          </a:p>
          <a:p xmlns:a="http://schemas.openxmlformats.org/drawingml/2006/main">
            <a:r>
              <a:t>    "TwinForge/frontend/forgetwin-web/src/App.tsx",</a:t>
            </a:r>
          </a:p>
          <a:p xmlns:a="http://schemas.openxmlformats.org/drawingml/2006/main">
            <a:r>
              <a:t>    "TwinForge/frontend/forgetwin-web/src/components/TelemetryPanel.tsx",</a:t>
            </a:r>
          </a:p>
          <a:p xmlns:a="http://schemas.openxmlformats.org/drawingml/2006/main">
            <a:r>
              <a:t>    "TwinForge/frontend/forgetwin-web/src/components/MesSimulationPanel.tsx",</a:t>
            </a:r>
          </a:p>
          <a:p xmlns:a="http://schemas.openxmlformats.org/drawingml/2006/main">
            <a:r>
              <a:t>    "TwinForge/frontend/forgetwin-web/src/components/OeeAnalyzerPanel.tsx",</a:t>
            </a:r>
          </a:p>
          <a:p xmlns:a="http://schemas.openxmlformats.org/drawingml/2006/main">
            <a:r>
              <a:t>    "TwinForge/frontend/forgetwin-web/src/components/NodeMappingWorkspace.tsx",</a:t>
            </a:r>
          </a:p>
          <a:p xmlns:a="http://schemas.openxmlformats.org/drawingml/2006/main">
            <a:r>
              <a:t>    "TwinForge/frontend/forgetwin-web/src/workflow/WorkflowDesigner.tsx",</a:t>
            </a:r>
          </a:p>
          <a:p xmlns:a="http://schemas.openxmlformats.org/drawingml/2006/main">
            <a:r>
              <a:t>    "TwinForge/frontend/forgetwin-web/src/workflow/components/Toolbar.tsx",</a:t>
            </a:r>
          </a:p>
          <a:p xmlns:a="http://schemas.openxmlformats.org/drawingml/2006/main">
            <a:r>
              <a:t>    "TwinForge/frontend/forgetwin-web/vite.config.ts",</a:t>
            </a:r>
          </a:p>
          <a:p xmlns:a="http://schemas.openxmlformats.org/drawingml/2006/main">
            <a:r>
              <a:t>    "TwinForge/README.md"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"https://dubukimch.github.io/manual-twin.html",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"twin-overview",</a:t>
            </a:r>
          </a:p>
          <a:p xmlns:a="http://schemas.openxmlformats.org/drawingml/2006/main">
            <a:r>
              <a:t>  "title": "연결 상태와 데이터 출처 확인",</a:t>
            </a:r>
          </a:p>
          <a:p xmlns:a="http://schemas.openxmlformats.org/drawingml/2006/main">
            <a:r>
              <a:t>  "goal": "실시간 연결, 미리보기, 모의 생산 데이터를 구분하고 갱신 지연을 파악한다.",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"브라우저에서 http://127.0.0.1:5182/를 연다. 상단 '가상 공장'과 '운영 모니터링'이 선택되었는지 확인한다.",</a:t>
            </a:r>
          </a:p>
          <a:p xmlns:a="http://schemas.openxmlformats.org/drawingml/2006/main">
            <a:r>
              <a:t>    "오른쪽 연결 배지에서 '실시간 연결' 여부를 확인한다. '연결 중', '재연결 중', '연결 끊김'이면 이를 먼저 기록한다.",</a:t>
            </a:r>
          </a:p>
          <a:p xmlns:a="http://schemas.openxmlformats.org/drawingml/2006/main">
            <a:r>
              <a:t>    "상단 안내에서 '로컬 시뮬레이션 · 모의 생산 데이터'를 확인한다. 외부 PLC 모드가 표시되면 이 매뉴얼의 모의 공장 전제를 적용하지 않는다.",</a:t>
            </a:r>
          </a:p>
          <a:p xmlns:a="http://schemas.openxmlformats.org/drawingml/2006/main">
            <a:r>
              <a:t>    "안내 오른쪽의 '원본 수신 N초 전'과 '갱신 지연' 표시를 확인한다. 5초를 초과하면 지연 표시가 나타난다.",</a:t>
            </a:r>
          </a:p>
          <a:p xmlns:a="http://schemas.openxmlformats.org/drawingml/2006/main">
            <a:r>
              <a:t>    "설비 가동 현황·가동 비율·점검 필요 설비·모의 출하 완료 카드를 확인한다. 미리보기의 '—'는 측정값 0과 구분한다."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"데이터 출처와 연결 상태를 설명할 수 있고, 미리보기와 수신된 공장 상태를 구분한다. 연결 중단 후 보이는 값은 마지막 수신 상태다.",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"화면이 열리지 않으면 UI 5182 실행 여부를 확인한다.",</a:t>
            </a:r>
          </a:p>
          <a:p xmlns:a="http://schemas.openxmlformats.org/drawingml/2006/main">
            <a:r>
              <a:t>    "UI만 열리고 연결이 끊기면 API 5183과 /hubs 프록시를 확인한 뒤 다시 접속한다.",</a:t>
            </a:r>
          </a:p>
          <a:p xmlns:a="http://schemas.openxmlformats.org/drawingml/2006/main">
            <a:r>
              <a:t>    "원본 시간이 오래되면 실행 정지 여부와 연결 상태를 함께 확인한다. 경과 시간만으로 설비 고장으로 단정하지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"2026-10-23T17:13:40.202Z",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"로컬 모의 공장1000대, 전체 조망, 원본 수신0초 확인.",</a:t>
            </a:r>
          </a:p>
          <a:p xmlns:a="http://schemas.openxmlformats.org/drawingml/2006/main">
            <a:r>
              <a:t>    "sha256": "efc7277f54638760f21b138ddfc1d08ab064c7793873ad9b04677961550bf676"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"twin-running",</a:t>
            </a:r>
          </a:p>
          <a:p xmlns:a="http://schemas.openxmlformats.org/drawingml/2006/main">
            <a:r>
              <a:t>  "title": "업종 선택 후 공장 시작·정지",</a:t>
            </a:r>
          </a:p>
          <a:p xmlns:a="http://schemas.openxmlformats.org/drawingml/2006/main">
            <a:r>
              <a:t>  "goal": "선택 업종의 로컬 시뮬레이션을 실행하고 정지 상태를 확인한다.",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"이미 가동 중이면 업종을 바꾸지 말고 현재 업종과 설비 수를 기록한다. 새 업종으로 시작할 때만 'Ⅱ 정지'를 눌러 정지한다.",</a:t>
            </a:r>
          </a:p>
          <a:p xmlns:a="http://schemas.openxmlformats.org/drawingml/2006/main">
            <a:r>
              <a:t>    "정지 상태에서 '공장 업종' 선택 상자로 업종을 고른다. 가동 중이거나 명령 처리 중이면 업종 변경이 비활성화된다.",</a:t>
            </a:r>
          </a:p>
          <a:p xmlns:a="http://schemas.openxmlformats.org/drawingml/2006/main">
            <a:r>
              <a:t>    "'▶ 시뮬레이션 시작'을 한 번 누르고 명령 처리를 기다린다. 이미 가동 중이면 시작 버튼이 비활성화된다.",</a:t>
            </a:r>
          </a:p>
          <a:p xmlns:a="http://schemas.openxmlformats.org/drawingml/2006/main">
            <a:r>
              <a:t>    "상태가 가동 중으로 바뀌고 설비 목록·3D 장면·수신 틱이 갱신되는지 확인한다. 대규모 모드에서는 1,000대 배치와 제조 구역 필터가 표시된다.",</a:t>
            </a:r>
          </a:p>
          <a:p xmlns:a="http://schemas.openxmlformats.org/drawingml/2006/main">
            <a:r>
              <a:t>    "'Ⅱ 정지'를 눌러 시뮬레이션 정지 표시를 확인한다. 필요하면 같은 업종으로 다시 시작한다.",</a:t>
            </a:r>
          </a:p>
          <a:p xmlns:a="http://schemas.openxmlformats.org/drawingml/2006/main">
            <a:r>
              <a:t>    "'초기화'는 별도 실습에서만 사용한다. 초기화 후에는 설비·누계·상태가 바뀔 수 있으므로 실행 전 필요한 CSV를 먼저 저장한다."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"시작 시 선택 업종의 설비와 갱신 상태가 나타나고, 정지 시 시뮬레이션 정지가 표시된다. 수치는 확률적 고장과 공정 진행에 따라 달라질 수 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"명령 오류 배너가 나타나면 API 응답과 연결 상태를 확인한다. 버튼을 반복해서 누르지 않는다.",</a:t>
            </a:r>
          </a:p>
          <a:p xmlns:a="http://schemas.openxmlformats.org/drawingml/2006/main">
            <a:r>
              <a:t>    "시작 버튼이 비활성화되어 있으면 이미 실행 중인지 확인한다.",</a:t>
            </a:r>
          </a:p>
          <a:p xmlns:a="http://schemas.openxmlformats.org/drawingml/2006/main">
            <a:r>
              <a:t>    "로컬 시뮬레이션 대신 외부 PLC 모드면 제어 허용과 PLC Ack·RunFeedback에 따른 별도 운영 절차가 필요하다."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"assets/screenshots/twin-running.jpg",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"2026-10-23T17:12:44.335Z",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"로컬 시뮬레이션을 정지 후 시작, 1000대 가동 및 수신 틱 증가 확인. 실제 공장 데이터 아님.",</a:t>
            </a:r>
          </a:p>
          <a:p xmlns:a="http://schemas.openxmlformats.org/drawingml/2006/main">
            <a:r>
              <a:t>    "sha256": "2c382c6e6521b3c6f295720ed1bfec2111edeaaa0c6f52d9910a5be22d391dee"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"twin-search",</a:t>
            </a:r>
          </a:p>
          <a:p xmlns:a="http://schemas.openxmlformats.org/drawingml/2006/main">
            <a:r>
              <a:t>  "title": "설비 검색·상태·구역 필터 적용",</a:t>
            </a:r>
          </a:p>
          <a:p xmlns:a="http://schemas.openxmlformats.org/drawingml/2006/main">
            <a:r>
              <a:t>  "goal": "대규모 공장에서 원하는 설비 집합을 좁히고 전체 목록으로 복귀한다.",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'설비 탐색'의 검색창에 현재 보이는 설비 이름 일부를 입력한다. 이름·종류·구역·셀·공정 역할을 검색할 수 있다.",</a:t>
            </a:r>
          </a:p>
          <a:p xmlns:a="http://schemas.openxmlformats.org/drawingml/2006/main">
            <a:r>
              <a:t>    "'모든 상태' 선택 상자에서 필요한 설비 상태를 고른다. 검색어와 상태 조건은 함께 적용된다.",</a:t>
            </a:r>
          </a:p>
          <a:p xmlns:a="http://schemas.openxmlformats.org/drawingml/2006/main">
            <a:r>
              <a:t>    "대규모 배치일 때 '전체 10개 제조 구역' 선택 상자에서 구역을 고른다.",</a:t>
            </a:r>
          </a:p>
          <a:p xmlns:a="http://schemas.openxmlformats.org/drawingml/2006/main">
            <a:r>
              <a:t>    "필터 요약의 '검색 결과 수 / 전체 설비 수'를 확인한다. 결과가 50대를 넘으면 목록 아래 '이전'·'다음'을 사용한다.",</a:t>
            </a:r>
          </a:p>
          <a:p xmlns:a="http://schemas.openxmlformats.org/drawingml/2006/main">
            <a:r>
              <a:t>    "원하는 설비 행을 눌러 오른쪽 설비 정보가 해당 항목으로 바뀌는지 확인한다.",</a:t>
            </a:r>
          </a:p>
          <a:p xmlns:a="http://schemas.openxmlformats.org/drawingml/2006/main">
            <a:r>
              <a:t>    "'필터 초기화'를 눌러 검색어·상태·구역 조건을 모두 해제한다."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"조건에 맞는 설비만 목록에 남고 결과 수가 바뀐다. 조건 변경 시 목록 페이지는 처음으로 돌아간다. 필터 초기화 후 전체 설비를 탐색할 수 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없으면 검색어뿐 아니라 상태와 구역 조건도 확인한다.",</a:t>
            </a:r>
          </a:p>
          <a:p xmlns:a="http://schemas.openxmlformats.org/drawingml/2006/main">
            <a:r>
              <a:t>    "구역 선택이 없으면 대규모 공장 배치인지 확인한다.",</a:t>
            </a:r>
          </a:p>
          <a:p xmlns:a="http://schemas.openxmlformats.org/drawingml/2006/main">
            <a:r>
              <a:t>    "검색과 필터는 탐색 목록을 제한한다. 3D 장면에서 전체 설비가 보이는 것은 오류가 아니다."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"assets/screenshots/twin-search.jpg",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"2026-10-23T17:12:55.678Z",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"robot 검색으로 100/1000대 표시. 검색 결과에만 CSV 적용.",</a:t>
            </a:r>
          </a:p>
          <a:p xmlns:a="http://schemas.openxmlformats.org/drawingml/2006/main">
            <a:r>
              <a:t>    "sha256": "d86e93e2ba85da2f018932bc949949c551658143e898dc91fb0cebea0cdf2992"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"twin-equipment",</a:t>
            </a:r>
          </a:p>
          <a:p xmlns:a="http://schemas.openxmlformats.org/drawingml/2006/main">
            <a:r>
              <a:t>  "title": "설비 상세·카메라·개별 제어",</a:t>
            </a:r>
          </a:p>
          <a:p xmlns:a="http://schemas.openxmlformats.org/drawingml/2006/main">
            <a:r>
              <a:t>  "goal": "선택 설비의 위치와 운영 데이터를 확인하고 가능한 제어를 수행한다.",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"설비 목록의 한 행 또는 3D 장면의 설비를 클릭한다. 오른쪽 '설비 정보'에서 이름과 설비 종류를 대조한다.",</a:t>
            </a:r>
          </a:p>
          <a:p xmlns:a="http://schemas.openxmlformats.org/drawingml/2006/main">
            <a:r>
              <a:t>    "'설비 구역', 원본 좌표, 데이터 상태와 '운영 데이터'의 시각·값을 확인한다.",</a:t>
            </a:r>
          </a:p>
          <a:p xmlns:a="http://schemas.openxmlformats.org/drawingml/2006/main">
            <a:r>
              <a:t>    "'선택 설비로 이동 ↗'를 눌러 선택 대상을 중심으로 카메라를 이동한다.",</a:t>
            </a:r>
          </a:p>
          <a:p xmlns:a="http://schemas.openxmlformats.org/drawingml/2006/main">
            <a:r>
              <a:t>    "장면 아래 '전체 조망', '현장 시점', '평면 보기'를 차례로 선택한다. 드래그는 회전, 우클릭 드래그는 이동, 휠은 확대·축소다.",</a:t>
            </a:r>
          </a:p>
          <a:p xmlns:a="http://schemas.openxmlformats.org/drawingml/2006/main">
            <a:r>
              <a:t>    "가동 중인 로컬 시뮬레이션에서 선택 설비의 '설비 정지'를 누르고 상태 변화를 확인한다. 정지한 설비를 다시 운전할 때 '설비 시작'을 사용한다.",</a:t>
            </a:r>
          </a:p>
          <a:p xmlns:a="http://schemas.openxmlformats.org/drawingml/2006/main">
            <a:r>
              <a:t>    "'알람 이력' 탭에서 수신 이력을 확인한다. 알람 행을 누르면 현재 배치에 존재하는 설비의 정보로 이동한다."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"선택 설비와 상세 정보가 일치하고 카메라 시점이 바뀐다. 허용 조건을 충족하는 경우만 개별 시작·정지 버튼이 활성화된다. 알람은 현재 고장 판정과 별개의 수신 이력이다.",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"미리보기에서는 개별 제어를 할 수 없다. 공장 실행 여부를 먼저 확인한다.",</a:t>
            </a:r>
          </a:p>
          <a:p xmlns:a="http://schemas.openxmlformats.org/drawingml/2006/main">
            <a:r>
              <a:t>    "명령 처리 중에는 다른 설비 명령이 비활성화될 수 있다.",</a:t>
            </a:r>
          </a:p>
          <a:p xmlns:a="http://schemas.openxmlformats.org/drawingml/2006/main">
            <a:r>
              <a:t>    "외부 연동에서 버튼 클릭만으로 제어 성공을 단정하지 않는다. PLC Ack와 RunFeedback을 확인한다.",</a:t>
            </a:r>
          </a:p>
          <a:p xmlns:a="http://schemas.openxmlformats.org/drawingml/2006/main">
            <a:r>
              <a:t>    "3D 장면을 표시할 수 없으면 브라우저의 WebGL 지원과 렌더링 오류 안내를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"assets/screenshots/twin-equipment.jpg",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"2026-10-23T17:13:10.310Z",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"C001 robot 04 선택 및 선택 설비로 카메라 이동. 설비 정보/원본 수신 확인.",</a:t>
            </a:r>
          </a:p>
          <a:p xmlns:a="http://schemas.openxmlformats.org/drawingml/2006/main">
            <a:r>
              <a:t>    "sha256": "054b040bede42df1049b3b86f647e2e4e1e083b29a5f60955beacd7522753300"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"twin-csv",</a:t>
            </a:r>
          </a:p>
          <a:p xmlns:a="http://schemas.openxmlformats.org/drawingml/2006/main">
            <a:r>
              <a:t>  "title": "현재 필터 결과를 설비 CSV로 저장",</a:t>
            </a:r>
          </a:p>
          <a:p xmlns:a="http://schemas.openxmlformats.org/drawingml/2006/main">
            <a:r>
              <a:t>  "goal": "화면에서 선택한 설비 집합을 출처·시간 정보와 함께 내려받는다.",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"공장을 실행하여 미리보기 상태를 벗어난다. 필요한 검색·상태·구역 조건을 적용한다.",</a:t>
            </a:r>
          </a:p>
          <a:p xmlns:a="http://schemas.openxmlformats.org/drawingml/2006/main">
            <a:r>
              <a:t>    "왼쪽 결과 수를 기록한다. 내보내기는 현재 목록 페이지 50대에 한정되지 않고 필터에 맞는 전체 설비가 대상이다.",</a:t>
            </a:r>
          </a:p>
          <a:p xmlns:a="http://schemas.openxmlformats.org/drawingml/2006/main">
            <a:r>
              <a:t>    "상단 '설비 CSV ↓'를 누른다. 브라우저가 저장 위치를 물으면 다운로드 폴더를 선택한다.",</a:t>
            </a:r>
          </a:p>
          <a:p xmlns:a="http://schemas.openxmlformats.org/drawingml/2006/main">
            <a:r>
              <a:t>    "'forgetwin-equipment-YYYY-MM-DD.csv' 파일이 내려받아졌는지 확인한다.",</a:t>
            </a:r>
          </a:p>
          <a:p xmlns:a="http://schemas.openxmlformats.org/drawingml/2006/main">
            <a:r>
              <a:t>    "파일에서 equipmentId, name, state, zone, cell, sourceMode, sourceTimestamp 열을 확인하고 결과 행 수를 필터 결과 수와 비교한다."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"현재 필터 결과가 UTF-8 CSV로 다운로드된다. 출처와 공장 프레임 시간이 포함되며 시간 값이 없는 경우 빈 셀일 수 있다. 날짜가 포함된 파일명은 내보내기 시점 UTC 날짜를 사용한다.",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"CSV 버튼이 비활성화되어 있으면 설비가 없는 미리보기인지 확인한다.",</a:t>
            </a:r>
          </a:p>
          <a:p xmlns:a="http://schemas.openxmlformats.org/drawingml/2006/main">
            <a:r>
              <a:t>    "다운로드가 보이지 않으면 브라우저 다운로드 목록과 차단 표시를 확인한다.",</a:t>
            </a:r>
          </a:p>
          <a:p xmlns:a="http://schemas.openxmlformats.org/drawingml/2006/main">
            <a:r>
              <a:t>    "검색 필터가 0건이면 머리글만 저장될 수 있다. 필터 초기화 후 다시 내보낼 수 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"assets/screenshots/twin-csv.jpg",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"2026-10-23T17:13:20.970Z",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"robot 검색 상태 CSV 버튼 실행. 다운로드 파일 twin-robot-filtered.csv 보관; 필터100대 확인.",</a:t>
            </a:r>
          </a:p>
          <a:p xmlns:a="http://schemas.openxmlformats.org/drawingml/2006/main">
            <a:r>
              <a:t>    "sha256": "c17816b30d5f7a806cee996a292bcf60c099053e830fbbaef3de45693813484d"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"twin-navigation",</a:t>
            </a:r>
          </a:p>
          <a:p xmlns:a="http://schemas.openxmlformats.org/drawingml/2006/main">
            <a:r>
              <a:t>  "title": "운영 대시보드·워크플로우·노드 매핑 탐색",</a:t>
            </a:r>
          </a:p>
          <a:p xmlns:a="http://schemas.openxmlformats.org/drawingml/2006/main">
            <a:r>
              <a:t>  "goal": "현장 보기에서 분석·설계·연동 설정 작업 공간으로 이동하고 각 화면의 역할을 구분한다.",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"상단 '운영 대시보드'를 눌러 공장 상태와 설비 카드, MES Simulation, External OEEAnalyzer, Protocol·Telemetry·Alarm 패널을 찾는다.",</a:t>
            </a:r>
          </a:p>
          <a:p xmlns:a="http://schemas.openxmlformats.org/drawingml/2006/main">
            <a:r>
              <a:t>    "Telemetry의 설비 선택 상자를 바꾸어 선택 설비 이벤트와 시각을 확인한다. External OEEAnalyzer가 비활성화·미연결이면 빈 OEE 값을 정상 연동 결과로 해석하지 않는다.",</a:t>
            </a:r>
          </a:p>
          <a:p xmlns:a="http://schemas.openxmlformats.org/drawingml/2006/main">
            <a:r>
              <a:t>    "MES를 실습할 경우 MES Simulation의 업종을 확인하고 'Start MES'를 누른 뒤 Plan / Actual과 주문·공정 진행을 확인한다. MES는 공장 시뮬레이션과 구분되는 모의 생산 맥락이다.",</a:t>
            </a:r>
          </a:p>
          <a:p xmlns:a="http://schemas.openxmlformats.org/drawingml/2006/main">
            <a:r>
              <a:t>    "상단 '워크플로우'를 눌러 노드 팔레트·캔버스·속성 패널·실행 로그를 확인한다. 새 실습은 'New'로 별도 이름을 지정한 뒤 노드를 배치하고 'Save'로 저장한다.",</a:t>
            </a:r>
          </a:p>
          <a:p xmlns:a="http://schemas.openxmlformats.org/drawingml/2006/main">
            <a:r>
              <a:t>    "워크플로우에서 포트를 연결할 때 자료형과 순환 경고를 확인한다. 'Run'은 워크플로우 시뮬레이션 조작이며 실제 PLC 제어 성공을 의미하지 않는다.",</a:t>
            </a:r>
          </a:p>
          <a:p xmlns:a="http://schemas.openxmlformats.org/drawingml/2006/main">
            <a:r>
              <a:t>    "상단 '노드 매핑'을 눌러 서버 선택→노드 선택→객체·속성 연결 흐름을 확인한다. 현재 서버가 미연결이면 탐색·값 미리보기가 실패할 수 있다.",</a:t>
            </a:r>
          </a:p>
          <a:p xmlns:a="http://schemas.openxmlformats.org/drawingml/2006/main">
            <a:r>
              <a:t>    "설정을 편집했다면 작업 목록 반영과 상단 '설정 저장'을 구분한다. 저장된 서버·매핑 설정은 API 재시작 후 적용된다. 화면 확인만 하는 실습에서는 설정을 변경하지 않고 '가상 공장으로' 복귀한다."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"운영·워크플로우·매핑 화면의 용도를 구분하고 가상 공장으로 복귀할 수 있다. 이 메뉴 전환은 동일한 / 주소 안의 화면 상태 전환이며 별도 URL 경로를 만들지 않는다.",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"OEE의 'Sync now'가 비활성화되면 연동 enabled 설정과 외부 API 상태를 확인한다.",</a:t>
            </a:r>
          </a:p>
          <a:p xmlns:a="http://schemas.openxmlformats.org/drawingml/2006/main">
            <a:r>
              <a:t>    "MES·워크플로우·3D 공장 실행 상태를 서로 같은 실행으로 취급하지 않는다.",</a:t>
            </a:r>
          </a:p>
          <a:p xmlns:a="http://schemas.openxmlformats.org/drawingml/2006/main">
            <a:r>
              <a:t>    "노드 매핑 저장 후 즉시 적용되지 않으면 '재시작 후 적용 대기'와 현재 적용 주소를 확인한다.",</a:t>
            </a:r>
          </a:p>
          <a:p xmlns:a="http://schemas.openxmlformats.org/drawingml/2006/main">
            <a:r>
              <a:t>    "저장하지 않은 매핑 변경이 있으면 나갈 때 경고가 나타날 수 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"assets/screenshots/twin-navigation.jpg",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"2026-10-23T17:13:22.345Z",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"상단 운영 대시보드로 이동, 로컬 모의 생산 지표 및 API 연결 확인.",</a:t>
            </a:r>
          </a:p>
          <a:p xmlns:a="http://schemas.openxmlformats.org/drawingml/2006/main">
            <a:r>
              <a:t>    "sha256": "1cab64de95eec05f466e26cc5110a6b22b458b32b491957752336986a35debfb"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597da05fcbe40d5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622615551f7d4ad3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36f5bdc1e8354599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9eb685b6598e488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7b0b1f3d91ad4fa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0236b72adda4e4d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54B2C-EB82-499B-8F64-A7DAE4527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E322B7-1C60-4520-8AD1-928E137B6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09A28C-B864-42CD-93D5-6A8E4549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049A-06BD-454D-A05D-0B350ED74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0D38F-A088-456B-9E89-45D1BC3A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0C237-0F70-4BA4-A4D1-3CDBB429D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44292-5663-4A84-93DC-E08B638E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99EF9-7589-4986-B1C0-F1F6AB2A4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20F75-4F4C-4C1D-BFB8-D20A5D776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77069-356E-49D5-BB4B-E93CF6DCC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9603d00798a746d0"/><Relationship Type="http://schemas.openxmlformats.org/officeDocument/2006/relationships/slideLayout" Target="../slideLayouts/extra_slideLayout1.xml" Id="R47a2295409694b9b"/><Relationship Type="http://schemas.openxmlformats.org/officeDocument/2006/relationships/slideLayout" Target="../slideLayouts/extra_slideLayout2.xml" Id="R87b2ee8d1b984a2a"/><Relationship Type="http://schemas.openxmlformats.org/officeDocument/2006/relationships/slideLayout" Target="../slideLayouts/extra_slideLayout3.xml" Id="Rcf0530b1b8ac4de5"/><Relationship Type="http://schemas.openxmlformats.org/officeDocument/2006/relationships/slideLayout" Target="../slideLayouts/extra_slideLayout4.xml" Id="R8bbb8f591e9d4ba9"/><Relationship Type="http://schemas.openxmlformats.org/officeDocument/2006/relationships/slideLayout" Target="../slideLayouts/extra_slideLayout5.xml" Id="R04d33da6d57f497b"/><Relationship Type="http://schemas.openxmlformats.org/officeDocument/2006/relationships/slideLayout" Target="../slideLayouts/extra_slideLayout6.xml" Id="R6abfb3307f004385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2295409694b9b"/>
    <p:sldLayoutId xmlns:r="http://schemas.openxmlformats.org/officeDocument/2006/relationships" id="2147483650" r:id="R87b2ee8d1b984a2a"/>
    <p:sldLayoutId xmlns:r="http://schemas.openxmlformats.org/officeDocument/2006/relationships" id="2147483651" r:id="Rcf0530b1b8ac4de5"/>
    <p:sldLayoutId xmlns:r="http://schemas.openxmlformats.org/officeDocument/2006/relationships" id="2147483652" r:id="R8bbb8f591e9d4ba9"/>
    <p:sldLayoutId xmlns:r="http://schemas.openxmlformats.org/officeDocument/2006/relationships" id="2147483653" r:id="R04d33da6d57f497b"/>
    <p:sldLayoutId xmlns:r="http://schemas.openxmlformats.org/officeDocument/2006/relationships" id="2147483654" r:id="R6abfb3307f00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fd281f28d7f64f1b"/><Relationship Type="http://schemas.openxmlformats.org/officeDocument/2006/relationships/image" Target="../media/extra_image9.png" Id="R99577e9b6de14310"/><Relationship Type="http://schemas.openxmlformats.org/officeDocument/2006/relationships/image" Target="../media/extra_image3.jpeg" Id="Rf28742cde152436c"/><Relationship Type="http://schemas.openxmlformats.org/officeDocument/2006/relationships/hyperlink" Target="http://127.0.0.1:5182/" TargetMode="External" Id="Rb1ca9e682b5a4b5b"/><Relationship Type="http://schemas.openxmlformats.org/officeDocument/2006/relationships/notesSlide" Target="../notesSlides/extra_notesSlide7.xml" Id="Rfd4f337a6c83409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39a55fc952b8421c"/><Relationship Type="http://schemas.openxmlformats.org/officeDocument/2006/relationships/notesSlide" Target="../notesSlides/extra_notesSlide8.xml" Id="Rbd02d7897b2b4280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d1dc1d6213cf4eff"/><Relationship Type="http://schemas.openxmlformats.org/officeDocument/2006/relationships/image" Target="../media/source_image90.png" Id="Rb221f8f336824205"/><Relationship Type="http://schemas.openxmlformats.org/officeDocument/2006/relationships/image" Target="../media/source_image91.png" Id="R060b860f100b4210"/><Relationship Type="http://schemas.openxmlformats.org/officeDocument/2006/relationships/image" Target="../media/source_image92.png" Id="R0c07810465da45a8"/><Relationship Type="http://schemas.openxmlformats.org/officeDocument/2006/relationships/image" Target="../media/source_image93.png" Id="R34bef952600740c3"/><Relationship Type="http://schemas.openxmlformats.org/officeDocument/2006/relationships/image" Target="../media/source_image13.jpeg" Id="Re6f6c1369cb74ead"/><Relationship Type="http://schemas.openxmlformats.org/officeDocument/2006/relationships/image" Target="../media/source_image94.png" Id="Rc45551df17ac4892"/><Relationship Type="http://schemas.openxmlformats.org/officeDocument/2006/relationships/image" Target="../media/source_image95.png" Id="R2d02b8419b5b4754"/><Relationship Type="http://schemas.openxmlformats.org/officeDocument/2006/relationships/notesSlide" Target="../notesSlides/source_notesSlide18.xml" Id="R5ca929337fe04471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55d8521c511e479a"/><Relationship Type="http://schemas.openxmlformats.org/officeDocument/2006/relationships/image" Target="../media/source_image96.png" Id="Rb9f1135136ac4a3d"/><Relationship Type="http://schemas.openxmlformats.org/officeDocument/2006/relationships/image" Target="../media/source_image97.png" Id="Rfdd043e0eea34fd1"/><Relationship Type="http://schemas.openxmlformats.org/officeDocument/2006/relationships/image" Target="../media/source_image98.png" Id="R5f3419a9bfe643df"/><Relationship Type="http://schemas.openxmlformats.org/officeDocument/2006/relationships/image" Target="../media/source_image99.png" Id="R3ea7349313234308"/><Relationship Type="http://schemas.openxmlformats.org/officeDocument/2006/relationships/image" Target="../media/source_image14.jpeg" Id="Rae479da12c864c36"/><Relationship Type="http://schemas.openxmlformats.org/officeDocument/2006/relationships/image" Target="../media/source_image100.png" Id="R9aea28a323664199"/><Relationship Type="http://schemas.openxmlformats.org/officeDocument/2006/relationships/image" Target="../media/source_image101.png" Id="R63a6d325cd6f42e7"/><Relationship Type="http://schemas.openxmlformats.org/officeDocument/2006/relationships/notesSlide" Target="../notesSlides/source_notesSlide19.xml" Id="Rc8d65bd50e414c91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d530cd46c4114be5"/><Relationship Type="http://schemas.openxmlformats.org/officeDocument/2006/relationships/image" Target="../media/source_image102.png" Id="R23908607cf174dc9"/><Relationship Type="http://schemas.openxmlformats.org/officeDocument/2006/relationships/image" Target="../media/source_image103.png" Id="R188bb3bc7c0e4247"/><Relationship Type="http://schemas.openxmlformats.org/officeDocument/2006/relationships/image" Target="../media/source_image104.png" Id="R2cd33deebef64d68"/><Relationship Type="http://schemas.openxmlformats.org/officeDocument/2006/relationships/image" Target="../media/source_image105.png" Id="R13fb16d01f5f400b"/><Relationship Type="http://schemas.openxmlformats.org/officeDocument/2006/relationships/image" Target="../media/source_image15.jpeg" Id="Rc7a97c37621541ac"/><Relationship Type="http://schemas.openxmlformats.org/officeDocument/2006/relationships/image" Target="../media/source_image106.png" Id="Re59576b3b4c148d5"/><Relationship Type="http://schemas.openxmlformats.org/officeDocument/2006/relationships/image" Target="../media/source_image107.png" Id="Rb35b5b3b68dc40cd"/><Relationship Type="http://schemas.openxmlformats.org/officeDocument/2006/relationships/notesSlide" Target="../notesSlides/source_notesSlide20.xml" Id="R841c9ce6e9c04ef0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a08f7b044a144d77"/><Relationship Type="http://schemas.openxmlformats.org/officeDocument/2006/relationships/image" Target="../media/source_image108.png" Id="Rb528b6b7c547421d"/><Relationship Type="http://schemas.openxmlformats.org/officeDocument/2006/relationships/image" Target="../media/source_image109.png" Id="R45b6c6fb21b049ab"/><Relationship Type="http://schemas.openxmlformats.org/officeDocument/2006/relationships/image" Target="../media/source_image110.png" Id="R83acc36b47674136"/><Relationship Type="http://schemas.openxmlformats.org/officeDocument/2006/relationships/image" Target="../media/source_image111.png" Id="R64feff420a1f4ceb"/><Relationship Type="http://schemas.openxmlformats.org/officeDocument/2006/relationships/image" Target="../media/source_image112.png" Id="R18e2af6d6ce44a98"/><Relationship Type="http://schemas.openxmlformats.org/officeDocument/2006/relationships/image" Target="../media/source_image16.jpeg" Id="Rf907e1ebe0ab48e3"/><Relationship Type="http://schemas.openxmlformats.org/officeDocument/2006/relationships/image" Target="../media/source_image113.png" Id="Rf5a1a4b176ea417f"/><Relationship Type="http://schemas.openxmlformats.org/officeDocument/2006/relationships/image" Target="../media/source_image114.png" Id="R1681f57170c24949"/><Relationship Type="http://schemas.openxmlformats.org/officeDocument/2006/relationships/notesSlide" Target="../notesSlides/source_notesSlide21.xml" Id="R273c62d3e2a04b9f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adc55993fd2245dd"/><Relationship Type="http://schemas.openxmlformats.org/officeDocument/2006/relationships/image" Target="../media/source_image115.png" Id="R86158d2eb355406f"/><Relationship Type="http://schemas.openxmlformats.org/officeDocument/2006/relationships/image" Target="../media/source_image116.png" Id="Re32fa730b9b64646"/><Relationship Type="http://schemas.openxmlformats.org/officeDocument/2006/relationships/image" Target="../media/source_image117.png" Id="R8623d12baa694035"/><Relationship Type="http://schemas.openxmlformats.org/officeDocument/2006/relationships/image" Target="../media/source_image118.png" Id="Rb6bfea19b0114d71"/><Relationship Type="http://schemas.openxmlformats.org/officeDocument/2006/relationships/image" Target="../media/source_image17.jpeg" Id="R55a08291ec4349fb"/><Relationship Type="http://schemas.openxmlformats.org/officeDocument/2006/relationships/image" Target="../media/source_image119.png" Id="R1aaa106aec7c4e67"/><Relationship Type="http://schemas.openxmlformats.org/officeDocument/2006/relationships/image" Target="../media/source_image120.png" Id="R548b961cad104cf1"/><Relationship Type="http://schemas.openxmlformats.org/officeDocument/2006/relationships/notesSlide" Target="../notesSlides/source_notesSlide22.xml" Id="Rb3a41207f28c4761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3141c0f734d54c70"/><Relationship Type="http://schemas.openxmlformats.org/officeDocument/2006/relationships/image" Target="../media/source_image121.png" Id="Rfa7ebaf0e5cc47a8"/><Relationship Type="http://schemas.openxmlformats.org/officeDocument/2006/relationships/image" Target="../media/source_image122.png" Id="Rb685551bea02472f"/><Relationship Type="http://schemas.openxmlformats.org/officeDocument/2006/relationships/image" Target="../media/source_image123.png" Id="R6ce26332f26b4d8c"/><Relationship Type="http://schemas.openxmlformats.org/officeDocument/2006/relationships/image" Target="../media/source_image124.png" Id="Rcd5fa4fa18f3448c"/><Relationship Type="http://schemas.openxmlformats.org/officeDocument/2006/relationships/image" Target="../media/source_image125.png" Id="R433de71b087f41b1"/><Relationship Type="http://schemas.openxmlformats.org/officeDocument/2006/relationships/image" Target="../media/source_image18.jpeg" Id="R19700dda60584d67"/><Relationship Type="http://schemas.openxmlformats.org/officeDocument/2006/relationships/image" Target="../media/source_image19.jpeg" Id="R6699de40dac54ef8"/><Relationship Type="http://schemas.openxmlformats.org/officeDocument/2006/relationships/image" Target="../media/source_image126.png" Id="Rb3f599e9edbe4599"/><Relationship Type="http://schemas.openxmlformats.org/officeDocument/2006/relationships/image" Target="../media/source_image127.png" Id="R9b7c5a9476b843b4"/><Relationship Type="http://schemas.openxmlformats.org/officeDocument/2006/relationships/notesSlide" Target="../notesSlides/source_notesSlide23.xml" Id="R05fb1f0054244cd4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4e18a779768f4bfd"/><Relationship Type="http://schemas.openxmlformats.org/officeDocument/2006/relationships/image" Target="../media/extra_image10.png" Id="R8fee712de0c3441b"/><Relationship Type="http://schemas.openxmlformats.org/officeDocument/2006/relationships/image" Target="../media/extra_image11.png" Id="R1ef9cbd766da4c02"/><Relationship Type="http://schemas.openxmlformats.org/officeDocument/2006/relationships/image" Target="../media/extra_image12.png" Id="Rddd755cc8840423f"/><Relationship Type="http://schemas.openxmlformats.org/officeDocument/2006/relationships/hyperlink" Target="https://dubukimch.github.io/manual-twin.html" TargetMode="External" Id="R5c2090be5adf4c0b"/><Relationship Type="http://schemas.openxmlformats.org/officeDocument/2006/relationships/notesSlide" Target="../notesSlides/extra_notesSlide9.xml" Id="R7f269d7be5b3452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6D102669-B8AC-4B36-B854-1081E30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A32CE636-A403-4589-9EEA-CAFAD32E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403C0-A74D-4C33-B493-FC61832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D09B25AE-C683-4868-B014-B06319D8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B3127-4481-40A6-91C3-486D0879DC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77e9b6de14310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F32BD8C6-4810-4ACE-9299-D623F886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F59A6072-D88A-4EA6-AFD9-28F7C39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BCC36B30-4C13-4FA1-901E-A2DD5884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3D 모의 공장에서 설비를 찾고 운영 근거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822ACDCA-19A0-45BA-9211-14F5C699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6개 동작 · 실제 캡처 6장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27C11-5088-4641-8E25-51FAB5A06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42cde152436c"/>
          <a:stretch xmlns:a="http://schemas.openxmlformats.org/drawingml/2006/main"/>
        </p:blipFill>
        <p:spPr>
          <a:xfrm xmlns:a="http://schemas.openxmlformats.org/drawingml/2006/main">
            <a:off x="8452896" y="2762250"/>
            <a:ext cx="5192207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EFE5B72F-79AB-4C26-9E94-54DA04E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D4D08A7E-707F-4C77-A3F5-9D98555B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975B5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b1ca9e682b5a4b5b"/>
              </a:rPr>
              <a:t>http://127.0.0.1:5182/</a:t>
            </a:r>
          </a:p>
        </p:txBody>
      </p:sp>
    </p:spTree>
    <p:extLst>
      <p:ext uri="{BB962C8B-B14F-4D97-AF65-F5344CB8AC3E}">
        <p14:creationId xmlns:p14="http://schemas.microsoft.com/office/powerpoint/2010/main" val="2033034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451A739B-8AA0-447F-BC58-BC232723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170B99B7-A617-4BD7-9A74-414FDD2C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1A1ED-E8A6-4287-BD46-21B4B0D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08CDC4E5-023B-4243-8513-62D3AE4C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21AB3C94-56EC-471F-BD58-B88BB9B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FB3DA5AA-8CB7-492D-A198-EDFDB8B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960AD0A6-B0B2-47AE-B29E-C42AFA3E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E2A0336F-386C-4F51-B17B-A177EB99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TwinForge API가 http://127.0.0.1:5183, React UI가 http://127.0.0.1:5182에서 실행되어야 한다.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BD06BF94-DF35-4A1F-B7AD-E0981473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8C519E25-D6C7-4A1A-A9FC-BF135EE6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UI의 /api 및 /hubs 요청은 기본적으로 API 5183으로 프록시된다. 별도 API는 TWIN_API_TARGET 또는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VITE_API_URL 설정을 확인한다.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39DC91CE-B52F-4121-97C1-51628EAA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148B3574-2C53-4259-A2AD-E8DE4CC8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 매뉴얼의 대상은 '로컬 시뮬레이션 · 모의 생산 데이터' 모드다. 1,000대 배치는 UseLargeFactory 설정이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활성화된 경우다.</a:t>
            </a:r>
          </a:p>
        </p:txBody>
      </p:sp>
      <p:sp>
        <p:nvSpPr>
          <p:cNvPr id="13" name="extra-text-11">
            <a:extLst xmlns:a="http://schemas.openxmlformats.org/drawingml/2006/main">
              <a:ext uri="{FF2B5EF4-FFF2-40B4-BE49-F238E27FC236}">
                <a16:creationId xmlns:a16="http://schemas.microsoft.com/office/drawing/2014/main" id="{8E5D210C-BCE2-4677-B634-90BBD653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extra-text-12">
            <a:extLst xmlns:a="http://schemas.openxmlformats.org/drawingml/2006/main">
              <a:ext uri="{FF2B5EF4-FFF2-40B4-BE49-F238E27FC236}">
                <a16:creationId xmlns:a16="http://schemas.microsoft.com/office/drawing/2014/main" id="{BF965311-8F6B-4F36-AAE4-EFA8024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화면이 이미 실행 중이면 기존 결과를 먼저 확인한다. 초기화는 공장 상태를 변경하므로 기존 기록이 필요한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작업에서는 누르지 않는다.</a:t>
            </a:r>
          </a:p>
        </p:txBody>
      </p:sp>
      <p:sp>
        <p:nvSpPr>
          <p:cNvPr id="15" name="extra-text-13">
            <a:extLst xmlns:a="http://schemas.openxmlformats.org/drawingml/2006/main">
              <a:ext uri="{FF2B5EF4-FFF2-40B4-BE49-F238E27FC236}">
                <a16:creationId xmlns:a16="http://schemas.microsoft.com/office/drawing/2014/main" id="{A8ADE40A-EA7C-4230-8B93-EC77F2F5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extra-text-14">
            <a:extLst xmlns:a="http://schemas.openxmlformats.org/drawingml/2006/main">
              <a:ext uri="{FF2B5EF4-FFF2-40B4-BE49-F238E27FC236}">
                <a16:creationId xmlns:a16="http://schemas.microsoft.com/office/drawing/2014/main" id="{B0E7D591-7B07-4DA4-9D56-6784FB7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브라우저 다운로드를 허용한다. 원본 수신 경과 시간은 선택 설비 텔레메트리 또는 공장 프레임의 시간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기준이며 데이터 품질 전체를 보증하는 지표는 아니다.</a:t>
            </a:r>
          </a:p>
        </p:txBody>
      </p:sp>
      <p:sp>
        <p:nvSpPr>
          <p:cNvPr id="17" name="extra-text-15">
            <a:extLst xmlns:a="http://schemas.openxmlformats.org/drawingml/2006/main">
              <a:ext uri="{FF2B5EF4-FFF2-40B4-BE49-F238E27FC236}">
                <a16:creationId xmlns:a16="http://schemas.microsoft.com/office/drawing/2014/main" id="{535BCAA8-6237-4D44-8960-256C830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8" name="extra-text-16">
            <a:extLst xmlns:a="http://schemas.openxmlformats.org/drawingml/2006/main">
              <a:ext uri="{FF2B5EF4-FFF2-40B4-BE49-F238E27FC236}">
                <a16:creationId xmlns:a16="http://schemas.microsoft.com/office/drawing/2014/main" id="{EB6C537A-8C1C-4730-AB15-75065967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57975"/>
            <a:ext cx="1381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대규모 공장 시뮬레이션의 연결 상태, 시작·정지, 설비 탐색·제어, 3D 카메라, CSV, 운영 대시보드·워크플로우·매핑 화면을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안내한다. 실제 PLC 제어 또는 외부 OEE 정상 연동을 검증한 문서로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18313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056CAD5E-0E23-4435-B430-79C9A85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54D5E91-AB40-4A5D-9B90-4C10C12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5E89-9134-4FAD-B3C9-DF679445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7F902F-28A6-4DAC-9297-E6E68AC0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5FDBE92-6104-4F55-87E6-9B97B70A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공장 데이터의 출처 읽기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C4746E9-0266-42C2-AE74-1C3E77A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실시간 연결과 모의 생산, 마지막 수신 시각을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0CAD7-F44D-47FC-BC77-883573F39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1f8f336824205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2DC7AAD-7035-4C6E-BCA3-3C8FE79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24034BA-E204-400B-8A99-571C554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공장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7962782-75A2-4749-BCE2-55388BE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공장 · 운영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모니터링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5295B-7A36-4AF2-9CE0-24D3C93A1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b860f100b4210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55E51C0-743B-46CC-92AE-7D30323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B77484AC-C2C8-4BB3-8457-3F2D9B1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연결과 출처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5381BDE-3CAF-414E-949B-3EF8120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연결 배지 · 로컬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시뮬레이션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F0E68-90BC-4F79-96B2-331C31E15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7810465da45a8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CA9F82E-F191-45ED-BB58-FC818566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436CA04D-A994-4CD7-B2B0-239FB29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갱신 지연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D1C0E1C-36C2-4A77-971B-6EA69305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원본 수신 N초 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갱신 지연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6707F-F859-4385-9768-DE62A7FED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ef952600740c3"/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154CB499-7FE5-4A77-B22F-67BC69A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5D8BFE55-17ED-4BF1-BE52-30B6747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공장 현황 읽기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1348BAB6-436B-4297-9ABF-7F0D9CC4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가동 설비 · 비율 · 모의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출하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939DA-DB9E-4B69-B9C3-40660970C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6c1369cb74ead"/>
          <a:srcRect xmlns:a="http://schemas.openxmlformats.org/drawingml/2006/main" l="1000" t="0" r="2000" b="26000"/>
          <a:stretch xmlns:a="http://schemas.openxmlformats.org/drawingml/2006/main"/>
        </p:blipFill>
        <p:spPr>
          <a:xfrm xmlns:a="http://schemas.openxmlformats.org/drawingml/2006/main">
            <a:off x="5732218" y="2305050"/>
            <a:ext cx="7356964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7AE63283-3DBB-47B3-911B-788B279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9630F-BBE6-4C5A-AD79-901E5C61B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551df17ac4892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6487AE64-7C66-4294-BE82-02FF9A6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값은 로컬 모의 생산 데이터입니다. 연결 중단 후 남은 값은 마지막 수신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상태입니다.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2EB1D-4F26-4D54-BF83-47EA29F31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2b8419b5b4754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A862330E-9DF0-4718-9773-3BBED86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공장 현황과 마지막 수신 상태가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미리보기의 ‘—’는 측정값 0과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563204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9FB050F6-5175-42FC-AD60-6BCE5F9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4808266-3752-4062-B1A3-CD2F502E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2FA73-D8F0-4F70-BB82-DA229D9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748E47-59ED-4D9E-A03E-1D6390B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3104204-D73C-4203-8264-E50452F1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공장 시작·정지하기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800D6EF-BBBA-49D7-B17D-97EFA8B0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업종의 시뮬레이션과 수신 갱신을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BA999-0F98-4AF5-BBE8-2A8B824AC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1135136ac4a3d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AC30B6C-A3F1-47FC-AAC6-C629CDCC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5918084-C901-41BC-8890-F74A11ED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업종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40EE7D95-3D59-42B9-B643-623A5298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업종 변경은 정지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상태에서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167BC-CE04-4AAF-88FE-9A3E111646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043e0eea34fd1"/>
          <a:stretch xmlns:a="http://schemas.openxmlformats.org/drawingml/2006/main"/>
        </p:blipFill>
        <p:spPr>
          <a:xfrm xmlns:a="http://schemas.openxmlformats.org/drawingml/2006/main">
            <a:off x="638175" y="35401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FB2A813-5628-447C-BE58-95DAD206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592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026FB5D-5C87-4FB3-AE16-5576A171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115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시뮬레이션 시작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2442D65F-5324-4A2A-900C-836D79E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211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▶ 시뮬레이션 시작 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번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30D9A-075E-45BB-82A3-009442480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419a9bfe643df"/>
          <a:stretch xmlns:a="http://schemas.openxmlformats.org/drawingml/2006/main"/>
        </p:blipFill>
        <p:spPr>
          <a:xfrm xmlns:a="http://schemas.openxmlformats.org/drawingml/2006/main">
            <a:off x="638175" y="47275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D16952CC-5867-4856-9BB7-F1A2CE87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66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E3180DA-1EB8-4227-8667-D0FC6474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990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실행과 갱신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CE8A25E-0C47-4844-B6C5-C2AEDFCB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085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 목록 · 3D · 수신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틱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D8ABB-4349-4417-8B8C-44E9CC4E1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7349313234308"/>
          <a:stretch xmlns:a="http://schemas.openxmlformats.org/drawingml/2006/main"/>
        </p:blipFill>
        <p:spPr>
          <a:xfrm xmlns:a="http://schemas.openxmlformats.org/drawingml/2006/main">
            <a:off x="638175" y="5915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B3FDF1A-7E3A-4F4C-8732-6697DDC8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11190578-F9A1-4F8C-97F3-6078312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86450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정지 후 필요 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재시작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3CD5E3EC-1B97-4D43-9CAC-B38C6141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Ⅱ 정지 → 필요 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재시작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862E2-F7AF-4025-BBD3-DCCA29E15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79da12c864c36"/>
          <a:srcRect xmlns:a="http://schemas.openxmlformats.org/drawingml/2006/main" l="1000" t="11000" r="2000" b="26000"/>
          <a:stretch xmlns:a="http://schemas.openxmlformats.org/drawingml/2006/main"/>
        </p:blipFill>
        <p:spPr>
          <a:xfrm xmlns:a="http://schemas.openxmlformats.org/drawingml/2006/main">
            <a:off x="5089944" y="2305050"/>
            <a:ext cx="8641513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12D634B9-DF0F-4E5B-A4F3-C524569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E252C-6FD6-49F5-AA08-592A69DBF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a28a323664199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D2397187-FE72-45B9-A2A7-F1ACDB7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정지 직후 원본 수신 지연이 보이는 캡처입니다. 배지와 원본 시각을 함께 확인합니다.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5B185-5F46-4ACE-99E5-2C8BCD76B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6d325cd6f42e7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DFB853CC-2FB0-4FDD-B608-A11E3596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공장이 실행되고 정지 명령을 확인할 수 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수와 상태는 업종·모드에 따라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255718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121134CA-B335-4717-A9E7-EDAC68B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6ADCBA4-ED4A-4825-8676-2493D156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EB2E-30DA-4C1F-9155-3C71231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FD35D1-7022-4C30-BAC6-D289BA9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19EC5C-3015-4AAA-96EA-96AC776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검색과 구역 필터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D3E48DB-3EBF-4545-B002-872FA60C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대규모 공장에서 필요한 설비 집합만 탐색합니다.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C52F-1703-4535-B97B-15BE1AAEC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08607cf174dc9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6C86740-DD0D-4618-BB0E-47EB10E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5E8393F-CF6B-4F44-ACEE-C47C611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검색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BCE1D66-55A0-4CC6-8C67-C4AC3FE7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이름 · 종류 · 구역 · 셀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공정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6E993-84B0-466C-813B-D8A8E1FFD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bb3bc7c0e4247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CC800E1-90CA-452C-AF5A-FCF2672E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D6FDC06F-FAAD-4D12-ADC0-F5C90BC9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상태와 구역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4333607-E722-4874-8B92-5B309E82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· 제조 구역 함께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E0493-D68C-4D58-98C3-85073090C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33deebef64d68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FE39D5B-A69B-49FD-BF18-1C8A7CD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AF4EB76-58CD-4F25-8D67-180AAAE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결과에서 설비 선택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C7ED8EA3-462A-499A-ADA4-C096968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결과 수 확인 → 설비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행 선택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E546-1A0E-4AEE-80FA-D33ADA853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b16d01f5f400b"/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7C47BF23-2FC4-433A-941F-D16D808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ECFF669E-6364-4774-917D-E70160C6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전체 설비로 복귀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C55DE30B-FA8C-4693-B14B-2A504CF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필터 초기화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46DE4-4E1D-4F60-AC76-20B5377ED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97c37621541ac"/>
          <a:srcRect xmlns:a="http://schemas.openxmlformats.org/drawingml/2006/main" l="1000" t="42000" r="2000" b="1000"/>
          <a:stretch xmlns:a="http://schemas.openxmlformats.org/drawingml/2006/main"/>
        </p:blipFill>
        <p:spPr>
          <a:xfrm xmlns:a="http://schemas.openxmlformats.org/drawingml/2006/main">
            <a:off x="4635127" y="2305050"/>
            <a:ext cx="9551146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F17B92C-3B73-4540-8E57-936A5EA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56C06-24F8-4312-B7D1-563109AA3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576b3b4c148d5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271452D0-6BFF-4CF5-B208-DA3CE1C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필터는 탐색 목록을 제한합니다. 3D에 전체 설비가 보일 수 있으며 구역 필터는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대규모 배치에서 표시됩니다.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52997-F171-4D72-A979-FB3781213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b5b3b68dc40cd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3A4C5376-8E3F-48F8-99B9-89D6AFF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조건에 맞는 설비와 결과 수가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50대 초과 시 이전·다음으로 목록을 넘깁니다.</a:t>
            </a:r>
          </a:p>
        </p:txBody>
      </p:sp>
    </p:spTree>
    <p:extLst>
      <p:ext uri="{BB962C8B-B14F-4D97-AF65-F5344CB8AC3E}">
        <p14:creationId xmlns:p14="http://schemas.microsoft.com/office/powerpoint/2010/main" val="1968802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">
            <a:extLst xmlns:a="http://schemas.openxmlformats.org/drawingml/2006/main">
              <a:ext uri="{FF2B5EF4-FFF2-40B4-BE49-F238E27FC236}">
                <a16:creationId xmlns:a16="http://schemas.microsoft.com/office/drawing/2014/main" id="{C4687433-D4AA-4FDA-B9DA-FB9EF3D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7D98A8A-0615-4471-8466-C0B08339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1FADF-7E61-47C6-A8CE-5F04883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B396E5-9789-4979-95D5-0B0EAA6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F861430-8387-4FBD-8EDB-50A77C52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상세와 시점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1AAD70C-A695-493B-9625-A16DB6C0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설비의 값·위치·제어 조건을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E7EB9-7C30-4B3E-BC4E-46ED58F93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8b6b7c547421d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92889C2-16B7-4EB0-B3E2-0A9BEDF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4DF47ED-678D-4319-8B3A-6AE58CC1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하나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A5A89D1-96F0-40F8-983D-2D6188A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목록 · 3D 선택 후 이름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0887-77D8-4FB4-850B-AFD8634A4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6c6fb21b049ab"/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6A6ECA2-FCED-4B13-A824-49D6706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3B939DA-6710-43E0-BCA4-53873EB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 데이터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57C4BE96-D925-4B31-8420-5A523A54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구역 · 좌표 · 원본 값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86549-7FEB-4209-8E7C-838AF1386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cc36b47674136"/>
          <a:stretch xmlns:a="http://schemas.openxmlformats.org/drawingml/2006/main"/>
        </p:blipFill>
        <p:spPr>
          <a:xfrm xmlns:a="http://schemas.openxmlformats.org/drawingml/2006/main">
            <a:off x="638175" y="462438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75CF677A-F654-4C6D-8470-6B1CAFC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348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030C2F2-7B02-4772-82B0-5306802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9581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설비로 이동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3FBBB91-DD89-483C-AF0D-46C9D56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05388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설비로 이동 ↗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653B4-CAD9-460A-9577-F20AE3A3F5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ff420a1f4ceb"/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98D4415-545C-4E2F-9EBE-80BECD1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A7D9BCE-B0C1-45EE-AAA5-B55802B6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허용된 개별 제어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BA37A332-035D-4E0E-8090-A57907A2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실행 중 설비 정지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· 시작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B39A8-1639-404A-B905-64F79E03C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2af6d6ce44a98"/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FF77D68A-89D3-43A2-BA3C-9B4CA2A0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97A2DD16-06C7-4724-B924-B78560A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알람 이력 확인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9ED42950-CD8E-4A9C-BD9E-4845604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알람 이력의 수신 기록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36908-F5A5-45DC-9F7F-8DB5A26D2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7e1ebe0ab48e3"/>
          <a:srcRect xmlns:a="http://schemas.openxmlformats.org/drawingml/2006/main" l="1000" t="44000" r="2000" b="1000"/>
          <a:stretch xmlns:a="http://schemas.openxmlformats.org/drawingml/2006/main"/>
        </p:blipFill>
        <p:spPr>
          <a:xfrm xmlns:a="http://schemas.openxmlformats.org/drawingml/2006/main">
            <a:off x="4461470" y="2305050"/>
            <a:ext cx="9898460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1C3C18E4-DDB0-418A-9D5D-8FC7F757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sp>
        <p:nvSpPr>
          <p:cNvPr id="29" name="screenshot-annotation-1">
            <a:extLst xmlns:a="http://schemas.openxmlformats.org/drawingml/2006/main">
              <a:ext uri="{FF2B5EF4-FFF2-40B4-BE49-F238E27FC236}">
                <a16:creationId xmlns:a16="http://schemas.microsoft.com/office/drawing/2014/main" id="{551FD22D-F7F5-43C5-905A-80CC5FD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276" y="418071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5B5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" name="screenshot-annotation-2">
            <a:extLst xmlns:a="http://schemas.openxmlformats.org/drawingml/2006/main">
              <a:ext uri="{FF2B5EF4-FFF2-40B4-BE49-F238E27FC236}">
                <a16:creationId xmlns:a16="http://schemas.microsoft.com/office/drawing/2014/main" id="{70BAFF83-30E8-475C-B2C4-0A421B14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74" y="288340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5B5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screenshot-annotation-3">
            <a:extLst xmlns:a="http://schemas.openxmlformats.org/drawingml/2006/main">
              <a:ext uri="{FF2B5EF4-FFF2-40B4-BE49-F238E27FC236}">
                <a16:creationId xmlns:a16="http://schemas.microsoft.com/office/drawing/2014/main" id="{CC00C81F-53C5-440E-A0C3-1F5A17F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321" y="236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5B5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042A9F-4216-49FE-9854-830CDEDDE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1a4b176ea417f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3" name="text-22">
            <a:extLst xmlns:a="http://schemas.openxmlformats.org/drawingml/2006/main">
              <a:ext uri="{FF2B5EF4-FFF2-40B4-BE49-F238E27FC236}">
                <a16:creationId xmlns:a16="http://schemas.microsoft.com/office/drawing/2014/main" id="{579F0FF7-45CA-40FC-B10D-B61D80EA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알람은 수신 이력입니다. 외부 PLC 제어 성공은 버튼 클릭과 별도로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Ack·RunFeedback을 확인합니다.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EAD15-77BD-4454-AEE2-A16FD9AD9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1f57170c24949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5" name="text-23">
            <a:extLst xmlns:a="http://schemas.openxmlformats.org/drawingml/2006/main">
              <a:ext uri="{FF2B5EF4-FFF2-40B4-BE49-F238E27FC236}">
                <a16:creationId xmlns:a16="http://schemas.microsoft.com/office/drawing/2014/main" id="{A8F59318-22A6-43D5-90A3-EE97288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설비와 정보가 일치하고 카메라가 이동합니다.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허용 조건을 충족할 때만 개별 제어가 활성화됩니다.</a:t>
            </a:r>
          </a:p>
        </p:txBody>
      </p:sp>
    </p:spTree>
    <p:extLst>
      <p:ext uri="{BB962C8B-B14F-4D97-AF65-F5344CB8AC3E}">
        <p14:creationId xmlns:p14="http://schemas.microsoft.com/office/powerpoint/2010/main" val="244679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5623244F-F90D-4E36-A2FA-00B8250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3577D73-5013-454E-8886-0AAA97AE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35B4A-642F-447F-B37D-0E6270E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847C16-78CB-4409-BFCA-95D5AB6F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D0EB623-06E9-4F2F-B94C-E346621D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설비를 CSV로 저장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3EB945C-60EC-4143-8C3A-0809B80A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설비 집합을 출처와 원본 시각까지 보관합니다.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287FF-98AB-4E7E-8138-B05488DE1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58d2eb355406f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7C1329F-F0DF-4C10-BCDB-0D88916B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27E21D1-AAB6-4DDA-A724-F087E26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내보낼 설비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2C330F1-1BB5-4313-9A05-64E84346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· 상태 · 구역 조건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적용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744B1-C4EF-4710-9D6B-9DA49AE69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fa730b9b64646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B9E870E-6BD6-47EA-A892-357A36C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CBCA13E-CC36-4859-875B-25F4BA2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CSV 다운로드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9247D45-6FAF-45B7-A4F0-6BB3E20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상단 설비 CSV ↓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FC4E3-714A-4AE6-8C43-28FB0B1D3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3d12baa694035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4430108F-85DF-4A0B-BD65-8E2073AB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F850265-0C1F-40D9-BE6B-C152DBC3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파일과 행 수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248F9F4F-E7D1-45B6-A8E7-3305EE68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행 수와 결과 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A34CB-3C3A-4235-A540-F3958CE2F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fea19b0114d71"/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8B2D5A4-2D71-433F-AFC4-5C68D8E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678A05FF-A001-471F-A98D-DD38A71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출처와 시각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B525C96-4A07-4EAA-89AF-792F12A3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sourceMode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sourceTimestamp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40E35-7990-4CEC-A91F-07D2672D1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08291ec4349fb"/>
          <a:srcRect xmlns:a="http://schemas.openxmlformats.org/drawingml/2006/main" l="1000" t="11000" r="2000" b="16000"/>
          <a:stretch xmlns:a="http://schemas.openxmlformats.org/drawingml/2006/main"/>
        </p:blipFill>
        <p:spPr>
          <a:xfrm xmlns:a="http://schemas.openxmlformats.org/drawingml/2006/main">
            <a:off x="5681828" y="2305050"/>
            <a:ext cx="7457744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9526CDC8-C66A-4D90-8CC0-21B16EA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9206F-3A76-492B-8EAC-DB52757AE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a106aec7c4e67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9661698D-C696-42D9-97E7-47FF5889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미리보기에서는 버튼이 비활성화됩니다. 원본 시간이 없으면 빈 셀이며 파일명 날짜는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UTC 기준입니다.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7B5E4-A7DB-45ED-B9D8-37F2D0C31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b961cad104cf1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E768FB34-8D57-4ECE-9FC2-4EFFF5A2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페이지가 아닌 필터 전체 설비가 저장됩니다.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행 수를 화면의 필터 결과 수와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22483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">
            <a:extLst xmlns:a="http://schemas.openxmlformats.org/drawingml/2006/main">
              <a:ext uri="{FF2B5EF4-FFF2-40B4-BE49-F238E27FC236}">
                <a16:creationId xmlns:a16="http://schemas.microsoft.com/office/drawing/2014/main" id="{4A085C07-37FF-48DB-ADED-F06C0BE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CE45B42-1609-46CC-B4BA-7B9F1875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0DD08-D95A-4A7B-A825-E11B0F3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7C65FB-6A5F-47F7-B95B-8D72C0F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B348965-BE88-47B7-9212-0B8F82F3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운영·설계·매핑 화면 둘러보기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A1EC80-E0F3-4EBA-9374-F54B38AE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분석, 모의 생산, 설계와 연동 설정의 역할을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0E033-6492-4B9C-8F78-58BFE2478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ebaf0e5cc47a8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9452CE6-77A1-43E2-A46D-8F9E1CD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A36AD24-C218-426A-8B63-C1521A6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 대시보드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1F88B23-565E-4FA1-A415-A4042DA5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 · 이벤트 · 시각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E2233-8736-4AD4-A930-6A3547403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551bea02472f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C1D2FA3-F297-4085-9AAE-2639B489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394D3F94-0C63-450A-8580-2A20764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MES 구분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D27E586D-AA06-411C-9D4F-AC09C27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업종 · 계획/실적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3621F-123F-4146-9C17-77182C41D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26332f26b4d8c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F9456F88-9E7C-484F-A55F-D03FB38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87D8183-1558-4147-832F-CFA02E68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워크플로우 탐색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B0ED6BA8-E293-49C4-931E-B5693C8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New / Save / Run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80D9F-E589-4172-A9FB-A9D09C199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fa4fa18f3448c"/>
          <a:stretch xmlns:a="http://schemas.openxmlformats.org/drawingml/2006/main"/>
        </p:blipFill>
        <p:spPr>
          <a:xfrm xmlns:a="http://schemas.openxmlformats.org/drawingml/2006/main">
            <a:off x="638175" y="5210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D4FB1D2-D1B2-4AB7-99EF-5AD457CB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BDAE0569-4CF1-447F-9881-6DFAA888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81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노드 매핑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28AD1916-8772-4FAC-96CB-341D7156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서버 · 노드 · 속성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AB434-A45D-4B64-B19C-36B68A967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de71b087f41b1"/>
          <a:stretch xmlns:a="http://schemas.openxmlformats.org/drawingml/2006/main"/>
        </p:blipFill>
        <p:spPr>
          <a:xfrm xmlns:a="http://schemas.openxmlformats.org/drawingml/2006/main">
            <a:off x="638175" y="616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0D4E2AE5-C1E5-45E7-BA11-ADEAC5E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58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BD47564F-3587-45B1-82A4-36BF943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3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공장 복귀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A01B2CA5-0E25-4D41-8982-A7588D7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공장으로 복귀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6060E-233C-48B3-8CF9-4D41A3B44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00dda60584d67"/>
          <a:srcRect xmlns:a="http://schemas.openxmlformats.org/drawingml/2006/main" l="0" t="0" r="1000" b="70000"/>
          <a:stretch xmlns:a="http://schemas.openxmlformats.org/drawingml/2006/main"/>
        </p:blipFill>
        <p:spPr>
          <a:xfrm xmlns:a="http://schemas.openxmlformats.org/drawingml/2006/main">
            <a:off x="5086333" y="2305050"/>
            <a:ext cx="8648734" cy="201930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6B5B1-3A7D-4976-9E9A-D617A77D5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9de40dac54ef8"/>
          <a:srcRect xmlns:a="http://schemas.openxmlformats.org/drawingml/2006/main" l="11000" t="77000" r="12000" b="1000"/>
          <a:stretch xmlns:a="http://schemas.openxmlformats.org/drawingml/2006/main"/>
        </p:blipFill>
        <p:spPr>
          <a:xfrm xmlns:a="http://schemas.openxmlformats.org/drawingml/2006/main">
            <a:off x="4694445" y="4552950"/>
            <a:ext cx="9432510" cy="2076450"/>
          </a:xfrm>
          <a:prstGeom xmlns:a="http://schemas.openxmlformats.org/drawingml/2006/main" prst="rect">
            <a:avLst/>
          </a:prstGeom>
        </p:spPr>
      </p:pic>
      <p:sp>
        <p:nvSpPr>
          <p:cNvPr id="29" name="text-21">
            <a:extLst xmlns:a="http://schemas.openxmlformats.org/drawingml/2006/main">
              <a:ext uri="{FF2B5EF4-FFF2-40B4-BE49-F238E27FC236}">
                <a16:creationId xmlns:a16="http://schemas.microsoft.com/office/drawing/2014/main" id="{4170C074-9B72-45ED-98AD-F55D020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9EEF3-5097-4999-B231-8B4BFFCD8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599e9edbe4599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1" name="text-22">
            <a:extLst xmlns:a="http://schemas.openxmlformats.org/drawingml/2006/main">
              <a:ext uri="{FF2B5EF4-FFF2-40B4-BE49-F238E27FC236}">
                <a16:creationId xmlns:a16="http://schemas.microsoft.com/office/drawing/2014/main" id="{D8CF8FA3-C1E3-4AF9-BE26-74BCF8B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MES·워크플로우 Run은 실제 PLC 제어 증거가 아닙니다. OEE 미연결·매핑 재시작 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적용 상태를 구분합니다.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4105A-480D-4AF1-ADBD-DC50358F6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c5a9476b843b4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text-23">
            <a:extLst xmlns:a="http://schemas.openxmlformats.org/drawingml/2006/main">
              <a:ext uri="{FF2B5EF4-FFF2-40B4-BE49-F238E27FC236}">
                <a16:creationId xmlns:a16="http://schemas.microsoft.com/office/drawing/2014/main" id="{C1869970-4B0D-447C-AAAC-FB1C92DA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운영·MES·워크플로우·매핑은 서로 다른 작업입니다.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 화면 전환은 같은 / 주소 안에서 이루어집니다.</a:t>
            </a:r>
          </a:p>
        </p:txBody>
      </p:sp>
    </p:spTree>
    <p:extLst>
      <p:ext uri="{BB962C8B-B14F-4D97-AF65-F5344CB8AC3E}">
        <p14:creationId xmlns:p14="http://schemas.microsoft.com/office/powerpoint/2010/main" val="1397218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2C88076F-A7E8-4B00-AD10-CC2122CB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CC14C696-9B2D-4378-AC60-26C77B5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83B2C-C642-4C64-ACF8-EBAF48D2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AE07CF65-64C9-4A56-836C-ED3B148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21EDFC9D-0B0D-4D42-BCD5-D8500C51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5B97C232-FC4B-46EE-802B-EC828885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280B0-053F-40A9-9464-411F7C685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e712de0c3441b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CE635970-F0C4-410F-A6A1-3482F2A4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57A452C8-4C52-4D2B-9DE3-03596C85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chapters/03-twin.md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0D762-4AAC-4EC7-8311-006FA08C8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9cbd766da4c02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09B1637E-96D9-47EF-9DDF-CD8F604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B8E55AD6-9AC5-4EF9-8E43-5B8CC27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C0A57-3A45-4597-BF8F-132912AB5D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755cc8840423f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028F3837-86EA-4BC5-A3BE-6173F76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C9716547-A3FD-4CE0-BBA8-B82FBF56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975B5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5c2090be5adf4c0b"/>
              </a:rPr>
              <a:t>https://dubukimch.github.io/manual-twin.html</a:t>
            </a:r>
          </a:p>
        </p:txBody>
      </p:sp>
    </p:spTree>
    <p:extLst>
      <p:ext uri="{BB962C8B-B14F-4D97-AF65-F5344CB8AC3E}">
        <p14:creationId xmlns:p14="http://schemas.microsoft.com/office/powerpoint/2010/main" val="1781055302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9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